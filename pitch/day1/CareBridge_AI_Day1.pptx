
<file path=[Content_Types].xml><?xml version="1.0" encoding="utf-8"?>
<Types xmlns="http://schemas.openxmlformats.org/package/2006/content-types">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5.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60" r:id="rId6"/>
    <p:sldId id="262" r:id="rId8"/>
    <p:sldId id="263" r:id="rId9"/>
    <p:sldId id="265" r:id="rId11"/>
    <p:sldId id="267" r:id="rId13"/>
    <p:sldId id="270" r:id="rId16"/>
    <p:sldId id="272" r:id="rId18"/>
    <p:sldId id="273" r:id="rId19"/>
    <p:sldId id="274" r:id="rId20"/>
    <p:sldId id="275" r:id="rId21"/>
    <p:sldId id="276" r:id="rId22"/>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3" Type="http://schemas.openxmlformats.org/officeDocument/2006/relationships/slide" Target="slides/slide12.xml"/><Relationship Id="rId16"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0:12 — CareBridge AI. One sentence: an offline-first clinical companion that lets a CHPS worker in Savelugu assess, refer and follow up without a network — and lets the family ask for help in their own language.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0:28 — We started from the field, not from a model. The failure in community health is not that nobody assesses; it is that the answer to 'why didn't you go' is collected and thrown away, and the two halves of care — the worker and the family — never share one record. So we built around three constraints: no network, two audiences, and a reason that has to survive the walk.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0:20 — Two apps and one spine. The worker's app is a clinic session. The family's app is a check at home. They share one database design, one permission model and one sync contract — and both work with the network off.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0:26 — The caregiver flow is the part nobody else is building. A mother answers danger signs in Dagbani, hears every answer read back, gets what to do tonight — and if it is serious she can ask for help herself. That ask is a record with a permission behind it, and it lands on the worker's desk.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0:26 — For the worker it is a session, not a form. She can hold several visits open, tick whoever is actually in the room, measure with instruments that carry safety checks, and get one verdict with the doses in it. And because the route is ranked, a referral can be attached to a walk she was already doing.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0:25 — This is the part we would defend in front of a clinical reviewer. The decision is made by guideline engines, so any verdict traces to a rule, not to a weight file. Models sit underneath as support, and when a case is outside a model's training window the app says so.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0:38 — The referral is where most digital tools quietly die: you issue it and never find out. So a referral here is a state machine. Arrival alone doesn't close it, and settled cases don't reopen. Every follow-up answer is one atomic write — status, barrier, next visit, and a second referral if the child got worse. A facility can only confirm what it witnessed. And the reason a family didn't go is now counted across households and routed to whoever can fix it: three families saying the facility closed at 2pm stops being nine missed appointments and becomes one sub-district escalation.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0:45 — Four int8 models, each under six kilobytes, because they run on the handset. Sepsis is trained on 964 real neonatal records from Mbarara; the other three are distilled from Ghana-prior simulator cohorts built on published Northern Region studies — which is why we report the external number, not the internal one: pre-eclampsia is 1.0 on the simulator and 0.74 on held-out UCI maternal data. Every model carries calibration, Brier, a chosen threshold and a drift check, and the contract enforces that none of them may issue a clinical instruction. We also documented our own two bugs — a train/serve skew we found and fixed, and a 78-percent-positive cohort that inflates specificity.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0:38 — NLP is where this project either becomes real or becomes a demo. Twi and Dagbani aren't supported by cloud speech, so translation, voices and recognition all run on-device with pinned sources and licences. We measured recognition on held-out WaxalNLP clips: 0.16 character error rate for Twi, 0.42 for Dagbani — and that second number is why the app refuses to open Dagbani's microphone: at that error rate you cannot put a transcript in a clinical record. It hears real spoken yes and no through the app's own engine today, but the packs are 355 and 876 megabytes, they are not shipped, and we say so.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0:26 — Storage is one encrypted SQLite file on the handset and the district as the system of record. Each table declares how far its contents travel, and one table deliberately pushes without ever being stored locally. Writes are transactional with their sync row, evidence tables are append-only, and models live on a separate plane where nothing loads that doesn't match its own hash.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0:22 — Connectivity is treated as a bonus, never a dependency. Small batches that each commit on their own, urgent referrals first, an in-app transport rule that applies even where the operating system has none, and device recovery that verifies identity before it moves a single record. And we say out loud that the district server is not live yet — the pipeline is real, the backend is a loopback.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0:30 — Compliance in most projects is a PDF somebody wrote once. Here the privacy register is data in the same language as the system, and the build reconciles it against the schema, the sync whitelist and the pull list — so the document cannot lie about the database. Encryption refuses to proceed on a key it cannot read back, deletion is byte-level, permissions are enforced in the repository, and every read is on an append-only ledger. Twenty-eight controls, and the four that belong to the district are named as the district's instead of hidden.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0:18 — We don't ask you to take any of this on faith. One thousand two hundred thirty-nine tests, frontends pinned against the tooling that trained them, recognition scored on real audio through the app's own engine — which is how we caught two bugs a mock would have hidden — and the safety rules tested as properties. The last line is the honest one: here is what is not finished.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r>
              <a:rPr lang="zh-CN" dirty="0"/>
              <a:t>0:28 — Everything we shipped today is engineered to the edge of what we could prove alone. The next step isn't a bigger model — it's a Ghanaian cohort, a native ear, a real district server and one sub-district to pilot in. That's what we're asking UNICEF for. Because when the register stops saying 'did not attend' and starts saying 'three households, closed facility, this month' — that's when the system can no longer look away.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101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EFF52993-FCC0-4AAC-95F9-D24EF97EB509}"/>
              </a:ext>
            </a:extLst>
          </p:cNvPr>
          <p:cNvSpPr/>
          <p:nvPr/>
        </p:nvSpPr>
        <p:spPr>
          <a:xfrm>
            <a:off x="7239000" y="762000"/>
            <a:ext cx="4572000" cy="4572000"/>
          </a:xfrm>
          <a:prstGeom prst="ellipse">
            <a:avLst/>
          </a:prstGeom>
          <a:solidFill>
            <a:srgbClr val="000000">
              <a:alpha val="0"/>
            </a:srgbClr>
          </a:solidFill>
          <a:ln w="15240">
            <a:solidFill>
              <a:srgbClr val="143252"/>
            </a:solidFill>
          </a:ln>
        </p:spPr>
        <p:txBody>
          <a:bodyPr wrap="square" rtlCol="0"/>
          <a:lstStyle/>
          <a:p>
            <a:r>
              <a:rPr/>
              <a:t/>
            </a:r>
          </a:p>
        </p:txBody>
      </p:sp>
      <p:sp>
        <p:nvSpPr>
          <p:cNvPr id="4" name="Shape 4">
            <a:extLst>
              <a:ext uri="{FF2B5EF4-FFF2-40B4-BE49-F238E27FC236}">
                <a16:creationId xmlns:a16="http://schemas.microsoft.com/office/drawing/2014/main" id="{0F590CB9-4A08-405C-B89F-8BDE32AA960A}"/>
              </a:ext>
            </a:extLst>
          </p:cNvPr>
          <p:cNvSpPr/>
          <p:nvPr/>
        </p:nvSpPr>
        <p:spPr>
          <a:xfrm>
            <a:off x="7810500" y="1333500"/>
            <a:ext cx="3429000" cy="3429000"/>
          </a:xfrm>
          <a:prstGeom prst="ellipse">
            <a:avLst/>
          </a:prstGeom>
          <a:solidFill>
            <a:srgbClr val="000000">
              <a:alpha val="0"/>
            </a:srgbClr>
          </a:solidFill>
          <a:ln w="15240">
            <a:solidFill>
              <a:srgbClr val="1B426C"/>
            </a:solidFill>
          </a:ln>
        </p:spPr>
        <p:txBody>
          <a:bodyPr wrap="square" rtlCol="0"/>
          <a:lstStyle/>
          <a:p>
            <a:r>
              <a:rPr/>
              <a:t/>
            </a:r>
          </a:p>
        </p:txBody>
      </p:sp>
      <p:sp>
        <p:nvSpPr>
          <p:cNvPr id="5" name="Shape 5">
            <a:extLst>
              <a:ext uri="{FF2B5EF4-FFF2-40B4-BE49-F238E27FC236}">
                <a16:creationId xmlns:a16="http://schemas.microsoft.com/office/drawing/2014/main" id="{A8B36D60-E0D5-4F7A-8864-71C475FBD863}"/>
              </a:ext>
            </a:extLst>
          </p:cNvPr>
          <p:cNvSpPr/>
          <p:nvPr/>
        </p:nvSpPr>
        <p:spPr>
          <a:xfrm>
            <a:off x="8382000" y="1905000"/>
            <a:ext cx="2286000" cy="2286000"/>
          </a:xfrm>
          <a:prstGeom prst="ellipse">
            <a:avLst/>
          </a:prstGeom>
          <a:solidFill>
            <a:srgbClr val="000000">
              <a:alpha val="0"/>
            </a:srgbClr>
          </a:solidFill>
          <a:ln w="17780">
            <a:solidFill>
              <a:srgbClr val="2A6196"/>
            </a:solidFill>
          </a:ln>
        </p:spPr>
        <p:txBody>
          <a:bodyPr wrap="square" rtlCol="0"/>
          <a:lstStyle/>
          <a:p>
            <a:r>
              <a:rPr/>
              <a:t/>
            </a:r>
          </a:p>
        </p:txBody>
      </p:sp>
      <p:sp>
        <p:nvSpPr>
          <p:cNvPr id="6" name="Shape 6">
            <a:extLst>
              <a:ext uri="{FF2B5EF4-FFF2-40B4-BE49-F238E27FC236}">
                <a16:creationId xmlns:a16="http://schemas.microsoft.com/office/drawing/2014/main" id="{77E48C17-79CD-4A1D-BB74-A4916D522321}"/>
              </a:ext>
            </a:extLst>
          </p:cNvPr>
          <p:cNvSpPr/>
          <p:nvPr/>
        </p:nvSpPr>
        <p:spPr>
          <a:xfrm>
            <a:off x="9382125" y="2905125"/>
            <a:ext cx="285750" cy="285750"/>
          </a:xfrm>
          <a:prstGeom prst="ellipse">
            <a:avLst/>
          </a:prstGeom>
          <a:solidFill>
            <a:srgbClr val="F2A93B"/>
          </a:solidFill>
        </p:spPr>
        <p:txBody>
          <a:bodyPr wrap="square" rtlCol="0"/>
          <a:lstStyle/>
          <a:p>
            <a:r>
              <a:rPr/>
              <a:t/>
            </a:r>
          </a:p>
        </p:txBody>
      </p:sp>
      <p:sp>
        <p:nvSpPr>
          <p:cNvPr id="7" name="TextBox 7">
            <a:extLst>
              <a:ext uri="{FF2B5EF4-FFF2-40B4-BE49-F238E27FC236}">
                <a16:creationId xmlns:a16="http://schemas.microsoft.com/office/drawing/2014/main" id="{14864B1F-1B06-41A2-8BED-E1ADB75D04EE}"/>
              </a:ext>
            </a:extLst>
          </p:cNvPr>
          <p:cNvSpPr txBox="1"/>
          <p:nvPr/>
        </p:nvSpPr>
        <p:spPr>
          <a:xfrm>
            <a:off x="762000" y="914400"/>
            <a:ext cx="5905500" cy="266700"/>
          </a:xfrm>
        </p:spPr>
        <p:txBody>
          <a:bodyPr wrap="square" rtlCol="0" lIns="0" tIns="0" rIns="0" bIns="0" anchor="t"/>
          <a:lstStyle/>
          <a:p>
            <a:pPr algn="l">
              <a:lnSpc>
                <a:spcPct val="110000"/>
              </a:lnSpc>
            </a:pPr>
            <a:r>
              <a:rPr sz="1250" b="1">
                <a:solidFill>
                  <a:srgbClr val="7F97B8"/>
                </a:solidFill>
                <a:latin typeface="Segoe UI"/>
                <a:ea typeface="Segoe UI"/>
              </a:rPr>
              <a:t>UNICEF STARTUP LAB  ·  AI FOR NURTURING CARE  ·  DAY 1</a:t>
            </a:r>
          </a:p>
        </p:txBody>
      </p:sp>
      <p:sp>
        <p:nvSpPr>
          <p:cNvPr id="8" name="TextBox 8">
            <a:extLst>
              <a:ext uri="{FF2B5EF4-FFF2-40B4-BE49-F238E27FC236}">
                <a16:creationId xmlns:a16="http://schemas.microsoft.com/office/drawing/2014/main" id="{73A0CFAB-CC6C-496A-8BBF-37C2A5F4843C}"/>
              </a:ext>
            </a:extLst>
          </p:cNvPr>
          <p:cNvSpPr txBox="1"/>
          <p:nvPr/>
        </p:nvSpPr>
        <p:spPr>
          <a:xfrm>
            <a:off x="742950" y="1409700"/>
            <a:ext cx="6667500" cy="1181100"/>
          </a:xfrm>
        </p:spPr>
        <p:txBody>
          <a:bodyPr wrap="square" rtlCol="0" lIns="0" tIns="0" rIns="0" bIns="0" anchor="t"/>
          <a:lstStyle/>
          <a:p>
            <a:pPr algn="l">
              <a:lnSpc>
                <a:spcPct val="104000"/>
              </a:lnSpc>
            </a:pPr>
            <a:r>
              <a:rPr sz="6000" b="1">
                <a:solidFill>
                  <a:srgbClr val="EAF2FC"/>
                </a:solidFill>
                <a:latin typeface="Segoe UI"/>
                <a:ea typeface="Segoe UI"/>
              </a:rPr>
              <a:t>CareBridge AI</a:t>
            </a:r>
          </a:p>
        </p:txBody>
      </p:sp>
      <p:cxnSp>
        <p:nvCxnSpPr>
          <p:cNvPr id="9" name="Straight Connector 9">
            <a:extLst>
              <a:ext uri="{FF2B5EF4-FFF2-40B4-BE49-F238E27FC236}">
                <a16:creationId xmlns:a16="http://schemas.microsoft.com/office/drawing/2014/main" id="{BB7D6295-A789-452D-86DA-33B028BCC167}"/>
              </a:ext>
            </a:extLst>
          </p:cNvPr>
          <p:cNvCxnSpPr/>
          <p:nvPr/>
        </p:nvCxnSpPr>
        <p:spPr>
          <a:xfrm>
            <a:off x="762000" y="2724150"/>
            <a:ext cx="10668000" cy="9525"/>
          </a:xfrm>
          <a:prstGeom prst="line">
            <a:avLst/>
          </a:prstGeom>
          <a:ln w="12700" cap="flat">
            <a:solidFill>
              <a:srgbClr val="24486F"/>
            </a:solidFill>
          </a:ln>
        </p:spPr>
      </p:cxnSp>
      <p:sp>
        <p:nvSpPr>
          <p:cNvPr id="10" name="TextBox 10">
            <a:extLst>
              <a:ext uri="{FF2B5EF4-FFF2-40B4-BE49-F238E27FC236}">
                <a16:creationId xmlns:a16="http://schemas.microsoft.com/office/drawing/2014/main" id="{3E8BBE10-469B-4E53-AC10-1AE045BB399C}"/>
              </a:ext>
            </a:extLst>
          </p:cNvPr>
          <p:cNvSpPr txBox="1"/>
          <p:nvPr/>
        </p:nvSpPr>
        <p:spPr>
          <a:xfrm>
            <a:off x="762000" y="3009900"/>
            <a:ext cx="6286500" cy="1219200"/>
          </a:xfrm>
        </p:spPr>
        <p:txBody>
          <a:bodyPr wrap="square" rtlCol="0" lIns="0" tIns="0" rIns="0" bIns="0" anchor="t"/>
          <a:lstStyle/>
          <a:p>
            <a:pPr algn="l">
              <a:lnSpc>
                <a:spcPct val="128000"/>
              </a:lnSpc>
              <a:spcAft>
                <a:spcPts val="0"/>
              </a:spcAft>
            </a:pPr>
            <a:r>
              <a:rPr sz="2000">
                <a:solidFill>
                  <a:srgbClr val="C4D5E9"/>
                </a:solidFill>
                <a:latin typeface="Segoe UI"/>
                <a:ea typeface="Segoe UI"/>
              </a:rPr>
              <a:t>A CHPS compound in the Northern Region with no signal — and a midwife who still knows which child is sick.</a:t>
            </a:r>
          </a:p>
        </p:txBody>
      </p:sp>
      <p:sp>
        <p:nvSpPr>
          <p:cNvPr id="11" name="TextBox 11">
            <a:extLst>
              <a:ext uri="{FF2B5EF4-FFF2-40B4-BE49-F238E27FC236}">
                <a16:creationId xmlns:a16="http://schemas.microsoft.com/office/drawing/2014/main" id="{90066086-7299-46F3-BDF5-456C3953F8ED}"/>
              </a:ext>
            </a:extLst>
          </p:cNvPr>
          <p:cNvSpPr txBox="1"/>
          <p:nvPr/>
        </p:nvSpPr>
        <p:spPr>
          <a:xfrm>
            <a:off x="762000" y="4457700"/>
            <a:ext cx="6286500" cy="876300"/>
          </a:xfrm>
        </p:spPr>
        <p:txBody>
          <a:bodyPr wrap="square" rtlCol="0" lIns="0" tIns="0" rIns="0" bIns="0" anchor="t"/>
          <a:lstStyle/>
          <a:p>
            <a:pPr algn="l">
              <a:lnSpc>
                <a:spcPct val="132000"/>
              </a:lnSpc>
            </a:pPr>
            <a:r>
              <a:rPr sz="1450">
                <a:solidFill>
                  <a:srgbClr val="8FA6C2"/>
                </a:solidFill>
                <a:latin typeface="Segoe UI"/>
                <a:ea typeface="Segoe UI"/>
              </a:rPr>
              <a:t>Offline-first decision support for frontline health workers and the families they serve. Maternal · newborn · under-five survival.</a:t>
            </a:r>
          </a:p>
        </p:txBody>
      </p:sp>
      <p:sp>
        <p:nvSpPr>
          <p:cNvPr id="12" name="TextBox 12">
            <a:extLst>
              <a:ext uri="{FF2B5EF4-FFF2-40B4-BE49-F238E27FC236}">
                <a16:creationId xmlns:a16="http://schemas.microsoft.com/office/drawing/2014/main" id="{C61D383A-6099-41CE-BD65-E140BC722F33}"/>
              </a:ext>
            </a:extLst>
          </p:cNvPr>
          <p:cNvSpPr txBox="1"/>
          <p:nvPr/>
        </p:nvSpPr>
        <p:spPr>
          <a:xfrm>
            <a:off x="762000" y="5867400"/>
            <a:ext cx="10668000" cy="533400"/>
          </a:xfrm>
        </p:spPr>
        <p:txBody>
          <a:bodyPr wrap="square" rtlCol="0" lIns="0" tIns="0" rIns="0" bIns="0" anchor="t"/>
          <a:lstStyle/>
          <a:p>
            <a:pPr algn="l">
              <a:lnSpc>
                <a:spcPct val="126000"/>
              </a:lnSpc>
            </a:pPr>
            <a:r>
              <a:rPr sz="1250" b="1">
                <a:solidFill>
                  <a:srgbClr val="5F7899"/>
                </a:solidFill>
                <a:latin typeface="Segoe UI"/>
                <a:ea typeface="Segoe UI"/>
              </a:rPr>
              <a:t>One Flutter codebase: Android · iOS · Windows · Web   |   1,239 tests passing   |   21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962B958B-59DF-479B-AB4D-BCF886AD1E7B}"/>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THE PROBLEM WE BUILT AGAINST</a:t>
            </a:r>
          </a:p>
        </p:txBody>
      </p:sp>
      <p:sp>
        <p:nvSpPr>
          <p:cNvPr id="4" name="TextBox 4">
            <a:extLst>
              <a:ext uri="{FF2B5EF4-FFF2-40B4-BE49-F238E27FC236}">
                <a16:creationId xmlns:a16="http://schemas.microsoft.com/office/drawing/2014/main" id="{D71E2BB1-7769-486C-BC9E-D51BE0F68A23}"/>
              </a:ext>
            </a:extLst>
          </p:cNvPr>
          <p:cNvSpPr txBox="1"/>
          <p:nvPr/>
        </p:nvSpPr>
        <p:spPr>
          <a:xfrm>
            <a:off x="762000" y="819150"/>
            <a:ext cx="10668000" cy="990600"/>
          </a:xfrm>
        </p:spPr>
        <p:txBody>
          <a:bodyPr wrap="square" rtlCol="0" lIns="0" tIns="0" rIns="0" bIns="0" anchor="t"/>
          <a:lstStyle/>
          <a:p>
            <a:pPr algn="l">
              <a:lnSpc>
                <a:spcPct val="108000"/>
              </a:lnSpc>
            </a:pPr>
            <a:r>
              <a:rPr sz="3000" b="1">
                <a:solidFill>
                  <a:srgbClr val="EAF2FC"/>
                </a:solidFill>
                <a:latin typeface="Segoe UI"/>
                <a:ea typeface="Segoe UI"/>
              </a:rPr>
              <a:t>The register answers </a:t>
            </a:r>
            <a:r>
              <a:rPr sz="3000" b="1" i="1">
                <a:solidFill>
                  <a:srgbClr val="3E8BFF"/>
                </a:solidFill>
                <a:latin typeface="Segoe UI"/>
                <a:ea typeface="Segoe UI"/>
              </a:rPr>
              <a:t>did they come</a:t>
            </a:r>
            <a:r>
              <a:rPr sz="3000" b="1">
                <a:solidFill>
                  <a:srgbClr val="EAF2FC"/>
                </a:solidFill>
                <a:latin typeface="Segoe UI"/>
                <a:ea typeface="Segoe UI"/>
              </a:rPr>
              <a:t>. It cannot answer </a:t>
            </a:r>
            <a:r>
              <a:rPr sz="3000" b="1" i="1">
                <a:solidFill>
                  <a:srgbClr val="3E8BFF"/>
                </a:solidFill>
                <a:latin typeface="Segoe UI"/>
                <a:ea typeface="Segoe UI"/>
              </a:rPr>
              <a:t>why they didn't</a:t>
            </a:r>
            <a:r>
              <a:rPr sz="3000" b="1">
                <a:solidFill>
                  <a:srgbClr val="EAF2FC"/>
                </a:solidFill>
                <a:latin typeface="Segoe UI"/>
                <a:ea typeface="Segoe UI"/>
              </a:rPr>
              <a:t>.</a:t>
            </a:r>
          </a:p>
        </p:txBody>
      </p:sp>
      <p:cxnSp>
        <p:nvCxnSpPr>
          <p:cNvPr id="5" name="Straight Connector 5">
            <a:extLst>
              <a:ext uri="{FF2B5EF4-FFF2-40B4-BE49-F238E27FC236}">
                <a16:creationId xmlns:a16="http://schemas.microsoft.com/office/drawing/2014/main" id="{236DC36C-5106-48CD-B476-B1F0845D32E9}"/>
              </a:ext>
            </a:extLst>
          </p:cNvPr>
          <p:cNvCxnSpPr/>
          <p:nvPr/>
        </p:nvCxnSpPr>
        <p:spPr>
          <a:xfrm>
            <a:off x="762000" y="1905000"/>
            <a:ext cx="10668000" cy="9525"/>
          </a:xfrm>
          <a:prstGeom prst="line">
            <a:avLst/>
          </a:prstGeom>
          <a:ln w="12700" cap="flat">
            <a:solidFill>
              <a:srgbClr val="24486F"/>
            </a:solidFill>
          </a:ln>
        </p:spPr>
      </p:cxnSp>
      <p:sp>
        <p:nvSpPr>
          <p:cNvPr id="6" name="Shape 6">
            <a:extLst>
              <a:ext uri="{FF2B5EF4-FFF2-40B4-BE49-F238E27FC236}">
                <a16:creationId xmlns:a16="http://schemas.microsoft.com/office/drawing/2014/main" id="{23F0AB4E-B4D4-4ECB-B0BA-BFD48E851A88}"/>
              </a:ext>
            </a:extLst>
          </p:cNvPr>
          <p:cNvSpPr/>
          <p:nvPr/>
        </p:nvSpPr>
        <p:spPr>
          <a:xfrm>
            <a:off x="762000" y="2133600"/>
            <a:ext cx="4953000" cy="2819400"/>
          </a:xfrm>
          <a:prstGeom prst="roundRect">
            <a:avLst/>
          </a:prstGeom>
          <a:solidFill>
            <a:srgbClr val="0F2A47"/>
          </a:solidFill>
        </p:spPr>
        <p:txBody>
          <a:bodyPr wrap="square" rtlCol="0"/>
          <a:lstStyle/>
          <a:p>
            <a:r>
              <a:rPr/>
              <a:t/>
            </a:r>
          </a:p>
        </p:txBody>
      </p:sp>
      <p:sp>
        <p:nvSpPr>
          <p:cNvPr id="7" name="TextBox 7">
            <a:extLst>
              <a:ext uri="{FF2B5EF4-FFF2-40B4-BE49-F238E27FC236}">
                <a16:creationId xmlns:a16="http://schemas.microsoft.com/office/drawing/2014/main" id="{F18769F9-8C9A-4D1B-9510-83A6FF155C5E}"/>
              </a:ext>
            </a:extLst>
          </p:cNvPr>
          <p:cNvSpPr txBox="1"/>
          <p:nvPr/>
        </p:nvSpPr>
        <p:spPr>
          <a:xfrm>
            <a:off x="1066800" y="2400300"/>
            <a:ext cx="4343400" cy="381000"/>
          </a:xfrm>
        </p:spPr>
        <p:txBody>
          <a:bodyPr wrap="square" rtlCol="0" lIns="0" tIns="0" rIns="0" bIns="0" anchor="t"/>
          <a:lstStyle/>
          <a:p>
            <a:pPr algn="l"/>
            <a:r>
              <a:rPr sz="1700" b="1">
                <a:solidFill>
                  <a:srgbClr val="C4D5E9"/>
                </a:solidFill>
                <a:latin typeface="Segoe UI"/>
                <a:ea typeface="Segoe UI"/>
              </a:rPr>
              <a:t>What a paper register holds</a:t>
            </a:r>
          </a:p>
        </p:txBody>
      </p:sp>
      <p:sp>
        <p:nvSpPr>
          <p:cNvPr id="8" name="TextBox 8">
            <a:extLst>
              <a:ext uri="{FF2B5EF4-FFF2-40B4-BE49-F238E27FC236}">
                <a16:creationId xmlns:a16="http://schemas.microsoft.com/office/drawing/2014/main" id="{8EC02683-A182-4C8E-9E4B-5B886ED32837}"/>
              </a:ext>
            </a:extLst>
          </p:cNvPr>
          <p:cNvSpPr txBox="1"/>
          <p:nvPr/>
        </p:nvSpPr>
        <p:spPr>
          <a:xfrm>
            <a:off x="1066800" y="2857500"/>
            <a:ext cx="4343400" cy="1809750"/>
          </a:xfrm>
        </p:spPr>
        <p:txBody>
          <a:bodyPr wrap="square" rtlCol="0" lIns="0" tIns="0" rIns="0" bIns="0" anchor="t"/>
          <a:lstStyle/>
          <a:p>
            <a:pPr algn="l">
              <a:lnSpc>
                <a:spcPct val="124000"/>
              </a:lnSpc>
              <a:spcAft>
                <a:spcPts val="800"/>
              </a:spcAft>
            </a:pPr>
            <a:r>
              <a:rPr sz="1400">
                <a:solidFill>
                  <a:srgbClr val="9FB4CE"/>
                </a:solidFill>
                <a:latin typeface="Segoe UI"/>
                <a:ea typeface="Segoe UI"/>
              </a:rPr>
              <a:t>One column for a missed referral.</a:t>
            </a:r>
          </a:p>
          <a:p>
            <a:pPr algn="l">
              <a:lnSpc>
                <a:spcPct val="124000"/>
              </a:lnSpc>
              <a:spcAft>
                <a:spcPts val="800"/>
              </a:spcAft>
            </a:pPr>
            <a:r>
              <a:rPr sz="1900" b="1">
                <a:solidFill>
                  <a:srgbClr val="EAF2FC"/>
                </a:solidFill>
                <a:latin typeface="Segoe UI"/>
                <a:ea typeface="Segoe UI"/>
              </a:rPr>
              <a:t>DID NOT ATTEND.</a:t>
            </a:r>
          </a:p>
          <a:p>
            <a:pPr algn="l">
              <a:lnSpc>
                <a:spcPct val="124000"/>
              </a:lnSpc>
            </a:pPr>
            <a:r>
              <a:rPr sz="1400">
                <a:solidFill>
                  <a:srgbClr val="9FB4CE"/>
                </a:solidFill>
                <a:latin typeface="Segoe UI"/>
                <a:ea typeface="Segoe UI"/>
              </a:rPr>
              <a:t>The reason is never asked, so it is never counted, so it never becomes evidence anyone has to answer.</a:t>
            </a:r>
          </a:p>
        </p:txBody>
      </p:sp>
      <p:sp>
        <p:nvSpPr>
          <p:cNvPr id="9" name="Shape 9">
            <a:extLst>
              <a:ext uri="{FF2B5EF4-FFF2-40B4-BE49-F238E27FC236}">
                <a16:creationId xmlns:a16="http://schemas.microsoft.com/office/drawing/2014/main" id="{74A5A115-CA79-4E42-8B43-09C69C220FA4}"/>
              </a:ext>
            </a:extLst>
          </p:cNvPr>
          <p:cNvSpPr/>
          <p:nvPr/>
        </p:nvSpPr>
        <p:spPr>
          <a:xfrm>
            <a:off x="6477000" y="2133600"/>
            <a:ext cx="4953000" cy="2819400"/>
          </a:xfrm>
          <a:prstGeom prst="roundRect">
            <a:avLst/>
          </a:prstGeom>
          <a:solidFill>
            <a:srgbClr val="123456"/>
          </a:solidFill>
        </p:spPr>
        <p:txBody>
          <a:bodyPr wrap="square" rtlCol="0"/>
          <a:lstStyle/>
          <a:p>
            <a:r>
              <a:rPr/>
              <a:t/>
            </a:r>
          </a:p>
        </p:txBody>
      </p:sp>
      <p:sp>
        <p:nvSpPr>
          <p:cNvPr id="10" name="TextBox 10">
            <a:extLst>
              <a:ext uri="{FF2B5EF4-FFF2-40B4-BE49-F238E27FC236}">
                <a16:creationId xmlns:a16="http://schemas.microsoft.com/office/drawing/2014/main" id="{125AFF13-ED36-425C-8310-E97FB19B3FFB}"/>
              </a:ext>
            </a:extLst>
          </p:cNvPr>
          <p:cNvSpPr txBox="1"/>
          <p:nvPr/>
        </p:nvSpPr>
        <p:spPr>
          <a:xfrm>
            <a:off x="6781800" y="2400300"/>
            <a:ext cx="4343400" cy="381000"/>
          </a:xfrm>
        </p:spPr>
        <p:txBody>
          <a:bodyPr wrap="square" rtlCol="0" lIns="0" tIns="0" rIns="0" bIns="0" anchor="t"/>
          <a:lstStyle/>
          <a:p>
            <a:pPr algn="l"/>
            <a:r>
              <a:rPr sz="1700" b="1">
                <a:solidFill>
                  <a:srgbClr val="3E8BFF"/>
                </a:solidFill>
                <a:latin typeface="Segoe UI"/>
                <a:ea typeface="Segoe UI"/>
              </a:rPr>
              <a:t>What the app already collects</a:t>
            </a:r>
          </a:p>
        </p:txBody>
      </p:sp>
      <p:sp>
        <p:nvSpPr>
          <p:cNvPr id="11" name="TextBox 11">
            <a:extLst>
              <a:ext uri="{FF2B5EF4-FFF2-40B4-BE49-F238E27FC236}">
                <a16:creationId xmlns:a16="http://schemas.microsoft.com/office/drawing/2014/main" id="{C79BB62E-C56D-48FB-A485-2A6913F575F5}"/>
              </a:ext>
            </a:extLst>
          </p:cNvPr>
          <p:cNvSpPr txBox="1"/>
          <p:nvPr/>
        </p:nvSpPr>
        <p:spPr>
          <a:xfrm>
            <a:off x="6781800" y="2838450"/>
            <a:ext cx="4343400" cy="2493569"/>
          </a:xfrm>
        </p:spPr>
        <p:txBody>
          <a:bodyPr wrap="square" rtlCol="0" lIns="0" tIns="0" rIns="0" bIns="0" anchor="t"/>
          <a:lstStyle/>
          <a:p>
            <a:pPr marL="228600" indent="-228600" algn="l">
              <a:lnSpc>
                <a:spcPct val="118000"/>
              </a:lnSpc>
              <a:spcAft>
                <a:spcPts val="700"/>
              </a:spcAft>
              <a:buChar char="•"/>
            </a:pPr>
            <a:r>
              <a:rPr sz="1400">
                <a:solidFill>
                  <a:srgbClr val="EAF2FC"/>
                </a:solidFill>
                <a:latin typeface="Segoe UI"/>
                <a:ea typeface="Segoe UI"/>
              </a:rPr>
              <a:t>Road flooded or impassable</a:t>
            </a:r>
          </a:p>
          <a:p>
            <a:pPr marL="228600" indent="-228600" algn="l">
              <a:lnSpc>
                <a:spcPct val="118000"/>
              </a:lnSpc>
              <a:spcAft>
                <a:spcPts val="700"/>
              </a:spcAft>
              <a:buChar char="•"/>
            </a:pPr>
            <a:r>
              <a:rPr sz="1400">
                <a:solidFill>
                  <a:srgbClr val="EAF2FC"/>
                </a:solidFill>
                <a:latin typeface="Segoe UI"/>
                <a:ea typeface="Segoe UI"/>
              </a:rPr>
              <a:t>Facility closed, or no staff</a:t>
            </a:r>
          </a:p>
          <a:p>
            <a:pPr marL="228600" indent="-228600" algn="l">
              <a:lnSpc>
                <a:spcPct val="118000"/>
              </a:lnSpc>
              <a:spcAft>
                <a:spcPts val="700"/>
              </a:spcAft>
              <a:buChar char="•"/>
            </a:pPr>
            <a:r>
              <a:rPr sz="1400">
                <a:solidFill>
                  <a:srgbClr val="EAF2FC"/>
                </a:solidFill>
                <a:latin typeface="Segoe UI"/>
                <a:ea typeface="Segoe UI"/>
              </a:rPr>
              <a:t>No valid NHIS card</a:t>
            </a:r>
          </a:p>
          <a:p>
            <a:pPr marL="228600" indent="-228600" algn="l">
              <a:lnSpc>
                <a:spcPct val="118000"/>
              </a:lnSpc>
              <a:spcAft>
                <a:spcPts val="700"/>
              </a:spcAft>
              <a:buChar char="•"/>
            </a:pPr>
            <a:r>
              <a:rPr sz="1400">
                <a:solidFill>
                  <a:srgbClr val="EAF2FC"/>
                </a:solidFill>
                <a:latin typeface="Segoe UI"/>
                <a:ea typeface="Segoe UI"/>
              </a:rPr>
              <a:t>No money for transport</a:t>
            </a:r>
          </a:p>
          <a:p>
            <a:pPr marL="228600" indent="-228600" algn="l">
              <a:lnSpc>
                <a:spcPct val="118000"/>
              </a:lnSpc>
              <a:spcAft>
                <a:spcPts val="700"/>
              </a:spcAft>
              <a:buChar char="•"/>
            </a:pPr>
            <a:r>
              <a:rPr sz="1400">
                <a:solidFill>
                  <a:srgbClr val="EAF2FC"/>
                </a:solidFill>
                <a:latin typeface="Segoe UI"/>
                <a:ea typeface="Segoe UI"/>
              </a:rPr>
              <a:t>Farm or market work that could not be left</a:t>
            </a:r>
          </a:p>
          <a:p>
            <a:pPr marL="228600" indent="-228600" algn="l">
              <a:lnSpc>
                <a:spcPct val="118000"/>
              </a:lnSpc>
              <a:spcAft>
                <a:spcPts val="700"/>
              </a:spcAft>
              <a:buChar char="•"/>
            </a:pPr>
            <a:r>
              <a:rPr sz="1400">
                <a:solidFill>
                  <a:srgbClr val="EAF2FC"/>
                </a:solidFill>
                <a:latin typeface="Segoe UI"/>
                <a:ea typeface="Segoe UI"/>
              </a:rPr>
              <a:t>Permission needed from husband or family</a:t>
            </a:r>
          </a:p>
          <a:p>
            <a:pPr algn="l">
              <a:lnSpc>
                <a:spcPct val="118000"/>
              </a:lnSpc>
            </a:pPr>
            <a:r>
              <a:rPr sz="1250" i="1">
                <a:solidFill>
                  <a:srgbClr val="8FA6C2"/>
                </a:solidFill>
                <a:latin typeface="Segoe UI"/>
                <a:ea typeface="Segoe UI"/>
              </a:rPr>
              <a:t>Caregivers record these too — the family's own reason, in the family's own words.</a:t>
            </a:r>
          </a:p>
        </p:txBody>
      </p:sp>
      <p:sp>
        <p:nvSpPr>
          <p:cNvPr id="12" name="Shape 12">
            <a:extLst>
              <a:ext uri="{FF2B5EF4-FFF2-40B4-BE49-F238E27FC236}">
                <a16:creationId xmlns:a16="http://schemas.microsoft.com/office/drawing/2014/main" id="{FADBF404-67B2-42B9-ACCB-7CCC2796E9F4}"/>
              </a:ext>
            </a:extLst>
          </p:cNvPr>
          <p:cNvSpPr/>
          <p:nvPr/>
        </p:nvSpPr>
        <p:spPr>
          <a:xfrm>
            <a:off x="762000" y="5181600"/>
            <a:ext cx="10668000" cy="990600"/>
          </a:xfrm>
          <a:prstGeom prst="roundRect">
            <a:avLst/>
          </a:prstGeom>
          <a:solidFill>
            <a:srgbClr val="0B2138"/>
          </a:solidFill>
        </p:spPr>
        <p:txBody>
          <a:bodyPr wrap="square" rtlCol="0"/>
          <a:lstStyle/>
          <a:p>
            <a:r>
              <a:rPr/>
              <a:t/>
            </a:r>
          </a:p>
        </p:txBody>
      </p:sp>
      <p:sp>
        <p:nvSpPr>
          <p:cNvPr id="13" name="TextBox 13">
            <a:extLst>
              <a:ext uri="{FF2B5EF4-FFF2-40B4-BE49-F238E27FC236}">
                <a16:creationId xmlns:a16="http://schemas.microsoft.com/office/drawing/2014/main" id="{E847672E-7BBE-4210-B43F-BE0E84EEC47B}"/>
              </a:ext>
            </a:extLst>
          </p:cNvPr>
          <p:cNvSpPr txBox="1"/>
          <p:nvPr/>
        </p:nvSpPr>
        <p:spPr>
          <a:xfrm>
            <a:off x="1066800" y="5391150"/>
            <a:ext cx="10058400" cy="647700"/>
          </a:xfrm>
        </p:spPr>
        <p:txBody>
          <a:bodyPr wrap="square" rtlCol="0" lIns="0" tIns="0" rIns="0" bIns="0" anchor="t"/>
          <a:lstStyle/>
          <a:p>
            <a:pPr algn="l">
              <a:lnSpc>
                <a:spcPct val="126000"/>
              </a:lnSpc>
            </a:pPr>
            <a:r>
              <a:rPr sz="1500">
                <a:solidFill>
                  <a:srgbClr val="C4D5E9"/>
                </a:solidFill>
                <a:latin typeface="Segoe UI"/>
                <a:ea typeface="Segoe UI"/>
              </a:rPr>
              <a:t>Three households saying "the facility closed before noon" is a </a:t>
            </a:r>
            <a:r>
              <a:rPr sz="1500" b="1">
                <a:solidFill>
                  <a:srgbClr val="F2A93B"/>
                </a:solidFill>
                <a:latin typeface="Segoe UI"/>
                <a:ea typeface="Segoe UI"/>
              </a:rPr>
              <a:t>staffing fact</a:t>
            </a:r>
            <a:r>
              <a:rPr sz="1500">
                <a:solidFill>
                  <a:srgbClr val="C4D5E9"/>
                </a:solidFill>
                <a:latin typeface="Segoe UI"/>
                <a:ea typeface="Segoe UI"/>
              </a:rPr>
              <a:t>.  One household needing transport money is a </a:t>
            </a:r>
            <a:r>
              <a:rPr sz="1500" b="1">
                <a:solidFill>
                  <a:srgbClr val="3E8BFF"/>
                </a:solidFill>
                <a:latin typeface="Segoe UI"/>
                <a:ea typeface="Segoe UI"/>
              </a:rPr>
              <a:t>next-contact visit</a:t>
            </a:r>
            <a:r>
              <a:rPr sz="1500">
                <a:solidFill>
                  <a:srgbClr val="C4D5E9"/>
                </a:solidFill>
                <a:latin typeface="Segoe UI"/>
                <a:ea typeface="Segoe UI"/>
              </a:rPr>
              <a:t>.  Those are different actions — and a column that says DID NOT ATTEND can show neither.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8DE1029-0509-49CD-86A4-A3A53FF1B5C6}"/>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WHAT CAREBRIDGE IS</a:t>
            </a:r>
          </a:p>
        </p:txBody>
      </p:sp>
      <p:sp>
        <p:nvSpPr>
          <p:cNvPr id="4" name="TextBox 4">
            <a:extLst>
              <a:ext uri="{FF2B5EF4-FFF2-40B4-BE49-F238E27FC236}">
                <a16:creationId xmlns:a16="http://schemas.microsoft.com/office/drawing/2014/main" id="{33E81C60-3EA1-4F64-B60F-48F97D2E46CA}"/>
              </a:ext>
            </a:extLst>
          </p:cNvPr>
          <p:cNvSpPr txBox="1"/>
          <p:nvPr/>
        </p:nvSpPr>
        <p:spPr>
          <a:xfrm>
            <a:off x="762000" y="819150"/>
            <a:ext cx="10668000" cy="533400"/>
          </a:xfrm>
        </p:spPr>
        <p:txBody>
          <a:bodyPr wrap="square" rtlCol="0" lIns="0" tIns="0" rIns="0" bIns="0" anchor="t"/>
          <a:lstStyle/>
          <a:p>
            <a:pPr algn="l">
              <a:lnSpc>
                <a:spcPct val="106000"/>
              </a:lnSpc>
            </a:pPr>
            <a:r>
              <a:rPr sz="3200" b="1">
                <a:solidFill>
                  <a:srgbClr val="EAF2FC"/>
                </a:solidFill>
                <a:latin typeface="Segoe UI"/>
                <a:ea typeface="Segoe UI"/>
              </a:rPr>
              <a:t>Two apps, one record, zero required network</a:t>
            </a:r>
          </a:p>
        </p:txBody>
      </p:sp>
      <p:cxnSp>
        <p:nvCxnSpPr>
          <p:cNvPr id="5" name="Straight Connector 5">
            <a:extLst>
              <a:ext uri="{FF2B5EF4-FFF2-40B4-BE49-F238E27FC236}">
                <a16:creationId xmlns:a16="http://schemas.microsoft.com/office/drawing/2014/main" id="{E3A0CFA8-F06A-4708-8834-AFB9810B9A0A}"/>
              </a:ext>
            </a:extLst>
          </p:cNvPr>
          <p:cNvCxnSpPr/>
          <p:nvPr/>
        </p:nvCxnSpPr>
        <p:spPr>
          <a:xfrm>
            <a:off x="762000" y="1543050"/>
            <a:ext cx="10668000" cy="9525"/>
          </a:xfrm>
          <a:prstGeom prst="line">
            <a:avLst/>
          </a:prstGeom>
          <a:ln w="12700" cap="flat">
            <a:solidFill>
              <a:srgbClr val="24486F"/>
            </a:solidFill>
          </a:ln>
        </p:spPr>
      </p:cxnSp>
      <p:sp>
        <p:nvSpPr>
          <p:cNvPr id="6" name="Shape 6">
            <a:extLst>
              <a:ext uri="{FF2B5EF4-FFF2-40B4-BE49-F238E27FC236}">
                <a16:creationId xmlns:a16="http://schemas.microsoft.com/office/drawing/2014/main" id="{3D5D426B-82A7-4F62-BA80-4E5D55A43F94}"/>
              </a:ext>
            </a:extLst>
          </p:cNvPr>
          <p:cNvSpPr/>
          <p:nvPr/>
        </p:nvSpPr>
        <p:spPr>
          <a:xfrm>
            <a:off x="762000" y="1809750"/>
            <a:ext cx="3400425" cy="2857500"/>
          </a:xfrm>
          <a:prstGeom prst="roundRect">
            <a:avLst/>
          </a:prstGeom>
          <a:solidFill>
            <a:srgbClr val="0F2A47"/>
          </a:solidFill>
        </p:spPr>
        <p:txBody>
          <a:bodyPr wrap="square" rtlCol="0"/>
          <a:lstStyle/>
          <a:p>
            <a:r>
              <a:rPr/>
              <a:t/>
            </a:r>
          </a:p>
        </p:txBody>
      </p:sp>
      <p:sp>
        <p:nvSpPr>
          <p:cNvPr id="7" name="TextBox 7">
            <a:extLst>
              <a:ext uri="{FF2B5EF4-FFF2-40B4-BE49-F238E27FC236}">
                <a16:creationId xmlns:a16="http://schemas.microsoft.com/office/drawing/2014/main" id="{D6F3C3F0-E85F-4E82-AEF4-175D4214CBD0}"/>
              </a:ext>
            </a:extLst>
          </p:cNvPr>
          <p:cNvSpPr txBox="1"/>
          <p:nvPr/>
        </p:nvSpPr>
        <p:spPr>
          <a:xfrm>
            <a:off x="1028700" y="2057400"/>
            <a:ext cx="2867025" cy="323850"/>
          </a:xfrm>
        </p:spPr>
        <p:txBody>
          <a:bodyPr wrap="square" rtlCol="0" lIns="0" tIns="0" rIns="0" bIns="0" anchor="t"/>
          <a:lstStyle/>
          <a:p>
            <a:pPr algn="l"/>
            <a:r>
              <a:rPr sz="1800" b="1">
                <a:solidFill>
                  <a:srgbClr val="3E8BFF"/>
                </a:solidFill>
                <a:latin typeface="Segoe UI"/>
                <a:ea typeface="Segoe UI"/>
              </a:rPr>
              <a:t>Health worker app</a:t>
            </a:r>
          </a:p>
        </p:txBody>
      </p:sp>
      <p:sp>
        <p:nvSpPr>
          <p:cNvPr id="8" name="TextBox 8">
            <a:extLst>
              <a:ext uri="{FF2B5EF4-FFF2-40B4-BE49-F238E27FC236}">
                <a16:creationId xmlns:a16="http://schemas.microsoft.com/office/drawing/2014/main" id="{44CEE355-54C8-4343-A904-98F0BCE73429}"/>
              </a:ext>
            </a:extLst>
          </p:cNvPr>
          <p:cNvSpPr txBox="1"/>
          <p:nvPr/>
        </p:nvSpPr>
        <p:spPr>
          <a:xfrm>
            <a:off x="1028700" y="2457450"/>
            <a:ext cx="2867025" cy="2180234"/>
          </a:xfrm>
        </p:spPr>
        <p:txBody>
          <a:bodyPr wrap="square" rtlCol="0" lIns="0" tIns="0" rIns="0" bIns="0" anchor="t"/>
          <a:lstStyle/>
          <a:p>
            <a:pPr marL="228600" indent="-228600" algn="l">
              <a:lnSpc>
                <a:spcPct val="116000"/>
              </a:lnSpc>
              <a:spcAft>
                <a:spcPts val="900"/>
              </a:spcAft>
              <a:buChar char="•"/>
            </a:pPr>
            <a:r>
              <a:rPr sz="1300">
                <a:solidFill>
                  <a:srgbClr val="EAF2FC"/>
                </a:solidFill>
                <a:latin typeface="Segoe UI"/>
                <a:ea typeface="Segoe UI"/>
              </a:rPr>
              <a:t>Roll call of who is in front of you</a:t>
            </a:r>
          </a:p>
          <a:p>
            <a:pPr marL="228600" indent="-228600" algn="l">
              <a:lnSpc>
                <a:spcPct val="116000"/>
              </a:lnSpc>
              <a:spcAft>
                <a:spcPts val="900"/>
              </a:spcAft>
              <a:buChar char="•"/>
            </a:pPr>
            <a:r>
              <a:rPr sz="1300">
                <a:solidFill>
                  <a:srgbClr val="EAF2FC"/>
                </a:solidFill>
                <a:latin typeface="Segoe UI"/>
                <a:ea typeface="Segoe UI"/>
              </a:rPr>
              <a:t>Vitals with measurement-safety checks</a:t>
            </a:r>
          </a:p>
          <a:p>
            <a:pPr marL="228600" indent="-228600" algn="l">
              <a:lnSpc>
                <a:spcPct val="116000"/>
              </a:lnSpc>
              <a:spcAft>
                <a:spcPts val="900"/>
              </a:spcAft>
              <a:buChar char="•"/>
            </a:pPr>
            <a:r>
              <a:rPr sz="1300">
                <a:solidFill>
                  <a:srgbClr val="EAF2FC"/>
                </a:solidFill>
                <a:latin typeface="Segoe UI"/>
                <a:ea typeface="Segoe UI"/>
              </a:rPr>
              <a:t>IMCI assessment to one verdict</a:t>
            </a:r>
          </a:p>
          <a:p>
            <a:pPr marL="228600" indent="-228600" algn="l">
              <a:lnSpc>
                <a:spcPct val="116000"/>
              </a:lnSpc>
              <a:spcAft>
                <a:spcPts val="900"/>
              </a:spcAft>
              <a:buChar char="•"/>
            </a:pPr>
            <a:r>
              <a:rPr sz="1300">
                <a:solidFill>
                  <a:srgbClr val="EAF2FC"/>
                </a:solidFill>
                <a:latin typeface="Segoe UI"/>
                <a:ea typeface="Segoe UI"/>
              </a:rPr>
              <a:t>Weight-based doses on the same page</a:t>
            </a:r>
          </a:p>
          <a:p>
            <a:pPr marL="228600" indent="-228600" algn="l">
              <a:lnSpc>
                <a:spcPct val="116000"/>
              </a:lnSpc>
              <a:spcAft>
                <a:spcPts val="900"/>
              </a:spcAft>
              <a:buChar char="•"/>
            </a:pPr>
            <a:r>
              <a:rPr sz="1300">
                <a:solidFill>
                  <a:srgbClr val="EAF2FC"/>
                </a:solidFill>
                <a:latin typeface="Segoe UI"/>
                <a:ea typeface="Segoe UI"/>
              </a:rPr>
              <a:t>Referral, follow-up desk, visit route</a:t>
            </a:r>
          </a:p>
        </p:txBody>
      </p:sp>
      <p:sp>
        <p:nvSpPr>
          <p:cNvPr id="9" name="Shape 9">
            <a:extLst>
              <a:ext uri="{FF2B5EF4-FFF2-40B4-BE49-F238E27FC236}">
                <a16:creationId xmlns:a16="http://schemas.microsoft.com/office/drawing/2014/main" id="{B26159E2-F8BA-4520-B2E0-E667C387FF9B}"/>
              </a:ext>
            </a:extLst>
          </p:cNvPr>
          <p:cNvSpPr/>
          <p:nvPr/>
        </p:nvSpPr>
        <p:spPr>
          <a:xfrm>
            <a:off x="4391025" y="1809750"/>
            <a:ext cx="3400425" cy="2857500"/>
          </a:xfrm>
          <a:prstGeom prst="roundRect">
            <a:avLst/>
          </a:prstGeom>
          <a:solidFill>
            <a:srgbClr val="0F2A47"/>
          </a:solidFill>
        </p:spPr>
        <p:txBody>
          <a:bodyPr wrap="square" rtlCol="0"/>
          <a:lstStyle/>
          <a:p>
            <a:r>
              <a:rPr/>
              <a:t/>
            </a:r>
          </a:p>
        </p:txBody>
      </p:sp>
      <p:sp>
        <p:nvSpPr>
          <p:cNvPr id="10" name="TextBox 10">
            <a:extLst>
              <a:ext uri="{FF2B5EF4-FFF2-40B4-BE49-F238E27FC236}">
                <a16:creationId xmlns:a16="http://schemas.microsoft.com/office/drawing/2014/main" id="{ADB900C2-D0CF-4DAA-8271-0A5B4C9AE758}"/>
              </a:ext>
            </a:extLst>
          </p:cNvPr>
          <p:cNvSpPr txBox="1"/>
          <p:nvPr/>
        </p:nvSpPr>
        <p:spPr>
          <a:xfrm>
            <a:off x="4657725" y="2057400"/>
            <a:ext cx="2867025" cy="323850"/>
          </a:xfrm>
        </p:spPr>
        <p:txBody>
          <a:bodyPr wrap="square" rtlCol="0" lIns="0" tIns="0" rIns="0" bIns="0" anchor="t"/>
          <a:lstStyle/>
          <a:p>
            <a:pPr algn="l"/>
            <a:r>
              <a:rPr sz="1800" b="1">
                <a:solidFill>
                  <a:srgbClr val="3E8BFF"/>
                </a:solidFill>
                <a:latin typeface="Segoe UI"/>
                <a:ea typeface="Segoe UI"/>
              </a:rPr>
              <a:t>Caregiver app</a:t>
            </a:r>
          </a:p>
        </p:txBody>
      </p:sp>
      <p:sp>
        <p:nvSpPr>
          <p:cNvPr id="11" name="TextBox 11">
            <a:extLst>
              <a:ext uri="{FF2B5EF4-FFF2-40B4-BE49-F238E27FC236}">
                <a16:creationId xmlns:a16="http://schemas.microsoft.com/office/drawing/2014/main" id="{8ABDBA3E-2DEB-4407-8D8A-A720F00A7085}"/>
              </a:ext>
            </a:extLst>
          </p:cNvPr>
          <p:cNvSpPr txBox="1"/>
          <p:nvPr/>
        </p:nvSpPr>
        <p:spPr>
          <a:xfrm>
            <a:off x="4657725" y="2457450"/>
            <a:ext cx="2867025" cy="2180234"/>
          </a:xfrm>
        </p:spPr>
        <p:txBody>
          <a:bodyPr wrap="square" rtlCol="0" lIns="0" tIns="0" rIns="0" bIns="0" anchor="t"/>
          <a:lstStyle/>
          <a:p>
            <a:pPr marL="228600" indent="-228600" algn="l">
              <a:lnSpc>
                <a:spcPct val="116000"/>
              </a:lnSpc>
              <a:spcAft>
                <a:spcPts val="900"/>
              </a:spcAft>
              <a:buChar char="•"/>
            </a:pPr>
            <a:r>
              <a:rPr sz="1300">
                <a:solidFill>
                  <a:srgbClr val="EAF2FC"/>
                </a:solidFill>
                <a:latin typeface="Segoe UI"/>
                <a:ea typeface="Segoe UI"/>
              </a:rPr>
              <a:t>A guided danger-sign check at home</a:t>
            </a:r>
          </a:p>
          <a:p>
            <a:pPr marL="228600" indent="-228600" algn="l">
              <a:lnSpc>
                <a:spcPct val="116000"/>
              </a:lnSpc>
              <a:spcAft>
                <a:spcPts val="900"/>
              </a:spcAft>
              <a:buChar char="•"/>
            </a:pPr>
            <a:r>
              <a:rPr sz="1300">
                <a:solidFill>
                  <a:srgbClr val="EAF2FC"/>
                </a:solidFill>
                <a:latin typeface="Segoe UI"/>
                <a:ea typeface="Segoe UI"/>
              </a:rPr>
              <a:t>Dagbani · Twi · Hausa · English</a:t>
            </a:r>
          </a:p>
          <a:p>
            <a:pPr marL="228600" indent="-228600" algn="l">
              <a:lnSpc>
                <a:spcPct val="116000"/>
              </a:lnSpc>
              <a:spcAft>
                <a:spcPts val="900"/>
              </a:spcAft>
              <a:buChar char="•"/>
            </a:pPr>
            <a:r>
              <a:rPr sz="1300">
                <a:solidFill>
                  <a:srgbClr val="EAF2FC"/>
                </a:solidFill>
                <a:latin typeface="Segoe UI"/>
                <a:ea typeface="Segoe UI"/>
              </a:rPr>
              <a:t>Every answer read back aloud</a:t>
            </a:r>
          </a:p>
          <a:p>
            <a:pPr marL="228600" indent="-228600" algn="l">
              <a:lnSpc>
                <a:spcPct val="116000"/>
              </a:lnSpc>
              <a:spcAft>
                <a:spcPts val="900"/>
              </a:spcAft>
              <a:buChar char="•"/>
            </a:pPr>
            <a:r>
              <a:rPr sz="1300">
                <a:solidFill>
                  <a:srgbClr val="EAF2FC"/>
                </a:solidFill>
                <a:latin typeface="Segoe UI"/>
                <a:ea typeface="Segoe UI"/>
              </a:rPr>
              <a:t>What to do tonight, and when to go</a:t>
            </a:r>
          </a:p>
          <a:p>
            <a:pPr marL="228600" indent="-228600" algn="l">
              <a:lnSpc>
                <a:spcPct val="116000"/>
              </a:lnSpc>
              <a:spcAft>
                <a:spcPts val="900"/>
              </a:spcAft>
              <a:buChar char="•"/>
            </a:pPr>
            <a:r>
              <a:rPr sz="1300">
                <a:solidFill>
                  <a:srgbClr val="EAF2FC"/>
                </a:solidFill>
                <a:latin typeface="Segoe UI"/>
                <a:ea typeface="Segoe UI"/>
              </a:rPr>
              <a:t>Ask for help — which writes a record</a:t>
            </a:r>
          </a:p>
        </p:txBody>
      </p:sp>
      <p:sp>
        <p:nvSpPr>
          <p:cNvPr id="12" name="Shape 12">
            <a:extLst>
              <a:ext uri="{FF2B5EF4-FFF2-40B4-BE49-F238E27FC236}">
                <a16:creationId xmlns:a16="http://schemas.microsoft.com/office/drawing/2014/main" id="{09CD05BA-1274-4BF4-8524-3031E64F5979}"/>
              </a:ext>
            </a:extLst>
          </p:cNvPr>
          <p:cNvSpPr/>
          <p:nvPr/>
        </p:nvSpPr>
        <p:spPr>
          <a:xfrm>
            <a:off x="8020050" y="1809750"/>
            <a:ext cx="3409950" cy="2857500"/>
          </a:xfrm>
          <a:prstGeom prst="roundRect">
            <a:avLst/>
          </a:prstGeom>
          <a:solidFill>
            <a:srgbClr val="123456"/>
          </a:solidFill>
        </p:spPr>
        <p:txBody>
          <a:bodyPr wrap="square" rtlCol="0"/>
          <a:lstStyle/>
          <a:p>
            <a:r>
              <a:rPr/>
              <a:t/>
            </a:r>
          </a:p>
        </p:txBody>
      </p:sp>
      <p:sp>
        <p:nvSpPr>
          <p:cNvPr id="13" name="TextBox 13">
            <a:extLst>
              <a:ext uri="{FF2B5EF4-FFF2-40B4-BE49-F238E27FC236}">
                <a16:creationId xmlns:a16="http://schemas.microsoft.com/office/drawing/2014/main" id="{1DC0436B-6703-419C-A625-F5D55878226E}"/>
              </a:ext>
            </a:extLst>
          </p:cNvPr>
          <p:cNvSpPr txBox="1"/>
          <p:nvPr/>
        </p:nvSpPr>
        <p:spPr>
          <a:xfrm>
            <a:off x="8286750" y="2057400"/>
            <a:ext cx="2876550" cy="323850"/>
          </a:xfrm>
        </p:spPr>
        <p:txBody>
          <a:bodyPr wrap="square" rtlCol="0" lIns="0" tIns="0" rIns="0" bIns="0" anchor="t"/>
          <a:lstStyle/>
          <a:p>
            <a:pPr algn="l"/>
            <a:r>
              <a:rPr sz="1800" b="1">
                <a:solidFill>
                  <a:srgbClr val="EAF2FC"/>
                </a:solidFill>
                <a:latin typeface="Segoe UI"/>
                <a:ea typeface="Segoe UI"/>
              </a:rPr>
              <a:t>One spine underneath</a:t>
            </a:r>
          </a:p>
        </p:txBody>
      </p:sp>
      <p:sp>
        <p:nvSpPr>
          <p:cNvPr id="14" name="TextBox 14">
            <a:extLst>
              <a:ext uri="{FF2B5EF4-FFF2-40B4-BE49-F238E27FC236}">
                <a16:creationId xmlns:a16="http://schemas.microsoft.com/office/drawing/2014/main" id="{C28F2F43-34C3-4EF9-AA74-5416DE89C457}"/>
              </a:ext>
            </a:extLst>
          </p:cNvPr>
          <p:cNvSpPr txBox="1"/>
          <p:nvPr/>
        </p:nvSpPr>
        <p:spPr>
          <a:xfrm>
            <a:off x="8286750" y="2457450"/>
            <a:ext cx="2876550" cy="2180234"/>
          </a:xfrm>
        </p:spPr>
        <p:txBody>
          <a:bodyPr wrap="square" rtlCol="0" lIns="0" tIns="0" rIns="0" bIns="0" anchor="t"/>
          <a:lstStyle/>
          <a:p>
            <a:pPr marL="228600" indent="-228600" algn="l">
              <a:lnSpc>
                <a:spcPct val="116000"/>
              </a:lnSpc>
              <a:spcAft>
                <a:spcPts val="900"/>
              </a:spcAft>
              <a:buChar char="•"/>
            </a:pPr>
            <a:r>
              <a:rPr sz="1300">
                <a:solidFill>
                  <a:srgbClr val="EAF2FC"/>
                </a:solidFill>
                <a:latin typeface="Segoe UI"/>
                <a:ea typeface="Segoe UI"/>
              </a:rPr>
              <a:t>One local database</a:t>
            </a:r>
          </a:p>
          <a:p>
            <a:pPr marL="228600" indent="-228600" algn="l">
              <a:lnSpc>
                <a:spcPct val="116000"/>
              </a:lnSpc>
              <a:spcAft>
                <a:spcPts val="900"/>
              </a:spcAft>
              <a:buChar char="•"/>
            </a:pPr>
            <a:r>
              <a:rPr sz="1300">
                <a:solidFill>
                  <a:srgbClr val="EAF2FC"/>
                </a:solidFill>
                <a:latin typeface="Segoe UI"/>
                <a:ea typeface="Segoe UI"/>
              </a:rPr>
              <a:t>One sync contract</a:t>
            </a:r>
          </a:p>
          <a:p>
            <a:pPr marL="228600" indent="-228600" algn="l">
              <a:lnSpc>
                <a:spcPct val="116000"/>
              </a:lnSpc>
              <a:spcAft>
                <a:spcPts val="900"/>
              </a:spcAft>
              <a:buChar char="•"/>
            </a:pPr>
            <a:r>
              <a:rPr sz="1300">
                <a:solidFill>
                  <a:srgbClr val="EAF2FC"/>
                </a:solidFill>
                <a:latin typeface="Segoe UI"/>
                <a:ea typeface="Segoe UI"/>
              </a:rPr>
              <a:t>One permission model between roles</a:t>
            </a:r>
          </a:p>
          <a:p>
            <a:pPr marL="228600" indent="-228600" algn="l">
              <a:lnSpc>
                <a:spcPct val="116000"/>
              </a:lnSpc>
              <a:spcAft>
                <a:spcPts val="900"/>
              </a:spcAft>
              <a:buChar char="•"/>
            </a:pPr>
            <a:r>
              <a:rPr sz="1300">
                <a:solidFill>
                  <a:srgbClr val="EAF2FC"/>
                </a:solidFill>
                <a:latin typeface="Segoe UI"/>
                <a:ea typeface="Segoe UI"/>
              </a:rPr>
              <a:t>Runs on a low-end Android handset</a:t>
            </a:r>
          </a:p>
          <a:p>
            <a:pPr marL="228600" indent="-228600" algn="l">
              <a:lnSpc>
                <a:spcPct val="116000"/>
              </a:lnSpc>
              <a:spcAft>
                <a:spcPts val="900"/>
              </a:spcAft>
              <a:buChar char="•"/>
            </a:pPr>
            <a:r>
              <a:rPr sz="1300">
                <a:solidFill>
                  <a:srgbClr val="EAF2FC"/>
                </a:solidFill>
                <a:latin typeface="Segoe UI"/>
                <a:ea typeface="Segoe UI"/>
              </a:rPr>
              <a:t>Same code builds Windows and Web</a:t>
            </a:r>
          </a:p>
        </p:txBody>
      </p:sp>
      <p:sp>
        <p:nvSpPr>
          <p:cNvPr id="15" name="Shape 15">
            <a:extLst>
              <a:ext uri="{FF2B5EF4-FFF2-40B4-BE49-F238E27FC236}">
                <a16:creationId xmlns:a16="http://schemas.microsoft.com/office/drawing/2014/main" id="{47DCCD88-EA04-4079-9A1F-DF097C7F5D5A}"/>
              </a:ext>
            </a:extLst>
          </p:cNvPr>
          <p:cNvSpPr/>
          <p:nvPr/>
        </p:nvSpPr>
        <p:spPr>
          <a:xfrm>
            <a:off x="762000" y="4895850"/>
            <a:ext cx="10668000" cy="1276350"/>
          </a:xfrm>
          <a:prstGeom prst="roundRect">
            <a:avLst/>
          </a:prstGeom>
          <a:solidFill>
            <a:srgbClr val="0B2138"/>
          </a:solidFill>
        </p:spPr>
        <p:txBody>
          <a:bodyPr wrap="square" rtlCol="0"/>
          <a:lstStyle/>
          <a:p>
            <a:r>
              <a:rPr/>
              <a:t/>
            </a:r>
          </a:p>
        </p:txBody>
      </p:sp>
      <p:sp>
        <p:nvSpPr>
          <p:cNvPr id="16" name="TextBox 16">
            <a:extLst>
              <a:ext uri="{FF2B5EF4-FFF2-40B4-BE49-F238E27FC236}">
                <a16:creationId xmlns:a16="http://schemas.microsoft.com/office/drawing/2014/main" id="{663E370A-642E-4479-A2F5-450B6EE572E9}"/>
              </a:ext>
            </a:extLst>
          </p:cNvPr>
          <p:cNvSpPr txBox="1"/>
          <p:nvPr/>
        </p:nvSpPr>
        <p:spPr>
          <a:xfrm>
            <a:off x="1066800" y="5143500"/>
            <a:ext cx="10058400" cy="838200"/>
          </a:xfrm>
        </p:spPr>
        <p:txBody>
          <a:bodyPr wrap="square" rtlCol="0" lIns="0" tIns="0" rIns="0" bIns="0" anchor="t"/>
          <a:lstStyle/>
          <a:p>
            <a:pPr algn="l">
              <a:lnSpc>
                <a:spcPct val="130000"/>
              </a:lnSpc>
              <a:spcAft>
                <a:spcPts val="1000"/>
              </a:spcAft>
            </a:pPr>
            <a:r>
              <a:rPr sz="1700" b="1">
                <a:solidFill>
                  <a:srgbClr val="3E8BFF"/>
                </a:solidFill>
                <a:latin typeface="Segoe UI"/>
                <a:ea typeface="Segoe UI"/>
              </a:rPr>
              <a:t>16 guideline engines</a:t>
            </a:r>
            <a:r>
              <a:rPr sz="1500">
                <a:solidFill>
                  <a:srgbClr val="C4D5E9"/>
                </a:solidFill>
                <a:latin typeface="Segoe UI"/>
                <a:ea typeface="Segoe UI"/>
              </a:rPr>
              <a:t>  plus the stabilisation and dispensing protocols decide care.</a:t>
            </a:r>
          </a:p>
          <a:p>
            <a:pPr algn="l">
              <a:lnSpc>
                <a:spcPct val="130000"/>
              </a:lnSpc>
            </a:pPr>
            <a:r>
              <a:rPr sz="1500" b="1">
                <a:solidFill>
                  <a:srgbClr val="EAF2FC"/>
                </a:solidFill>
                <a:latin typeface="Segoe UI"/>
                <a:ea typeface="Segoe UI"/>
              </a:rPr>
              <a:t>Machine learning supports that decision. It does not make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AD4D45C-5E12-490C-840C-852CD67CD6B3}"/>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THE CAREGIVER FLOW</a:t>
            </a:r>
          </a:p>
        </p:txBody>
      </p:sp>
      <p:sp>
        <p:nvSpPr>
          <p:cNvPr id="4" name="TextBox 4">
            <a:extLst>
              <a:ext uri="{FF2B5EF4-FFF2-40B4-BE49-F238E27FC236}">
                <a16:creationId xmlns:a16="http://schemas.microsoft.com/office/drawing/2014/main" id="{E504C878-2729-44B1-BACF-B50021E89A5B}"/>
              </a:ext>
            </a:extLst>
          </p:cNvPr>
          <p:cNvSpPr txBox="1"/>
          <p:nvPr/>
        </p:nvSpPr>
        <p:spPr>
          <a:xfrm>
            <a:off x="762000" y="819150"/>
            <a:ext cx="10668000" cy="495300"/>
          </a:xfrm>
        </p:spPr>
        <p:txBody>
          <a:bodyPr wrap="square" rtlCol="0" lIns="0" tIns="0" rIns="0" bIns="0" anchor="t"/>
          <a:lstStyle/>
          <a:p>
            <a:pPr algn="l">
              <a:lnSpc>
                <a:spcPct val="106000"/>
              </a:lnSpc>
            </a:pPr>
            <a:r>
              <a:rPr sz="2800" b="1">
                <a:solidFill>
                  <a:srgbClr val="EAF2FC"/>
                </a:solidFill>
                <a:latin typeface="Segoe UI"/>
                <a:ea typeface="Segoe UI"/>
              </a:rPr>
              <a:t>A mother can run a real triage at home, in her own language</a:t>
            </a:r>
          </a:p>
        </p:txBody>
      </p:sp>
      <p:cxnSp>
        <p:nvCxnSpPr>
          <p:cNvPr id="5" name="Straight Connector 5">
            <a:extLst>
              <a:ext uri="{FF2B5EF4-FFF2-40B4-BE49-F238E27FC236}">
                <a16:creationId xmlns:a16="http://schemas.microsoft.com/office/drawing/2014/main" id="{54B6EEF3-BB8C-45F7-A8C8-9D35DB7517F9}"/>
              </a:ext>
            </a:extLst>
          </p:cNvPr>
          <p:cNvCxnSpPr/>
          <p:nvPr/>
        </p:nvCxnSpPr>
        <p:spPr>
          <a:xfrm>
            <a:off x="762000" y="146685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DB6EE235-E9F2-4F80-9BFD-636F98339F0E}"/>
              </a:ext>
            </a:extLst>
          </p:cNvPr>
          <p:cNvSpPr txBox="1"/>
          <p:nvPr/>
        </p:nvSpPr>
        <p:spPr>
          <a:xfrm>
            <a:off x="762000" y="1676400"/>
            <a:ext cx="10668000" cy="571500"/>
          </a:xfrm>
        </p:spPr>
        <p:txBody>
          <a:bodyPr wrap="square" rtlCol="0" lIns="0" tIns="0" rIns="0" bIns="0" anchor="t"/>
          <a:lstStyle/>
          <a:p>
            <a:pPr algn="l">
              <a:lnSpc>
                <a:spcPct val="124000"/>
              </a:lnSpc>
            </a:pPr>
            <a:r>
              <a:rPr sz="1500" b="1">
                <a:solidFill>
                  <a:srgbClr val="EAF2FC"/>
                </a:solidFill>
                <a:latin typeface="Segoe UI"/>
                <a:ea typeface="Segoe UI"/>
              </a:rPr>
              <a:t>Dagbani, Twi, Hausa and English. </a:t>
            </a:r>
            <a:r>
              <a:rPr sz="1500">
                <a:solidFill>
                  <a:srgbClr val="C4D5E9"/>
                </a:solidFill>
                <a:latin typeface="Segoe UI"/>
                <a:ea typeface="Segoe UI"/>
              </a:rPr>
              <a:t>18 triage question lines and 5 danger-sign guidance topics are pre-recorded — 41 spoken clips in every language.</a:t>
            </a:r>
          </a:p>
        </p:txBody>
      </p:sp>
      <p:cxnSp>
        <p:nvCxnSpPr>
          <p:cNvPr id="7" name="Straight Connector 7">
            <a:extLst>
              <a:ext uri="{FF2B5EF4-FFF2-40B4-BE49-F238E27FC236}">
                <a16:creationId xmlns:a16="http://schemas.microsoft.com/office/drawing/2014/main" id="{E4D3E828-AFF1-42E0-A683-544B43022CC6}"/>
              </a:ext>
            </a:extLst>
          </p:cNvPr>
          <p:cNvCxnSpPr/>
          <p:nvPr/>
        </p:nvCxnSpPr>
        <p:spPr>
          <a:xfrm>
            <a:off x="762000" y="3619500"/>
            <a:ext cx="10668000" cy="9525"/>
          </a:xfrm>
          <a:prstGeom prst="line">
            <a:avLst/>
          </a:prstGeom>
          <a:ln w="12700" cap="flat">
            <a:solidFill>
              <a:srgbClr val="1B3A5E"/>
            </a:solidFill>
          </a:ln>
        </p:spPr>
      </p:cxnSp>
      <p:sp>
        <p:nvSpPr>
          <p:cNvPr id="8" name="Shape 8">
            <a:extLst>
              <a:ext uri="{FF2B5EF4-FFF2-40B4-BE49-F238E27FC236}">
                <a16:creationId xmlns:a16="http://schemas.microsoft.com/office/drawing/2014/main" id="{DC1C548B-B341-4B4D-A6CB-AE18D2CD4D6E}"/>
              </a:ext>
            </a:extLst>
          </p:cNvPr>
          <p:cNvSpPr/>
          <p:nvPr/>
        </p:nvSpPr>
        <p:spPr>
          <a:xfrm>
            <a:off x="1619250" y="3409950"/>
            <a:ext cx="419100" cy="419100"/>
          </a:xfrm>
          <a:prstGeom prst="ellipse">
            <a:avLst/>
          </a:prstGeom>
          <a:solidFill>
            <a:srgbClr val="3E8BFF"/>
          </a:solidFill>
        </p:spPr>
        <p:txBody>
          <a:bodyPr wrap="square" rtlCol="0"/>
          <a:lstStyle/>
          <a:p>
            <a:r>
              <a:rPr/>
              <a:t/>
            </a:r>
          </a:p>
        </p:txBody>
      </p:sp>
      <p:sp>
        <p:nvSpPr>
          <p:cNvPr id="9" name="Shape 9">
            <a:extLst>
              <a:ext uri="{FF2B5EF4-FFF2-40B4-BE49-F238E27FC236}">
                <a16:creationId xmlns:a16="http://schemas.microsoft.com/office/drawing/2014/main" id="{34B9E431-7E82-4EBC-B2F7-AFDDA4F59878}"/>
              </a:ext>
            </a:extLst>
          </p:cNvPr>
          <p:cNvSpPr/>
          <p:nvPr/>
        </p:nvSpPr>
        <p:spPr>
          <a:xfrm>
            <a:off x="3752850" y="3409950"/>
            <a:ext cx="419100" cy="419100"/>
          </a:xfrm>
          <a:prstGeom prst="ellipse">
            <a:avLst/>
          </a:prstGeom>
          <a:solidFill>
            <a:srgbClr val="3E8BFF"/>
          </a:solidFill>
        </p:spPr>
        <p:txBody>
          <a:bodyPr wrap="square" rtlCol="0"/>
          <a:lstStyle/>
          <a:p>
            <a:r>
              <a:rPr/>
              <a:t/>
            </a:r>
          </a:p>
        </p:txBody>
      </p:sp>
      <p:sp>
        <p:nvSpPr>
          <p:cNvPr id="10" name="Shape 10">
            <a:extLst>
              <a:ext uri="{FF2B5EF4-FFF2-40B4-BE49-F238E27FC236}">
                <a16:creationId xmlns:a16="http://schemas.microsoft.com/office/drawing/2014/main" id="{2784F7D5-0B31-4D96-90DE-3293BB97EDEB}"/>
              </a:ext>
            </a:extLst>
          </p:cNvPr>
          <p:cNvSpPr/>
          <p:nvPr/>
        </p:nvSpPr>
        <p:spPr>
          <a:xfrm>
            <a:off x="5886450" y="3409950"/>
            <a:ext cx="419100" cy="419100"/>
          </a:xfrm>
          <a:prstGeom prst="ellipse">
            <a:avLst/>
          </a:prstGeom>
          <a:solidFill>
            <a:srgbClr val="3E8BFF"/>
          </a:solidFill>
        </p:spPr>
        <p:txBody>
          <a:bodyPr wrap="square" rtlCol="0"/>
          <a:lstStyle/>
          <a:p>
            <a:r>
              <a:rPr/>
              <a:t/>
            </a:r>
          </a:p>
        </p:txBody>
      </p:sp>
      <p:sp>
        <p:nvSpPr>
          <p:cNvPr id="11" name="Shape 11">
            <a:extLst>
              <a:ext uri="{FF2B5EF4-FFF2-40B4-BE49-F238E27FC236}">
                <a16:creationId xmlns:a16="http://schemas.microsoft.com/office/drawing/2014/main" id="{B55E80F0-D94D-421C-8FD8-02FEE5721D87}"/>
              </a:ext>
            </a:extLst>
          </p:cNvPr>
          <p:cNvSpPr/>
          <p:nvPr/>
        </p:nvSpPr>
        <p:spPr>
          <a:xfrm>
            <a:off x="8020050" y="3409950"/>
            <a:ext cx="419100" cy="419100"/>
          </a:xfrm>
          <a:prstGeom prst="ellipse">
            <a:avLst/>
          </a:prstGeom>
          <a:solidFill>
            <a:srgbClr val="3E8BFF"/>
          </a:solidFill>
        </p:spPr>
        <p:txBody>
          <a:bodyPr wrap="square" rtlCol="0"/>
          <a:lstStyle/>
          <a:p>
            <a:r>
              <a:rPr/>
              <a:t/>
            </a:r>
          </a:p>
        </p:txBody>
      </p:sp>
      <p:sp>
        <p:nvSpPr>
          <p:cNvPr id="12" name="Shape 12">
            <a:extLst>
              <a:ext uri="{FF2B5EF4-FFF2-40B4-BE49-F238E27FC236}">
                <a16:creationId xmlns:a16="http://schemas.microsoft.com/office/drawing/2014/main" id="{9CAA9214-65B0-44A4-9F22-F301335B3CE1}"/>
              </a:ext>
            </a:extLst>
          </p:cNvPr>
          <p:cNvSpPr/>
          <p:nvPr/>
        </p:nvSpPr>
        <p:spPr>
          <a:xfrm>
            <a:off x="10153650" y="3409950"/>
            <a:ext cx="419100" cy="419100"/>
          </a:xfrm>
          <a:prstGeom prst="ellipse">
            <a:avLst/>
          </a:prstGeom>
          <a:solidFill>
            <a:srgbClr val="F2A93B"/>
          </a:solidFill>
        </p:spPr>
        <p:txBody>
          <a:bodyPr wrap="square" rtlCol="0"/>
          <a:lstStyle/>
          <a:p>
            <a:r>
              <a:rPr/>
              <a:t/>
            </a:r>
          </a:p>
        </p:txBody>
      </p:sp>
      <p:sp>
        <p:nvSpPr>
          <p:cNvPr id="13" name="TextBox 13">
            <a:extLst>
              <a:ext uri="{FF2B5EF4-FFF2-40B4-BE49-F238E27FC236}">
                <a16:creationId xmlns:a16="http://schemas.microsoft.com/office/drawing/2014/main" id="{64881F1A-9921-4692-907B-6FE56393CDA3}"/>
              </a:ext>
            </a:extLst>
          </p:cNvPr>
          <p:cNvSpPr txBox="1"/>
          <p:nvPr/>
        </p:nvSpPr>
        <p:spPr>
          <a:xfrm>
            <a:off x="838200" y="2495550"/>
            <a:ext cx="1981200" cy="685800"/>
          </a:xfrm>
        </p:spPr>
        <p:txBody>
          <a:bodyPr wrap="square" rtlCol="0" lIns="0" tIns="0" rIns="0" bIns="0" anchor="t"/>
          <a:lstStyle/>
          <a:p>
            <a:pPr algn="l">
              <a:lnSpc>
                <a:spcPct val="114000"/>
              </a:lnSpc>
            </a:pPr>
            <a:r>
              <a:rPr sz="1450" b="1">
                <a:solidFill>
                  <a:srgbClr val="EAF2FC"/>
                </a:solidFill>
                <a:latin typeface="Segoe UI"/>
                <a:ea typeface="Segoe UI"/>
              </a:rPr>
              <a:t>Asked in the family's language</a:t>
            </a:r>
          </a:p>
        </p:txBody>
      </p:sp>
      <p:sp>
        <p:nvSpPr>
          <p:cNvPr id="14" name="TextBox 14">
            <a:extLst>
              <a:ext uri="{FF2B5EF4-FFF2-40B4-BE49-F238E27FC236}">
                <a16:creationId xmlns:a16="http://schemas.microsoft.com/office/drawing/2014/main" id="{9310306C-D370-4C94-8CD5-07421E423DA6}"/>
              </a:ext>
            </a:extLst>
          </p:cNvPr>
          <p:cNvSpPr txBox="1"/>
          <p:nvPr/>
        </p:nvSpPr>
        <p:spPr>
          <a:xfrm>
            <a:off x="2971800" y="2495550"/>
            <a:ext cx="1981200" cy="685800"/>
          </a:xfrm>
        </p:spPr>
        <p:txBody>
          <a:bodyPr wrap="square" rtlCol="0" lIns="0" tIns="0" rIns="0" bIns="0" anchor="t"/>
          <a:lstStyle/>
          <a:p>
            <a:pPr algn="l">
              <a:lnSpc>
                <a:spcPct val="114000"/>
              </a:lnSpc>
            </a:pPr>
            <a:r>
              <a:rPr sz="1450" b="1">
                <a:solidFill>
                  <a:srgbClr val="EAF2FC"/>
                </a:solidFill>
                <a:latin typeface="Segoe UI"/>
                <a:ea typeface="Segoe UI"/>
              </a:rPr>
              <a:t>Every answer read back</a:t>
            </a:r>
          </a:p>
        </p:txBody>
      </p:sp>
      <p:sp>
        <p:nvSpPr>
          <p:cNvPr id="15" name="TextBox 15">
            <a:extLst>
              <a:ext uri="{FF2B5EF4-FFF2-40B4-BE49-F238E27FC236}">
                <a16:creationId xmlns:a16="http://schemas.microsoft.com/office/drawing/2014/main" id="{3ED751AD-290B-43AE-BF62-C5C80F45153D}"/>
              </a:ext>
            </a:extLst>
          </p:cNvPr>
          <p:cNvSpPr txBox="1"/>
          <p:nvPr/>
        </p:nvSpPr>
        <p:spPr>
          <a:xfrm>
            <a:off x="5105400" y="2495550"/>
            <a:ext cx="1981200" cy="685800"/>
          </a:xfrm>
        </p:spPr>
        <p:txBody>
          <a:bodyPr wrap="square" rtlCol="0" lIns="0" tIns="0" rIns="0" bIns="0" anchor="t"/>
          <a:lstStyle/>
          <a:p>
            <a:pPr algn="l">
              <a:lnSpc>
                <a:spcPct val="114000"/>
              </a:lnSpc>
            </a:pPr>
            <a:r>
              <a:rPr sz="1450" b="1">
                <a:solidFill>
                  <a:srgbClr val="EAF2FC"/>
                </a:solidFill>
                <a:latin typeface="Segoe UI"/>
                <a:ea typeface="Segoe UI"/>
              </a:rPr>
              <a:t>A YES continues the check</a:t>
            </a:r>
          </a:p>
        </p:txBody>
      </p:sp>
      <p:sp>
        <p:nvSpPr>
          <p:cNvPr id="16" name="TextBox 16">
            <a:extLst>
              <a:ext uri="{FF2B5EF4-FFF2-40B4-BE49-F238E27FC236}">
                <a16:creationId xmlns:a16="http://schemas.microsoft.com/office/drawing/2014/main" id="{D634E010-6405-4579-9FDA-F2F9FF3051B7}"/>
              </a:ext>
            </a:extLst>
          </p:cNvPr>
          <p:cNvSpPr txBox="1"/>
          <p:nvPr/>
        </p:nvSpPr>
        <p:spPr>
          <a:xfrm>
            <a:off x="7239000" y="2495550"/>
            <a:ext cx="1981200" cy="685800"/>
          </a:xfrm>
        </p:spPr>
        <p:txBody>
          <a:bodyPr wrap="square" rtlCol="0" lIns="0" tIns="0" rIns="0" bIns="0" anchor="t"/>
          <a:lstStyle/>
          <a:p>
            <a:pPr algn="l">
              <a:lnSpc>
                <a:spcPct val="114000"/>
              </a:lnSpc>
            </a:pPr>
            <a:r>
              <a:rPr sz="1450" b="1">
                <a:solidFill>
                  <a:srgbClr val="EAF2FC"/>
                </a:solidFill>
                <a:latin typeface="Segoe UI"/>
                <a:ea typeface="Segoe UI"/>
              </a:rPr>
              <a:t>What to do tonight</a:t>
            </a:r>
          </a:p>
        </p:txBody>
      </p:sp>
      <p:sp>
        <p:nvSpPr>
          <p:cNvPr id="17" name="TextBox 17">
            <a:extLst>
              <a:ext uri="{FF2B5EF4-FFF2-40B4-BE49-F238E27FC236}">
                <a16:creationId xmlns:a16="http://schemas.microsoft.com/office/drawing/2014/main" id="{4B9399D2-BD87-4D97-8060-C2F082DB7CE0}"/>
              </a:ext>
            </a:extLst>
          </p:cNvPr>
          <p:cNvSpPr txBox="1"/>
          <p:nvPr/>
        </p:nvSpPr>
        <p:spPr>
          <a:xfrm>
            <a:off x="9372600" y="2495550"/>
            <a:ext cx="1981200" cy="685800"/>
          </a:xfrm>
        </p:spPr>
        <p:txBody>
          <a:bodyPr wrap="square" rtlCol="0" lIns="0" tIns="0" rIns="0" bIns="0" anchor="t"/>
          <a:lstStyle/>
          <a:p>
            <a:pPr algn="l">
              <a:lnSpc>
                <a:spcPct val="114000"/>
              </a:lnSpc>
            </a:pPr>
            <a:r>
              <a:rPr sz="1450" b="1">
                <a:solidFill>
                  <a:srgbClr val="F2A93B"/>
                </a:solidFill>
                <a:latin typeface="Segoe UI"/>
                <a:ea typeface="Segoe UI"/>
              </a:rPr>
              <a:t>Ask for help</a:t>
            </a:r>
          </a:p>
        </p:txBody>
      </p:sp>
      <p:sp>
        <p:nvSpPr>
          <p:cNvPr id="18" name="TextBox 18">
            <a:extLst>
              <a:ext uri="{FF2B5EF4-FFF2-40B4-BE49-F238E27FC236}">
                <a16:creationId xmlns:a16="http://schemas.microsoft.com/office/drawing/2014/main" id="{12A537FE-9357-4F32-9BD0-69BAE01C24A0}"/>
              </a:ext>
            </a:extLst>
          </p:cNvPr>
          <p:cNvSpPr txBox="1"/>
          <p:nvPr/>
        </p:nvSpPr>
        <p:spPr>
          <a:xfrm>
            <a:off x="838200" y="4000500"/>
            <a:ext cx="1981200" cy="1428750"/>
          </a:xfrm>
        </p:spPr>
        <p:txBody>
          <a:bodyPr wrap="square" rtlCol="0" lIns="0" tIns="0" rIns="0" bIns="0" anchor="t"/>
          <a:lstStyle/>
          <a:p>
            <a:pPr algn="l">
              <a:lnSpc>
                <a:spcPct val="120000"/>
              </a:lnSpc>
            </a:pPr>
            <a:r>
              <a:rPr sz="1250">
                <a:solidFill>
                  <a:srgbClr val="9FB4CE"/>
                </a:solidFill>
                <a:latin typeface="Segoe UI"/>
                <a:ea typeface="Segoe UI"/>
              </a:rPr>
              <a:t>Danger signs as conversational questions, not clinical shorthand.</a:t>
            </a:r>
          </a:p>
        </p:txBody>
      </p:sp>
      <p:sp>
        <p:nvSpPr>
          <p:cNvPr id="19" name="TextBox 19">
            <a:extLst>
              <a:ext uri="{FF2B5EF4-FFF2-40B4-BE49-F238E27FC236}">
                <a16:creationId xmlns:a16="http://schemas.microsoft.com/office/drawing/2014/main" id="{0BFCB009-1DA3-47AE-B3DD-DD4F11BB1757}"/>
              </a:ext>
            </a:extLst>
          </p:cNvPr>
          <p:cNvSpPr txBox="1"/>
          <p:nvPr/>
        </p:nvSpPr>
        <p:spPr>
          <a:xfrm>
            <a:off x="2971800" y="4000500"/>
            <a:ext cx="1981200" cy="1428750"/>
          </a:xfrm>
        </p:spPr>
        <p:txBody>
          <a:bodyPr wrap="square" rtlCol="0" lIns="0" tIns="0" rIns="0" bIns="0" anchor="t"/>
          <a:lstStyle/>
          <a:p>
            <a:pPr algn="l">
              <a:lnSpc>
                <a:spcPct val="120000"/>
              </a:lnSpc>
            </a:pPr>
            <a:r>
              <a:rPr sz="1250">
                <a:solidFill>
                  <a:srgbClr val="9FB4CE"/>
                </a:solidFill>
                <a:latin typeface="Segoe UI"/>
                <a:ea typeface="Segoe UI"/>
              </a:rPr>
              <a:t>A tap cannot silently become a record: the app speaks it back first.</a:t>
            </a:r>
          </a:p>
        </p:txBody>
      </p:sp>
      <p:sp>
        <p:nvSpPr>
          <p:cNvPr id="20" name="TextBox 20">
            <a:extLst>
              <a:ext uri="{FF2B5EF4-FFF2-40B4-BE49-F238E27FC236}">
                <a16:creationId xmlns:a16="http://schemas.microsoft.com/office/drawing/2014/main" id="{AD4C5A82-A016-41B8-9A8E-40F82719A89E}"/>
              </a:ext>
            </a:extLst>
          </p:cNvPr>
          <p:cNvSpPr txBox="1"/>
          <p:nvPr/>
        </p:nvSpPr>
        <p:spPr>
          <a:xfrm>
            <a:off x="5105400" y="4000500"/>
            <a:ext cx="1981200" cy="1428750"/>
          </a:xfrm>
        </p:spPr>
        <p:txBody>
          <a:bodyPr wrap="square" rtlCol="0" lIns="0" tIns="0" rIns="0" bIns="0" anchor="t"/>
          <a:lstStyle/>
          <a:p>
            <a:pPr algn="l">
              <a:lnSpc>
                <a:spcPct val="120000"/>
              </a:lnSpc>
            </a:pPr>
            <a:r>
              <a:rPr sz="1250">
                <a:solidFill>
                  <a:srgbClr val="9FB4CE"/>
                </a:solidFill>
                <a:latin typeface="Segoe UI"/>
                <a:ea typeface="Segoe UI"/>
              </a:rPr>
              <a:t>One yes is a symptom, not a verdict. The check goes on.</a:t>
            </a:r>
          </a:p>
        </p:txBody>
      </p:sp>
      <p:sp>
        <p:nvSpPr>
          <p:cNvPr id="21" name="TextBox 21">
            <a:extLst>
              <a:ext uri="{FF2B5EF4-FFF2-40B4-BE49-F238E27FC236}">
                <a16:creationId xmlns:a16="http://schemas.microsoft.com/office/drawing/2014/main" id="{9AB16556-9065-4C61-8EE5-089566AF96CF}"/>
              </a:ext>
            </a:extLst>
          </p:cNvPr>
          <p:cNvSpPr txBox="1"/>
          <p:nvPr/>
        </p:nvSpPr>
        <p:spPr>
          <a:xfrm>
            <a:off x="7239000" y="4000500"/>
            <a:ext cx="1981200" cy="1428750"/>
          </a:xfrm>
        </p:spPr>
        <p:txBody>
          <a:bodyPr wrap="square" rtlCol="0" lIns="0" tIns="0" rIns="0" bIns="0" anchor="t"/>
          <a:lstStyle/>
          <a:p>
            <a:pPr algn="l">
              <a:lnSpc>
                <a:spcPct val="120000"/>
              </a:lnSpc>
            </a:pPr>
            <a:r>
              <a:rPr sz="1250">
                <a:solidFill>
                  <a:srgbClr val="9FB4CE"/>
                </a:solidFill>
                <a:latin typeface="Segoe UI"/>
                <a:ea typeface="Segoe UI"/>
              </a:rPr>
              <a:t>Action steps, what to watch for, and when to go to the facility.</a:t>
            </a:r>
          </a:p>
        </p:txBody>
      </p:sp>
      <p:sp>
        <p:nvSpPr>
          <p:cNvPr id="22" name="TextBox 22">
            <a:extLst>
              <a:ext uri="{FF2B5EF4-FFF2-40B4-BE49-F238E27FC236}">
                <a16:creationId xmlns:a16="http://schemas.microsoft.com/office/drawing/2014/main" id="{26E30367-7643-4472-AEF3-47FB83051CE2}"/>
              </a:ext>
            </a:extLst>
          </p:cNvPr>
          <p:cNvSpPr txBox="1"/>
          <p:nvPr/>
        </p:nvSpPr>
        <p:spPr>
          <a:xfrm>
            <a:off x="9372600" y="4000500"/>
            <a:ext cx="1981200" cy="1428750"/>
          </a:xfrm>
        </p:spPr>
        <p:txBody>
          <a:bodyPr wrap="square" rtlCol="0" lIns="0" tIns="0" rIns="0" bIns="0" anchor="t"/>
          <a:lstStyle/>
          <a:p>
            <a:pPr algn="l">
              <a:lnSpc>
                <a:spcPct val="120000"/>
              </a:lnSpc>
            </a:pPr>
            <a:r>
              <a:rPr sz="1250">
                <a:solidFill>
                  <a:srgbClr val="9FB4CE"/>
                </a:solidFill>
                <a:latin typeface="Segoe UI"/>
                <a:ea typeface="Segoe UI"/>
              </a:rPr>
              <a:t>requestCare is held by families only, and it reaches the worker's desk.</a:t>
            </a:r>
          </a:p>
        </p:txBody>
      </p:sp>
      <p:sp>
        <p:nvSpPr>
          <p:cNvPr id="23" name="Shape 23">
            <a:extLst>
              <a:ext uri="{FF2B5EF4-FFF2-40B4-BE49-F238E27FC236}">
                <a16:creationId xmlns:a16="http://schemas.microsoft.com/office/drawing/2014/main" id="{B2EB14E8-9529-42C4-B49E-20B13D95AEFE}"/>
              </a:ext>
            </a:extLst>
          </p:cNvPr>
          <p:cNvSpPr/>
          <p:nvPr/>
        </p:nvSpPr>
        <p:spPr>
          <a:xfrm>
            <a:off x="762000" y="5676900"/>
            <a:ext cx="10668000" cy="876300"/>
          </a:xfrm>
          <a:prstGeom prst="roundRect">
            <a:avLst/>
          </a:prstGeom>
          <a:solidFill>
            <a:srgbClr val="0B2138"/>
          </a:solidFill>
        </p:spPr>
        <p:txBody>
          <a:bodyPr wrap="square" rtlCol="0"/>
          <a:lstStyle/>
          <a:p>
            <a:r>
              <a:rPr/>
              <a:t/>
            </a:r>
          </a:p>
        </p:txBody>
      </p:sp>
      <p:sp>
        <p:nvSpPr>
          <p:cNvPr id="24" name="TextBox 24">
            <a:extLst>
              <a:ext uri="{FF2B5EF4-FFF2-40B4-BE49-F238E27FC236}">
                <a16:creationId xmlns:a16="http://schemas.microsoft.com/office/drawing/2014/main" id="{61F054F3-CDA7-4E3B-953F-30351BEF343E}"/>
              </a:ext>
            </a:extLst>
          </p:cNvPr>
          <p:cNvSpPr txBox="1"/>
          <p:nvPr/>
        </p:nvSpPr>
        <p:spPr>
          <a:xfrm>
            <a:off x="1066800" y="5848350"/>
            <a:ext cx="10058400" cy="571500"/>
          </a:xfrm>
        </p:spPr>
        <p:txBody>
          <a:bodyPr wrap="square" rtlCol="0" lIns="0" tIns="0" rIns="0" bIns="0" anchor="t"/>
          <a:lstStyle/>
          <a:p>
            <a:pPr algn="l">
              <a:lnSpc>
                <a:spcPct val="124000"/>
              </a:lnSpc>
            </a:pPr>
            <a:r>
              <a:rPr sz="1300">
                <a:solidFill>
                  <a:srgbClr val="8FA6C2"/>
                </a:solidFill>
                <a:latin typeface="Segoe UI"/>
                <a:ea typeface="Segoe UI"/>
              </a:rPr>
              <a:t>A family can start its own record before a worker ever reaches it — create the household and add the people they care for. The repository refuses any household other than the one the account is bound to, and </a:t>
            </a:r>
            <a:r>
              <a:rPr sz="1300" b="1">
                <a:solidFill>
                  <a:srgbClr val="C4D5E9"/>
                </a:solidFill>
                <a:latin typeface="Segoe UI"/>
                <a:ea typeface="Segoe UI"/>
              </a:rPr>
              <a:t>no clinical field is writable with that permission</a:t>
            </a:r>
            <a:r>
              <a:rPr sz="1300">
                <a:solidFill>
                  <a:srgbClr val="8FA6C2"/>
                </a:solidFill>
                <a:latin typeface="Segoe UI"/>
                <a:ea typeface="Segoe U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6E8AEAD9-4FAC-4025-AE4E-6E82FEE2A99F}"/>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THE HEALTH WORKER FLOW</a:t>
            </a:r>
          </a:p>
        </p:txBody>
      </p:sp>
      <p:sp>
        <p:nvSpPr>
          <p:cNvPr id="4" name="TextBox 4">
            <a:extLst>
              <a:ext uri="{FF2B5EF4-FFF2-40B4-BE49-F238E27FC236}">
                <a16:creationId xmlns:a16="http://schemas.microsoft.com/office/drawing/2014/main" id="{2DF673BE-0F04-4626-BA88-9937E2584958}"/>
              </a:ext>
            </a:extLst>
          </p:cNvPr>
          <p:cNvSpPr txBox="1"/>
          <p:nvPr/>
        </p:nvSpPr>
        <p:spPr>
          <a:xfrm>
            <a:off x="762000" y="819150"/>
            <a:ext cx="10668000" cy="495300"/>
          </a:xfrm>
        </p:spPr>
        <p:txBody>
          <a:bodyPr wrap="square" rtlCol="0" lIns="0" tIns="0" rIns="0" bIns="0" anchor="t"/>
          <a:lstStyle/>
          <a:p>
            <a:pPr algn="l">
              <a:lnSpc>
                <a:spcPct val="106000"/>
              </a:lnSpc>
            </a:pPr>
            <a:r>
              <a:rPr sz="3000" b="1">
                <a:solidFill>
                  <a:srgbClr val="EAF2FC"/>
                </a:solidFill>
                <a:latin typeface="Segoe UI"/>
                <a:ea typeface="Segoe UI"/>
              </a:rPr>
              <a:t>A clinic session, not a form</a:t>
            </a:r>
          </a:p>
        </p:txBody>
      </p:sp>
      <p:cxnSp>
        <p:nvCxnSpPr>
          <p:cNvPr id="5" name="Straight Connector 5">
            <a:extLst>
              <a:ext uri="{FF2B5EF4-FFF2-40B4-BE49-F238E27FC236}">
                <a16:creationId xmlns:a16="http://schemas.microsoft.com/office/drawing/2014/main" id="{72A6C6AC-D5EB-4D17-941E-70838D938F02}"/>
              </a:ext>
            </a:extLst>
          </p:cNvPr>
          <p:cNvCxnSpPr/>
          <p:nvPr/>
        </p:nvCxnSpPr>
        <p:spPr>
          <a:xfrm>
            <a:off x="762000" y="148590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5C74ED12-2D0B-4F16-A8A3-516512318389}"/>
              </a:ext>
            </a:extLst>
          </p:cNvPr>
          <p:cNvSpPr txBox="1"/>
          <p:nvPr/>
        </p:nvSpPr>
        <p:spPr>
          <a:xfrm>
            <a:off x="762000" y="1771650"/>
            <a:ext cx="5334000" cy="3788156"/>
          </a:xfrm>
        </p:spPr>
        <p:txBody>
          <a:bodyPr wrap="square" rtlCol="0" lIns="0" tIns="0" rIns="0" bIns="0" anchor="t"/>
          <a:lstStyle/>
          <a:p>
            <a:pPr marL="228600" indent="-228600" algn="l">
              <a:lnSpc>
                <a:spcPct val="120000"/>
              </a:lnSpc>
              <a:spcAft>
                <a:spcPts val="1300"/>
              </a:spcAft>
              <a:buChar char="•"/>
            </a:pPr>
            <a:r>
              <a:rPr sz="1350">
                <a:solidFill>
                  <a:srgbClr val="C4D5E9"/>
                </a:solidFill>
                <a:latin typeface="Segoe UI"/>
                <a:ea typeface="Segoe UI"/>
              </a:rPr>
              <a:t>Several open sessions at once — and intake joins the session a family already has instead of starting a duplicate.</a:t>
            </a:r>
          </a:p>
          <a:p>
            <a:pPr marL="228600" indent="-228600" algn="l">
              <a:lnSpc>
                <a:spcPct val="120000"/>
              </a:lnSpc>
              <a:spcAft>
                <a:spcPts val="1300"/>
              </a:spcAft>
              <a:buChar char="•"/>
            </a:pPr>
            <a:r>
              <a:rPr sz="1350">
                <a:solidFill>
                  <a:srgbClr val="C4D5E9"/>
                </a:solidFill>
                <a:latin typeface="Segoe UI"/>
                <a:ea typeface="Segoe UI"/>
              </a:rPr>
              <a:t>Roll call ticks off who is actually in front of her; an absent person is recorded absent, not skipped.</a:t>
            </a:r>
          </a:p>
          <a:p>
            <a:pPr marL="228600" indent="-228600" algn="l">
              <a:lnSpc>
                <a:spcPct val="120000"/>
              </a:lnSpc>
              <a:spcAft>
                <a:spcPts val="1300"/>
              </a:spcAft>
              <a:buChar char="•"/>
            </a:pPr>
            <a:r>
              <a:rPr sz="1350">
                <a:solidFill>
                  <a:srgbClr val="C4D5E9"/>
                </a:solidFill>
                <a:latin typeface="Segoe UI"/>
                <a:ea typeface="Segoe UI"/>
              </a:rPr>
              <a:t>An MUAC tape reading feeds the verdict; a zone scale takes weight; measurement checks run before any dose.</a:t>
            </a:r>
          </a:p>
          <a:p>
            <a:pPr marL="228600" indent="-228600" algn="l">
              <a:lnSpc>
                <a:spcPct val="120000"/>
              </a:lnSpc>
              <a:spcAft>
                <a:spcPts val="1300"/>
              </a:spcAft>
              <a:buChar char="•"/>
            </a:pPr>
            <a:r>
              <a:rPr sz="1350">
                <a:solidFill>
                  <a:srgbClr val="C4D5E9"/>
                </a:solidFill>
                <a:latin typeface="Segoe UI"/>
                <a:ea typeface="Segoe UI"/>
              </a:rPr>
              <a:t>One verdict page — classification, the reason, weight-based doses, the care plan, immunisation folded in.</a:t>
            </a:r>
          </a:p>
          <a:p>
            <a:pPr marL="228600" indent="-228600" algn="l">
              <a:lnSpc>
                <a:spcPct val="120000"/>
              </a:lnSpc>
              <a:spcAft>
                <a:spcPts val="1300"/>
              </a:spcAft>
              <a:buChar char="•"/>
            </a:pPr>
            <a:r>
              <a:rPr sz="1350">
                <a:solidFill>
                  <a:srgbClr val="C4D5E9"/>
                </a:solidFill>
                <a:latin typeface="Segoe UI"/>
                <a:ea typeface="Segoe UI"/>
              </a:rPr>
              <a:t>The route ranks the zone by who is due, so a referral can ride on a walk she is already making.</a:t>
            </a:r>
          </a:p>
          <a:p>
            <a:pPr marL="228600" indent="-228600" algn="l">
              <a:lnSpc>
                <a:spcPct val="120000"/>
              </a:lnSpc>
              <a:buChar char="•"/>
            </a:pPr>
            <a:r>
              <a:rPr sz="1350">
                <a:solidFill>
                  <a:srgbClr val="C4D5E9"/>
                </a:solidFill>
                <a:latin typeface="Segoe UI"/>
                <a:ea typeface="Segoe UI"/>
              </a:rPr>
              <a:t>A supervisor desk for consent, access and review — with its coverage limit printed on the screen.</a:t>
            </a:r>
          </a:p>
        </p:txBody>
      </p:sp>
      <p:sp>
        <p:nvSpPr>
          <p:cNvPr id="7" name="Shape 7">
            <a:extLst>
              <a:ext uri="{FF2B5EF4-FFF2-40B4-BE49-F238E27FC236}">
                <a16:creationId xmlns:a16="http://schemas.microsoft.com/office/drawing/2014/main" id="{DBCCD3C3-59F6-4660-A651-1B6DF0219D2E}"/>
              </a:ext>
            </a:extLst>
          </p:cNvPr>
          <p:cNvSpPr/>
          <p:nvPr/>
        </p:nvSpPr>
        <p:spPr>
          <a:xfrm>
            <a:off x="6477000" y="1771650"/>
            <a:ext cx="4953000" cy="4000500"/>
          </a:xfrm>
          <a:prstGeom prst="roundRect">
            <a:avLst/>
          </a:prstGeom>
          <a:solidFill>
            <a:srgbClr val="0F2A47"/>
          </a:solidFill>
        </p:spPr>
        <p:txBody>
          <a:bodyPr wrap="square" rtlCol="0"/>
          <a:lstStyle/>
          <a:p>
            <a:r>
              <a:rPr/>
              <a:t/>
            </a:r>
          </a:p>
        </p:txBody>
      </p:sp>
      <p:sp>
        <p:nvSpPr>
          <p:cNvPr id="8" name="TextBox 8">
            <a:extLst>
              <a:ext uri="{FF2B5EF4-FFF2-40B4-BE49-F238E27FC236}">
                <a16:creationId xmlns:a16="http://schemas.microsoft.com/office/drawing/2014/main" id="{1722B9D4-7A5C-4918-8924-181306ADFEB5}"/>
              </a:ext>
            </a:extLst>
          </p:cNvPr>
          <p:cNvSpPr txBox="1"/>
          <p:nvPr/>
        </p:nvSpPr>
        <p:spPr>
          <a:xfrm>
            <a:off x="6705600" y="1962150"/>
            <a:ext cx="4495800" cy="285750"/>
          </a:xfrm>
        </p:spPr>
        <p:txBody>
          <a:bodyPr wrap="square" rtlCol="0" lIns="0" tIns="0" rIns="0" bIns="0" anchor="t"/>
          <a:lstStyle/>
          <a:p>
            <a:pPr algn="l"/>
            <a:r>
              <a:rPr sz="1500" b="1">
                <a:solidFill>
                  <a:srgbClr val="3E8BFF"/>
                </a:solidFill>
                <a:latin typeface="Segoe UI"/>
                <a:ea typeface="Segoe UI"/>
              </a:rPr>
              <a:t>What the demo walks through</a:t>
            </a:r>
          </a:p>
        </p:txBody>
      </p:sp>
      <p:sp>
        <p:nvSpPr>
          <p:cNvPr id="9" name="Shape 9">
            <a:extLst>
              <a:ext uri="{FF2B5EF4-FFF2-40B4-BE49-F238E27FC236}">
                <a16:creationId xmlns:a16="http://schemas.microsoft.com/office/drawing/2014/main" id="{1EC33FE0-B279-4E03-9A96-F14A8F5F2132}"/>
              </a:ext>
            </a:extLst>
          </p:cNvPr>
          <p:cNvSpPr/>
          <p:nvPr/>
        </p:nvSpPr>
        <p:spPr>
          <a:xfrm>
            <a:off x="6705600" y="2362200"/>
            <a:ext cx="4495800" cy="552450"/>
          </a:xfrm>
          <a:prstGeom prst="roundRect">
            <a:avLst/>
          </a:prstGeom>
          <a:solidFill>
            <a:srgbClr val="123456"/>
          </a:solidFill>
        </p:spPr>
        <p:txBody>
          <a:bodyPr wrap="square" rtlCol="0"/>
          <a:lstStyle/>
          <a:p>
            <a:r>
              <a:rPr/>
              <a:t/>
            </a:r>
          </a:p>
        </p:txBody>
      </p:sp>
      <p:sp>
        <p:nvSpPr>
          <p:cNvPr id="10" name="TextBox 10">
            <a:extLst>
              <a:ext uri="{FF2B5EF4-FFF2-40B4-BE49-F238E27FC236}">
                <a16:creationId xmlns:a16="http://schemas.microsoft.com/office/drawing/2014/main" id="{398F1980-66D2-43C6-9D83-01DF32F3D976}"/>
              </a:ext>
            </a:extLst>
          </p:cNvPr>
          <p:cNvSpPr txBox="1"/>
          <p:nvPr/>
        </p:nvSpPr>
        <p:spPr>
          <a:xfrm>
            <a:off x="6896100" y="2514600"/>
            <a:ext cx="4114800" cy="247650"/>
          </a:xfrm>
        </p:spPr>
        <p:txBody>
          <a:bodyPr wrap="square" rtlCol="0" lIns="0" tIns="0" rIns="0" bIns="0" anchor="t"/>
          <a:lstStyle/>
          <a:p>
            <a:pPr algn="l"/>
            <a:r>
              <a:rPr sz="1350" b="1">
                <a:solidFill>
                  <a:srgbClr val="EAF2FC"/>
                </a:solidFill>
                <a:latin typeface="Segoe UI"/>
                <a:ea typeface="Segoe UI"/>
              </a:rPr>
              <a:t>Today  ·  queue, register tally, ranked route</a:t>
            </a:r>
          </a:p>
        </p:txBody>
      </p:sp>
      <p:sp>
        <p:nvSpPr>
          <p:cNvPr id="11" name="Shape 11">
            <a:extLst>
              <a:ext uri="{FF2B5EF4-FFF2-40B4-BE49-F238E27FC236}">
                <a16:creationId xmlns:a16="http://schemas.microsoft.com/office/drawing/2014/main" id="{E7820808-CC3A-4210-A918-5B5F562968B1}"/>
              </a:ext>
            </a:extLst>
          </p:cNvPr>
          <p:cNvSpPr/>
          <p:nvPr/>
        </p:nvSpPr>
        <p:spPr>
          <a:xfrm>
            <a:off x="6705600" y="3009900"/>
            <a:ext cx="4495800" cy="552450"/>
          </a:xfrm>
          <a:prstGeom prst="roundRect">
            <a:avLst/>
          </a:prstGeom>
          <a:solidFill>
            <a:srgbClr val="123456"/>
          </a:solidFill>
        </p:spPr>
        <p:txBody>
          <a:bodyPr wrap="square" rtlCol="0"/>
          <a:lstStyle/>
          <a:p>
            <a:r>
              <a:rPr/>
              <a:t/>
            </a:r>
          </a:p>
        </p:txBody>
      </p:sp>
      <p:sp>
        <p:nvSpPr>
          <p:cNvPr id="12" name="TextBox 12">
            <a:extLst>
              <a:ext uri="{FF2B5EF4-FFF2-40B4-BE49-F238E27FC236}">
                <a16:creationId xmlns:a16="http://schemas.microsoft.com/office/drawing/2014/main" id="{2AD2680A-9E13-4C96-8B7E-65C55CEAD814}"/>
              </a:ext>
            </a:extLst>
          </p:cNvPr>
          <p:cNvSpPr txBox="1"/>
          <p:nvPr/>
        </p:nvSpPr>
        <p:spPr>
          <a:xfrm>
            <a:off x="6896100" y="3162300"/>
            <a:ext cx="4114800" cy="247650"/>
          </a:xfrm>
        </p:spPr>
        <p:txBody>
          <a:bodyPr wrap="square" rtlCol="0" lIns="0" tIns="0" rIns="0" bIns="0" anchor="t"/>
          <a:lstStyle/>
          <a:p>
            <a:pPr algn="l"/>
            <a:r>
              <a:rPr sz="1350" b="1">
                <a:solidFill>
                  <a:srgbClr val="EAF2FC"/>
                </a:solidFill>
                <a:latin typeface="Segoe UI"/>
                <a:ea typeface="Segoe UI"/>
              </a:rPr>
              <a:t>Session  ·  roll call, vitals, MUAC, weight</a:t>
            </a:r>
          </a:p>
        </p:txBody>
      </p:sp>
      <p:sp>
        <p:nvSpPr>
          <p:cNvPr id="13" name="Shape 13">
            <a:extLst>
              <a:ext uri="{FF2B5EF4-FFF2-40B4-BE49-F238E27FC236}">
                <a16:creationId xmlns:a16="http://schemas.microsoft.com/office/drawing/2014/main" id="{B5C725BE-C6CC-4BCD-BF32-066C10C93C14}"/>
              </a:ext>
            </a:extLst>
          </p:cNvPr>
          <p:cNvSpPr/>
          <p:nvPr/>
        </p:nvSpPr>
        <p:spPr>
          <a:xfrm>
            <a:off x="6705600" y="3657600"/>
            <a:ext cx="4495800" cy="552450"/>
          </a:xfrm>
          <a:prstGeom prst="roundRect">
            <a:avLst/>
          </a:prstGeom>
          <a:solidFill>
            <a:srgbClr val="123456"/>
          </a:solidFill>
        </p:spPr>
        <p:txBody>
          <a:bodyPr wrap="square" rtlCol="0"/>
          <a:lstStyle/>
          <a:p>
            <a:r>
              <a:rPr/>
              <a:t/>
            </a:r>
          </a:p>
        </p:txBody>
      </p:sp>
      <p:sp>
        <p:nvSpPr>
          <p:cNvPr id="14" name="TextBox 14">
            <a:extLst>
              <a:ext uri="{FF2B5EF4-FFF2-40B4-BE49-F238E27FC236}">
                <a16:creationId xmlns:a16="http://schemas.microsoft.com/office/drawing/2014/main" id="{DFEDA1B9-2D2D-47AD-B4F8-069B592BABEF}"/>
              </a:ext>
            </a:extLst>
          </p:cNvPr>
          <p:cNvSpPr txBox="1"/>
          <p:nvPr/>
        </p:nvSpPr>
        <p:spPr>
          <a:xfrm>
            <a:off x="6896100" y="3810000"/>
            <a:ext cx="4114800" cy="247650"/>
          </a:xfrm>
        </p:spPr>
        <p:txBody>
          <a:bodyPr wrap="square" rtlCol="0" lIns="0" tIns="0" rIns="0" bIns="0" anchor="t"/>
          <a:lstStyle/>
          <a:p>
            <a:pPr algn="l"/>
            <a:r>
              <a:rPr sz="1350" b="1">
                <a:solidFill>
                  <a:srgbClr val="EAF2FC"/>
                </a:solidFill>
                <a:latin typeface="Segoe UI"/>
                <a:ea typeface="Segoe UI"/>
              </a:rPr>
              <a:t>Verdict  ·  reason, doses, care plan, referral</a:t>
            </a:r>
          </a:p>
        </p:txBody>
      </p:sp>
      <p:sp>
        <p:nvSpPr>
          <p:cNvPr id="15" name="Shape 15">
            <a:extLst>
              <a:ext uri="{FF2B5EF4-FFF2-40B4-BE49-F238E27FC236}">
                <a16:creationId xmlns:a16="http://schemas.microsoft.com/office/drawing/2014/main" id="{796F7E19-6F77-4277-AC71-D5A3CC17F4BB}"/>
              </a:ext>
            </a:extLst>
          </p:cNvPr>
          <p:cNvSpPr/>
          <p:nvPr/>
        </p:nvSpPr>
        <p:spPr>
          <a:xfrm>
            <a:off x="6705600" y="4305300"/>
            <a:ext cx="4495800" cy="552450"/>
          </a:xfrm>
          <a:prstGeom prst="roundRect">
            <a:avLst/>
          </a:prstGeom>
          <a:solidFill>
            <a:srgbClr val="123456"/>
          </a:solidFill>
        </p:spPr>
        <p:txBody>
          <a:bodyPr wrap="square" rtlCol="0"/>
          <a:lstStyle/>
          <a:p>
            <a:r>
              <a:rPr/>
              <a:t/>
            </a:r>
          </a:p>
        </p:txBody>
      </p:sp>
      <p:sp>
        <p:nvSpPr>
          <p:cNvPr id="16" name="TextBox 16">
            <a:extLst>
              <a:ext uri="{FF2B5EF4-FFF2-40B4-BE49-F238E27FC236}">
                <a16:creationId xmlns:a16="http://schemas.microsoft.com/office/drawing/2014/main" id="{A842FBB3-89F5-4596-80D9-B71A66ED88CE}"/>
              </a:ext>
            </a:extLst>
          </p:cNvPr>
          <p:cNvSpPr txBox="1"/>
          <p:nvPr/>
        </p:nvSpPr>
        <p:spPr>
          <a:xfrm>
            <a:off x="6896100" y="4457700"/>
            <a:ext cx="4114800" cy="247650"/>
          </a:xfrm>
        </p:spPr>
        <p:txBody>
          <a:bodyPr wrap="square" rtlCol="0" lIns="0" tIns="0" rIns="0" bIns="0" anchor="t"/>
          <a:lstStyle/>
          <a:p>
            <a:pPr algn="l"/>
            <a:r>
              <a:rPr sz="1350" b="1">
                <a:solidFill>
                  <a:srgbClr val="EAF2FC"/>
                </a:solidFill>
                <a:latin typeface="Segoe UI"/>
                <a:ea typeface="Segoe UI"/>
              </a:rPr>
              <a:t>Desk  ·  referrals, follow-up, barrier evidence</a:t>
            </a:r>
          </a:p>
        </p:txBody>
      </p:sp>
      <p:sp>
        <p:nvSpPr>
          <p:cNvPr id="17" name="Shape 17">
            <a:extLst>
              <a:ext uri="{FF2B5EF4-FFF2-40B4-BE49-F238E27FC236}">
                <a16:creationId xmlns:a16="http://schemas.microsoft.com/office/drawing/2014/main" id="{664E38EC-33C7-49C2-BBBA-F5DF27C6869E}"/>
              </a:ext>
            </a:extLst>
          </p:cNvPr>
          <p:cNvSpPr/>
          <p:nvPr/>
        </p:nvSpPr>
        <p:spPr>
          <a:xfrm>
            <a:off x="6705600" y="4953000"/>
            <a:ext cx="4495800" cy="552450"/>
          </a:xfrm>
          <a:prstGeom prst="roundRect">
            <a:avLst/>
          </a:prstGeom>
          <a:solidFill>
            <a:srgbClr val="123456"/>
          </a:solidFill>
        </p:spPr>
        <p:txBody>
          <a:bodyPr wrap="square" rtlCol="0"/>
          <a:lstStyle/>
          <a:p>
            <a:r>
              <a:rPr/>
              <a:t/>
            </a:r>
          </a:p>
        </p:txBody>
      </p:sp>
      <p:sp>
        <p:nvSpPr>
          <p:cNvPr id="18" name="TextBox 18">
            <a:extLst>
              <a:ext uri="{FF2B5EF4-FFF2-40B4-BE49-F238E27FC236}">
                <a16:creationId xmlns:a16="http://schemas.microsoft.com/office/drawing/2014/main" id="{E78B475B-84D0-4B8B-BE5A-50270A657044}"/>
              </a:ext>
            </a:extLst>
          </p:cNvPr>
          <p:cNvSpPr txBox="1"/>
          <p:nvPr/>
        </p:nvSpPr>
        <p:spPr>
          <a:xfrm>
            <a:off x="6896100" y="5105400"/>
            <a:ext cx="4114800" cy="247650"/>
          </a:xfrm>
        </p:spPr>
        <p:txBody>
          <a:bodyPr wrap="square" rtlCol="0" lIns="0" tIns="0" rIns="0" bIns="0" anchor="t"/>
          <a:lstStyle/>
          <a:p>
            <a:pPr algn="l"/>
            <a:r>
              <a:rPr sz="1350" b="1">
                <a:solidFill>
                  <a:srgbClr val="EAF2FC"/>
                </a:solidFill>
                <a:latin typeface="Segoe UI"/>
                <a:ea typeface="Segoe UI"/>
              </a:rPr>
              <a:t>Supervision  ·  consent, access, review queues</a:t>
            </a:r>
          </a:p>
        </p:txBody>
      </p:sp>
      <p:sp>
        <p:nvSpPr>
          <p:cNvPr id="19" name="TextBox 19">
            <a:extLst>
              <a:ext uri="{FF2B5EF4-FFF2-40B4-BE49-F238E27FC236}">
                <a16:creationId xmlns:a16="http://schemas.microsoft.com/office/drawing/2014/main" id="{CAD33D0D-79BE-4EC3-8205-64FAE4963413}"/>
              </a:ext>
            </a:extLst>
          </p:cNvPr>
          <p:cNvSpPr txBox="1"/>
          <p:nvPr/>
        </p:nvSpPr>
        <p:spPr>
          <a:xfrm>
            <a:off x="762000" y="5962650"/>
            <a:ext cx="10668000" cy="533400"/>
          </a:xfrm>
        </p:spPr>
        <p:txBody>
          <a:bodyPr wrap="square" rtlCol="0" lIns="0" tIns="0" rIns="0" bIns="0" anchor="t"/>
          <a:lstStyle/>
          <a:p>
            <a:pPr algn="l">
              <a:lnSpc>
                <a:spcPct val="122000"/>
              </a:lnSpc>
            </a:pPr>
            <a:r>
              <a:rPr sz="1300">
                <a:solidFill>
                  <a:srgbClr val="8FA6C2"/>
                </a:solidFill>
                <a:latin typeface="Segoe UI"/>
                <a:ea typeface="Segoe UI"/>
              </a:rPr>
              <a:t>A session with a saved assessment stays resumable and is never deletable from the board — cancellation is offered only while nothing has been saved.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97A53572-4CF8-48EF-BDCC-64212398FBA0}"/>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THE CLINICAL CORE</a:t>
            </a:r>
          </a:p>
        </p:txBody>
      </p:sp>
      <p:sp>
        <p:nvSpPr>
          <p:cNvPr id="4" name="TextBox 4">
            <a:extLst>
              <a:ext uri="{FF2B5EF4-FFF2-40B4-BE49-F238E27FC236}">
                <a16:creationId xmlns:a16="http://schemas.microsoft.com/office/drawing/2014/main" id="{80FAA879-C58E-4406-A252-234E2045FD8C}"/>
              </a:ext>
            </a:extLst>
          </p:cNvPr>
          <p:cNvSpPr txBox="1"/>
          <p:nvPr/>
        </p:nvSpPr>
        <p:spPr>
          <a:xfrm>
            <a:off x="762000" y="819150"/>
            <a:ext cx="10668000" cy="495300"/>
          </a:xfrm>
        </p:spPr>
        <p:txBody>
          <a:bodyPr wrap="square" rtlCol="0" lIns="0" tIns="0" rIns="0" bIns="0" anchor="t"/>
          <a:lstStyle/>
          <a:p>
            <a:pPr algn="l">
              <a:lnSpc>
                <a:spcPct val="106000"/>
              </a:lnSpc>
            </a:pPr>
            <a:r>
              <a:rPr sz="3000" b="1">
                <a:solidFill>
                  <a:srgbClr val="EAF2FC"/>
                </a:solidFill>
                <a:latin typeface="Segoe UI"/>
                <a:ea typeface="Segoe UI"/>
              </a:rPr>
              <a:t>Guidelines decide. The model supports.</a:t>
            </a:r>
          </a:p>
        </p:txBody>
      </p:sp>
      <p:cxnSp>
        <p:nvCxnSpPr>
          <p:cNvPr id="5" name="Straight Connector 5">
            <a:extLst>
              <a:ext uri="{FF2B5EF4-FFF2-40B4-BE49-F238E27FC236}">
                <a16:creationId xmlns:a16="http://schemas.microsoft.com/office/drawing/2014/main" id="{EFF19CE4-142F-46A4-9A83-E4BA52FEEE02}"/>
              </a:ext>
            </a:extLst>
          </p:cNvPr>
          <p:cNvCxnSpPr/>
          <p:nvPr/>
        </p:nvCxnSpPr>
        <p:spPr>
          <a:xfrm>
            <a:off x="762000" y="148590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0BE97A67-5FD6-4204-A65B-9621C08E5A02}"/>
              </a:ext>
            </a:extLst>
          </p:cNvPr>
          <p:cNvSpPr txBox="1"/>
          <p:nvPr/>
        </p:nvSpPr>
        <p:spPr>
          <a:xfrm>
            <a:off x="762000" y="2000250"/>
            <a:ext cx="2857500" cy="1170432"/>
          </a:xfrm>
        </p:spPr>
        <p:txBody>
          <a:bodyPr wrap="square" rtlCol="0" lIns="0" tIns="0" rIns="0" bIns="0" anchor="t"/>
          <a:lstStyle/>
          <a:p>
            <a:pPr algn="l">
              <a:lnSpc>
                <a:spcPct val="96000"/>
              </a:lnSpc>
            </a:pPr>
            <a:r>
              <a:rPr sz="8000" b="1">
                <a:solidFill>
                  <a:srgbClr val="3E8BFF"/>
                </a:solidFill>
                <a:latin typeface="Segoe UI"/>
                <a:ea typeface="Segoe UI"/>
              </a:rPr>
              <a:t>16</a:t>
            </a:r>
          </a:p>
        </p:txBody>
      </p:sp>
      <p:sp>
        <p:nvSpPr>
          <p:cNvPr id="7" name="TextBox 7">
            <a:extLst>
              <a:ext uri="{FF2B5EF4-FFF2-40B4-BE49-F238E27FC236}">
                <a16:creationId xmlns:a16="http://schemas.microsoft.com/office/drawing/2014/main" id="{9DC87F0D-8E0D-4369-8829-206B867DCF44}"/>
              </a:ext>
            </a:extLst>
          </p:cNvPr>
          <p:cNvSpPr txBox="1"/>
          <p:nvPr/>
        </p:nvSpPr>
        <p:spPr>
          <a:xfrm>
            <a:off x="762000" y="3143250"/>
            <a:ext cx="3810000" cy="917143"/>
          </a:xfrm>
        </p:spPr>
        <p:txBody>
          <a:bodyPr wrap="square" rtlCol="0" lIns="0" tIns="0" rIns="0" bIns="0" anchor="t"/>
          <a:lstStyle/>
          <a:p>
            <a:pPr algn="l">
              <a:lnSpc>
                <a:spcPct val="118000"/>
              </a:lnSpc>
            </a:pPr>
            <a:r>
              <a:rPr sz="1700" b="1">
                <a:solidFill>
                  <a:srgbClr val="EAF2FC"/>
                </a:solidFill>
                <a:latin typeface="Segoe UI"/>
                <a:ea typeface="Segoe UI"/>
              </a:rPr>
              <a:t>guideline engines, plus the stabilisation and dispensing protocols</a:t>
            </a:r>
          </a:p>
        </p:txBody>
      </p:sp>
      <p:sp>
        <p:nvSpPr>
          <p:cNvPr id="8" name="TextBox 8">
            <a:extLst>
              <a:ext uri="{FF2B5EF4-FFF2-40B4-BE49-F238E27FC236}">
                <a16:creationId xmlns:a16="http://schemas.microsoft.com/office/drawing/2014/main" id="{DCA4F184-F1BE-4853-873C-1F6955FAC5BC}"/>
              </a:ext>
            </a:extLst>
          </p:cNvPr>
          <p:cNvSpPr txBox="1"/>
          <p:nvPr/>
        </p:nvSpPr>
        <p:spPr>
          <a:xfrm>
            <a:off x="762000" y="4057650"/>
            <a:ext cx="4000500" cy="2000250"/>
          </a:xfrm>
        </p:spPr>
        <p:txBody>
          <a:bodyPr wrap="square" rtlCol="0" lIns="0" tIns="0" rIns="0" bIns="0" anchor="t"/>
          <a:lstStyle/>
          <a:p>
            <a:pPr algn="l">
              <a:lnSpc>
                <a:spcPct val="128000"/>
              </a:lnSpc>
            </a:pPr>
            <a:r>
              <a:rPr sz="1250">
                <a:solidFill>
                  <a:srgbClr val="8FA6C2"/>
                </a:solidFill>
                <a:latin typeface="Segoe UI"/>
                <a:ea typeface="Segoe UI"/>
              </a:rPr>
              <a:t>ANC · postnatal · young infant · child · nutrition and z-scores · immunisation · barrier · vulnerability · treatment response · growth trajectory · measurement safety · nurturing care · road-to-health · recommendation</a:t>
            </a:r>
          </a:p>
        </p:txBody>
      </p:sp>
      <p:sp>
        <p:nvSpPr>
          <p:cNvPr id="9" name="TextBox 9">
            <a:extLst>
              <a:ext uri="{FF2B5EF4-FFF2-40B4-BE49-F238E27FC236}">
                <a16:creationId xmlns:a16="http://schemas.microsoft.com/office/drawing/2014/main" id="{71528D44-9680-4508-A811-78402E202AF7}"/>
              </a:ext>
            </a:extLst>
          </p:cNvPr>
          <p:cNvSpPr txBox="1"/>
          <p:nvPr/>
        </p:nvSpPr>
        <p:spPr>
          <a:xfrm>
            <a:off x="5334000" y="1866900"/>
            <a:ext cx="6096000" cy="342900"/>
          </a:xfrm>
        </p:spPr>
        <p:txBody>
          <a:bodyPr wrap="square" rtlCol="0" lIns="0" tIns="0" rIns="0" bIns="0" anchor="t"/>
          <a:lstStyle/>
          <a:p>
            <a:pPr algn="l"/>
            <a:r>
              <a:rPr sz="1700" b="1">
                <a:solidFill>
                  <a:srgbClr val="EAF2FC"/>
                </a:solidFill>
                <a:latin typeface="Segoe UI"/>
                <a:ea typeface="Segoe UI"/>
              </a:rPr>
              <a:t>Cited, not invented</a:t>
            </a:r>
          </a:p>
        </p:txBody>
      </p:sp>
      <p:sp>
        <p:nvSpPr>
          <p:cNvPr id="10" name="TextBox 10">
            <a:extLst>
              <a:ext uri="{FF2B5EF4-FFF2-40B4-BE49-F238E27FC236}">
                <a16:creationId xmlns:a16="http://schemas.microsoft.com/office/drawing/2014/main" id="{9A4AB0BF-1C14-4CEA-98F0-B162592C2E21}"/>
              </a:ext>
            </a:extLst>
          </p:cNvPr>
          <p:cNvSpPr txBox="1"/>
          <p:nvPr/>
        </p:nvSpPr>
        <p:spPr>
          <a:xfrm>
            <a:off x="5334000" y="2247900"/>
            <a:ext cx="6096000" cy="914400"/>
          </a:xfrm>
        </p:spPr>
        <p:txBody>
          <a:bodyPr wrap="square" rtlCol="0" lIns="0" tIns="0" rIns="0" bIns="0" anchor="t"/>
          <a:lstStyle/>
          <a:p>
            <a:pPr algn="l">
              <a:lnSpc>
                <a:spcPct val="124000"/>
              </a:lnSpc>
            </a:pPr>
            <a:r>
              <a:rPr sz="1350">
                <a:solidFill>
                  <a:srgbClr val="C4D5E9"/>
                </a:solidFill>
                <a:latin typeface="Segoe UI"/>
                <a:ea typeface="Segoe UI"/>
              </a:rPr>
              <a:t>WHO IMCI 2014 thresholds and Ghana Health Service practice, with 31 IMCI references inside the engine code. Any verdict can be traced back to a rule — not to a weight file.</a:t>
            </a:r>
          </a:p>
        </p:txBody>
      </p:sp>
      <p:sp>
        <p:nvSpPr>
          <p:cNvPr id="11" name="TextBox 11">
            <a:extLst>
              <a:ext uri="{FF2B5EF4-FFF2-40B4-BE49-F238E27FC236}">
                <a16:creationId xmlns:a16="http://schemas.microsoft.com/office/drawing/2014/main" id="{A8F9804A-7FE4-4996-9AEB-D49A13B1C20C}"/>
              </a:ext>
            </a:extLst>
          </p:cNvPr>
          <p:cNvSpPr txBox="1"/>
          <p:nvPr/>
        </p:nvSpPr>
        <p:spPr>
          <a:xfrm>
            <a:off x="5334000" y="3314700"/>
            <a:ext cx="6096000" cy="342900"/>
          </a:xfrm>
        </p:spPr>
        <p:txBody>
          <a:bodyPr wrap="square" rtlCol="0" lIns="0" tIns="0" rIns="0" bIns="0" anchor="t"/>
          <a:lstStyle/>
          <a:p>
            <a:pPr algn="l"/>
            <a:r>
              <a:rPr sz="1700" b="1">
                <a:solidFill>
                  <a:srgbClr val="EAF2FC"/>
                </a:solidFill>
                <a:latin typeface="Segoe UI"/>
                <a:ea typeface="Segoe UI"/>
              </a:rPr>
              <a:t>Danger signs are triggers, not scores</a:t>
            </a:r>
          </a:p>
        </p:txBody>
      </p:sp>
      <p:sp>
        <p:nvSpPr>
          <p:cNvPr id="12" name="TextBox 12">
            <a:extLst>
              <a:ext uri="{FF2B5EF4-FFF2-40B4-BE49-F238E27FC236}">
                <a16:creationId xmlns:a16="http://schemas.microsoft.com/office/drawing/2014/main" id="{306927B7-0872-4E77-9F92-D79104DF84E6}"/>
              </a:ext>
            </a:extLst>
          </p:cNvPr>
          <p:cNvSpPr txBox="1"/>
          <p:nvPr/>
        </p:nvSpPr>
        <p:spPr>
          <a:xfrm>
            <a:off x="5334000" y="3695700"/>
            <a:ext cx="6096000" cy="1333500"/>
          </a:xfrm>
        </p:spPr>
        <p:txBody>
          <a:bodyPr wrap="square" rtlCol="0" lIns="0" tIns="0" rIns="0" bIns="0" anchor="t"/>
          <a:lstStyle/>
          <a:p>
            <a:pPr algn="l">
              <a:lnSpc>
                <a:spcPct val="124000"/>
              </a:lnSpc>
            </a:pPr>
            <a:r>
              <a:rPr sz="1350">
                <a:solidFill>
                  <a:srgbClr val="C4D5E9"/>
                </a:solidFill>
                <a:latin typeface="Segoe UI"/>
                <a:ea typeface="Segoe UI"/>
              </a:rPr>
              <a:t>Chest indrawing does not compete with a probability for attention. Doses are weight-based against a protocol table, and the stabilisation selector fires on clinical danger signs across every client type — mother, newborn and child.</a:t>
            </a:r>
          </a:p>
        </p:txBody>
      </p:sp>
      <p:sp>
        <p:nvSpPr>
          <p:cNvPr id="13" name="TextBox 13">
            <a:extLst>
              <a:ext uri="{FF2B5EF4-FFF2-40B4-BE49-F238E27FC236}">
                <a16:creationId xmlns:a16="http://schemas.microsoft.com/office/drawing/2014/main" id="{EE3B8825-7DE6-49BA-897E-37ECF08BA95C}"/>
              </a:ext>
            </a:extLst>
          </p:cNvPr>
          <p:cNvSpPr txBox="1"/>
          <p:nvPr/>
        </p:nvSpPr>
        <p:spPr>
          <a:xfrm>
            <a:off x="5334000" y="5105400"/>
            <a:ext cx="6096000" cy="342900"/>
          </a:xfrm>
        </p:spPr>
        <p:txBody>
          <a:bodyPr wrap="square" rtlCol="0" lIns="0" tIns="0" rIns="0" bIns="0" anchor="t"/>
          <a:lstStyle/>
          <a:p>
            <a:pPr algn="l"/>
            <a:r>
              <a:rPr sz="1700" b="1">
                <a:solidFill>
                  <a:srgbClr val="EAF2FC"/>
                </a:solidFill>
                <a:latin typeface="Segoe UI"/>
                <a:ea typeface="Segoe UI"/>
              </a:rPr>
              <a:t>The worker stays in charge — and says so on record</a:t>
            </a:r>
          </a:p>
        </p:txBody>
      </p:sp>
      <p:sp>
        <p:nvSpPr>
          <p:cNvPr id="14" name="TextBox 14">
            <a:extLst>
              <a:ext uri="{FF2B5EF4-FFF2-40B4-BE49-F238E27FC236}">
                <a16:creationId xmlns:a16="http://schemas.microsoft.com/office/drawing/2014/main" id="{34BACA11-E083-4295-B802-4B4C669C5685}"/>
              </a:ext>
            </a:extLst>
          </p:cNvPr>
          <p:cNvSpPr txBox="1"/>
          <p:nvPr/>
        </p:nvSpPr>
        <p:spPr>
          <a:xfrm>
            <a:off x="5334000" y="5486400"/>
            <a:ext cx="6096000" cy="914400"/>
          </a:xfrm>
        </p:spPr>
        <p:txBody>
          <a:bodyPr wrap="square" rtlCol="0" lIns="0" tIns="0" rIns="0" bIns="0" anchor="t"/>
          <a:lstStyle/>
          <a:p>
            <a:pPr algn="l">
              <a:lnSpc>
                <a:spcPct val="124000"/>
              </a:lnSpc>
            </a:pPr>
            <a:r>
              <a:rPr sz="1350">
                <a:solidFill>
                  <a:srgbClr val="C4D5E9"/>
                </a:solidFill>
                <a:latin typeface="Segoe UI"/>
                <a:ea typeface="Segoe UI"/>
              </a:rPr>
              <a:t>overrideAiRecommendation is a real permission, and the override is recorded. A case outside a model's training window is drift-flagged rather than trusted.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06BDD46C-D45B-40C3-BD68-C474D3BB36DF}"/>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THE REFERRAL SYSTEM</a:t>
            </a:r>
          </a:p>
        </p:txBody>
      </p:sp>
      <p:sp>
        <p:nvSpPr>
          <p:cNvPr id="4" name="TextBox 4">
            <a:extLst>
              <a:ext uri="{FF2B5EF4-FFF2-40B4-BE49-F238E27FC236}">
                <a16:creationId xmlns:a16="http://schemas.microsoft.com/office/drawing/2014/main" id="{9083F4C9-5680-489F-BA2C-D1CA419BEFCA}"/>
              </a:ext>
            </a:extLst>
          </p:cNvPr>
          <p:cNvSpPr txBox="1"/>
          <p:nvPr/>
        </p:nvSpPr>
        <p:spPr>
          <a:xfrm>
            <a:off x="762000" y="819150"/>
            <a:ext cx="10668000" cy="872338"/>
          </a:xfrm>
        </p:spPr>
        <p:txBody>
          <a:bodyPr wrap="square" rtlCol="0" lIns="0" tIns="0" rIns="0" bIns="0" anchor="t"/>
          <a:lstStyle/>
          <a:p>
            <a:pPr algn="l">
              <a:lnSpc>
                <a:spcPct val="106000"/>
              </a:lnSpc>
            </a:pPr>
            <a:r>
              <a:rPr sz="2700" b="1">
                <a:solidFill>
                  <a:srgbClr val="EAF2FC"/>
                </a:solidFill>
                <a:latin typeface="Segoe UI"/>
                <a:ea typeface="Segoe UI"/>
              </a:rPr>
              <a:t>A referral is a case with a state machine — and every answer leaves a trace</a:t>
            </a:r>
          </a:p>
        </p:txBody>
      </p:sp>
      <p:cxnSp>
        <p:nvCxnSpPr>
          <p:cNvPr id="5" name="Straight Connector 5">
            <a:extLst>
              <a:ext uri="{FF2B5EF4-FFF2-40B4-BE49-F238E27FC236}">
                <a16:creationId xmlns:a16="http://schemas.microsoft.com/office/drawing/2014/main" id="{7FB6789A-6A36-4BCD-B9DF-E1D862004C2C}"/>
              </a:ext>
            </a:extLst>
          </p:cNvPr>
          <p:cNvCxnSpPr/>
          <p:nvPr/>
        </p:nvCxnSpPr>
        <p:spPr>
          <a:xfrm>
            <a:off x="762000" y="1447800"/>
            <a:ext cx="10668000" cy="9525"/>
          </a:xfrm>
          <a:prstGeom prst="line">
            <a:avLst/>
          </a:prstGeom>
          <a:ln w="12700" cap="flat">
            <a:solidFill>
              <a:srgbClr val="24486F"/>
            </a:solidFill>
          </a:ln>
        </p:spPr>
      </p:cxnSp>
      <p:sp>
        <p:nvSpPr>
          <p:cNvPr id="6" name="Shape 6">
            <a:extLst>
              <a:ext uri="{FF2B5EF4-FFF2-40B4-BE49-F238E27FC236}">
                <a16:creationId xmlns:a16="http://schemas.microsoft.com/office/drawing/2014/main" id="{D0E39946-3854-484D-BDB1-D28306AE4206}"/>
              </a:ext>
            </a:extLst>
          </p:cNvPr>
          <p:cNvSpPr/>
          <p:nvPr/>
        </p:nvSpPr>
        <p:spPr>
          <a:xfrm>
            <a:off x="762000" y="1695450"/>
            <a:ext cx="5200650" cy="2038350"/>
          </a:xfrm>
          <a:prstGeom prst="roundRect">
            <a:avLst/>
          </a:prstGeom>
          <a:solidFill>
            <a:srgbClr val="0F2A47"/>
          </a:solidFill>
        </p:spPr>
        <p:txBody>
          <a:bodyPr wrap="square" rtlCol="0"/>
          <a:lstStyle/>
          <a:p>
            <a:r>
              <a:rPr/>
              <a:t/>
            </a:r>
          </a:p>
        </p:txBody>
      </p:sp>
      <p:sp>
        <p:nvSpPr>
          <p:cNvPr id="7" name="TextBox 7">
            <a:extLst>
              <a:ext uri="{FF2B5EF4-FFF2-40B4-BE49-F238E27FC236}">
                <a16:creationId xmlns:a16="http://schemas.microsoft.com/office/drawing/2014/main" id="{6D055E80-EB48-41AB-AD20-8566DE7F032B}"/>
              </a:ext>
            </a:extLst>
          </p:cNvPr>
          <p:cNvSpPr txBox="1"/>
          <p:nvPr/>
        </p:nvSpPr>
        <p:spPr>
          <a:xfrm>
            <a:off x="990600" y="1885950"/>
            <a:ext cx="4743450" cy="304800"/>
          </a:xfrm>
        </p:spPr>
        <p:txBody>
          <a:bodyPr wrap="square" rtlCol="0" lIns="0" tIns="0" rIns="0" bIns="0" anchor="t"/>
          <a:lstStyle/>
          <a:p>
            <a:pPr algn="l"/>
            <a:r>
              <a:rPr sz="1600" b="1">
                <a:solidFill>
                  <a:srgbClr val="3E8BFF"/>
                </a:solidFill>
                <a:latin typeface="Segoe UI"/>
                <a:ea typeface="Segoe UI"/>
              </a:rPr>
              <a:t>Eight states, and the two rules that matter</a:t>
            </a:r>
          </a:p>
        </p:txBody>
      </p:sp>
      <p:sp>
        <p:nvSpPr>
          <p:cNvPr id="8" name="TextBox 8">
            <a:extLst>
              <a:ext uri="{FF2B5EF4-FFF2-40B4-BE49-F238E27FC236}">
                <a16:creationId xmlns:a16="http://schemas.microsoft.com/office/drawing/2014/main" id="{38012EE3-55E9-4F7D-A273-F4DD399736D0}"/>
              </a:ext>
            </a:extLst>
          </p:cNvPr>
          <p:cNvSpPr txBox="1"/>
          <p:nvPr/>
        </p:nvSpPr>
        <p:spPr>
          <a:xfrm>
            <a:off x="990600" y="2266950"/>
            <a:ext cx="4743450" cy="1437132"/>
          </a:xfrm>
        </p:spPr>
        <p:txBody>
          <a:bodyPr wrap="square" rtlCol="0" lIns="0" tIns="0" rIns="0" bIns="0" anchor="t"/>
          <a:lstStyle/>
          <a:p>
            <a:pPr algn="l">
              <a:lnSpc>
                <a:spcPct val="122000"/>
              </a:lnSpc>
              <a:spcAft>
                <a:spcPts val="900"/>
              </a:spcAft>
            </a:pPr>
            <a:r>
              <a:rPr sz="1300">
                <a:solidFill>
                  <a:srgbClr val="C4D5E9"/>
                </a:solidFill>
                <a:latin typeface="Segoe UI"/>
                <a:ea typeface="Segoe UI"/>
              </a:rPr>
              <a:t>issued → travelling → arrived → treated; also didNotAttend, refused, cancelled, died.</a:t>
            </a:r>
          </a:p>
          <a:p>
            <a:pPr algn="l">
              <a:lnSpc>
                <a:spcPct val="122000"/>
              </a:lnSpc>
              <a:spcAft>
                <a:spcPts val="900"/>
              </a:spcAft>
            </a:pPr>
            <a:r>
              <a:rPr sz="1300">
                <a:solidFill>
                  <a:srgbClr val="C4D5E9"/>
                </a:solidFill>
                <a:latin typeface="Segoe UI"/>
                <a:ea typeface="Segoe UI"/>
              </a:rPr>
              <a:t>Arrival is not treatment: a child seen and untreated stays on the chase list.</a:t>
            </a:r>
          </a:p>
          <a:p>
            <a:pPr algn="l">
              <a:lnSpc>
                <a:spcPct val="122000"/>
              </a:lnSpc>
            </a:pPr>
            <a:r>
              <a:rPr sz="1300" b="1">
                <a:solidFill>
                  <a:srgbClr val="EAF2FC"/>
                </a:solidFill>
                <a:latin typeface="Segoe UI"/>
                <a:ea typeface="Segoe UI"/>
              </a:rPr>
              <a:t>Settled cases are never reopened.</a:t>
            </a:r>
          </a:p>
        </p:txBody>
      </p:sp>
      <p:sp>
        <p:nvSpPr>
          <p:cNvPr id="9" name="Shape 9">
            <a:extLst>
              <a:ext uri="{FF2B5EF4-FFF2-40B4-BE49-F238E27FC236}">
                <a16:creationId xmlns:a16="http://schemas.microsoft.com/office/drawing/2014/main" id="{5CE418C9-34E4-43A1-A665-0E6E392F71F6}"/>
              </a:ext>
            </a:extLst>
          </p:cNvPr>
          <p:cNvSpPr/>
          <p:nvPr/>
        </p:nvSpPr>
        <p:spPr>
          <a:xfrm>
            <a:off x="6229350" y="1695450"/>
            <a:ext cx="5200650" cy="2038350"/>
          </a:xfrm>
          <a:prstGeom prst="roundRect">
            <a:avLst/>
          </a:prstGeom>
          <a:solidFill>
            <a:srgbClr val="0F2A47"/>
          </a:solidFill>
        </p:spPr>
        <p:txBody>
          <a:bodyPr wrap="square" rtlCol="0"/>
          <a:lstStyle/>
          <a:p>
            <a:r>
              <a:rPr/>
              <a:t/>
            </a:r>
          </a:p>
        </p:txBody>
      </p:sp>
      <p:sp>
        <p:nvSpPr>
          <p:cNvPr id="10" name="TextBox 10">
            <a:extLst>
              <a:ext uri="{FF2B5EF4-FFF2-40B4-BE49-F238E27FC236}">
                <a16:creationId xmlns:a16="http://schemas.microsoft.com/office/drawing/2014/main" id="{93BD7E65-CA1A-475F-95F0-9B5A8F13334F}"/>
              </a:ext>
            </a:extLst>
          </p:cNvPr>
          <p:cNvSpPr txBox="1"/>
          <p:nvPr/>
        </p:nvSpPr>
        <p:spPr>
          <a:xfrm>
            <a:off x="6457950" y="1885950"/>
            <a:ext cx="4743450" cy="304800"/>
          </a:xfrm>
        </p:spPr>
        <p:txBody>
          <a:bodyPr wrap="square" rtlCol="0" lIns="0" tIns="0" rIns="0" bIns="0" anchor="t"/>
          <a:lstStyle/>
          <a:p>
            <a:pPr algn="l"/>
            <a:r>
              <a:rPr sz="1600" b="1">
                <a:solidFill>
                  <a:srgbClr val="3E8BFF"/>
                </a:solidFill>
                <a:latin typeface="Segoe UI"/>
                <a:ea typeface="Segoe UI"/>
              </a:rPr>
              <a:t>One atomic write per follow-up</a:t>
            </a:r>
          </a:p>
        </p:txBody>
      </p:sp>
      <p:sp>
        <p:nvSpPr>
          <p:cNvPr id="11" name="TextBox 11">
            <a:extLst>
              <a:ext uri="{FF2B5EF4-FFF2-40B4-BE49-F238E27FC236}">
                <a16:creationId xmlns:a16="http://schemas.microsoft.com/office/drawing/2014/main" id="{A2C552C2-7870-45EF-B33A-B09AA3728C46}"/>
              </a:ext>
            </a:extLst>
          </p:cNvPr>
          <p:cNvSpPr txBox="1"/>
          <p:nvPr/>
        </p:nvSpPr>
        <p:spPr>
          <a:xfrm>
            <a:off x="6457950" y="2266950"/>
            <a:ext cx="4743450" cy="1257300"/>
          </a:xfrm>
        </p:spPr>
        <p:txBody>
          <a:bodyPr wrap="square" rtlCol="0" lIns="0" tIns="0" rIns="0" bIns="0" anchor="t"/>
          <a:lstStyle/>
          <a:p>
            <a:pPr algn="l">
              <a:lnSpc>
                <a:spcPct val="122000"/>
              </a:lnSpc>
              <a:spcAft>
                <a:spcPts val="900"/>
              </a:spcAft>
            </a:pPr>
            <a:r>
              <a:rPr sz="1300">
                <a:solidFill>
                  <a:srgbClr val="C4D5E9"/>
                </a:solidFill>
                <a:latin typeface="Segoe UI"/>
                <a:ea typeface="Segoe UI"/>
              </a:rPr>
              <a:t>The answer, the status it implies, the barrier behind the failure, the next visit, and a chained referral for a worsening child — one transaction or none.</a:t>
            </a:r>
          </a:p>
          <a:p>
            <a:pPr algn="l">
              <a:lnSpc>
                <a:spcPct val="122000"/>
              </a:lnSpc>
            </a:pPr>
            <a:r>
              <a:rPr sz="1300" b="1">
                <a:solidFill>
                  <a:srgbClr val="EAF2FC"/>
                </a:solidFill>
                <a:latin typeface="Segoe UI"/>
                <a:ea typeface="Segoe UI"/>
              </a:rPr>
              <a:t>A second tap cannot invent a second answer.</a:t>
            </a:r>
          </a:p>
        </p:txBody>
      </p:sp>
      <p:sp>
        <p:nvSpPr>
          <p:cNvPr id="12" name="Shape 12">
            <a:extLst>
              <a:ext uri="{FF2B5EF4-FFF2-40B4-BE49-F238E27FC236}">
                <a16:creationId xmlns:a16="http://schemas.microsoft.com/office/drawing/2014/main" id="{B9DBA12D-7D3C-4A5C-A9B4-E73B1DAAF5B6}"/>
              </a:ext>
            </a:extLst>
          </p:cNvPr>
          <p:cNvSpPr/>
          <p:nvPr/>
        </p:nvSpPr>
        <p:spPr>
          <a:xfrm>
            <a:off x="762000" y="3905250"/>
            <a:ext cx="5200650" cy="2038350"/>
          </a:xfrm>
          <a:prstGeom prst="roundRect">
            <a:avLst/>
          </a:prstGeom>
          <a:solidFill>
            <a:srgbClr val="0F2A47"/>
          </a:solidFill>
        </p:spPr>
        <p:txBody>
          <a:bodyPr wrap="square" rtlCol="0"/>
          <a:lstStyle/>
          <a:p>
            <a:r>
              <a:rPr/>
              <a:t/>
            </a:r>
          </a:p>
        </p:txBody>
      </p:sp>
      <p:sp>
        <p:nvSpPr>
          <p:cNvPr id="13" name="TextBox 13">
            <a:extLst>
              <a:ext uri="{FF2B5EF4-FFF2-40B4-BE49-F238E27FC236}">
                <a16:creationId xmlns:a16="http://schemas.microsoft.com/office/drawing/2014/main" id="{853C1A14-15CA-49B7-849C-A0B59BDF96F4}"/>
              </a:ext>
            </a:extLst>
          </p:cNvPr>
          <p:cNvSpPr txBox="1"/>
          <p:nvPr/>
        </p:nvSpPr>
        <p:spPr>
          <a:xfrm>
            <a:off x="990600" y="4095750"/>
            <a:ext cx="4743450" cy="304800"/>
          </a:xfrm>
        </p:spPr>
        <p:txBody>
          <a:bodyPr wrap="square" rtlCol="0" lIns="0" tIns="0" rIns="0" bIns="0" anchor="t"/>
          <a:lstStyle/>
          <a:p>
            <a:pPr algn="l"/>
            <a:r>
              <a:rPr sz="1600" b="1">
                <a:solidFill>
                  <a:srgbClr val="3E8BFF"/>
                </a:solidFill>
                <a:latin typeface="Segoe UI"/>
                <a:ea typeface="Segoe UI"/>
              </a:rPr>
              <a:t>Who is allowed to say what</a:t>
            </a:r>
          </a:p>
        </p:txBody>
      </p:sp>
      <p:sp>
        <p:nvSpPr>
          <p:cNvPr id="14" name="TextBox 14">
            <a:extLst>
              <a:ext uri="{FF2B5EF4-FFF2-40B4-BE49-F238E27FC236}">
                <a16:creationId xmlns:a16="http://schemas.microsoft.com/office/drawing/2014/main" id="{4786CB57-7C9A-49F2-904E-4855714778B9}"/>
              </a:ext>
            </a:extLst>
          </p:cNvPr>
          <p:cNvSpPr txBox="1"/>
          <p:nvPr/>
        </p:nvSpPr>
        <p:spPr>
          <a:xfrm>
            <a:off x="990600" y="4476750"/>
            <a:ext cx="4743450" cy="1257300"/>
          </a:xfrm>
        </p:spPr>
        <p:txBody>
          <a:bodyPr wrap="square" rtlCol="0" lIns="0" tIns="0" rIns="0" bIns="0" anchor="t"/>
          <a:lstStyle/>
          <a:p>
            <a:pPr algn="l">
              <a:lnSpc>
                <a:spcPct val="122000"/>
              </a:lnSpc>
              <a:spcAft>
                <a:spcPts val="900"/>
              </a:spcAft>
            </a:pPr>
            <a:r>
              <a:rPr sz="1300">
                <a:solidFill>
                  <a:srgbClr val="C4D5E9"/>
                </a:solidFill>
                <a:latin typeface="Segoe UI"/>
                <a:ea typeface="Segoe UI"/>
              </a:rPr>
              <a:t>A facility verifier with a staff code confirms only what they witnessed: arrived, treated, died.</a:t>
            </a:r>
          </a:p>
          <a:p>
            <a:pPr algn="l">
              <a:lnSpc>
                <a:spcPct val="122000"/>
              </a:lnSpc>
              <a:spcAft>
                <a:spcPts val="900"/>
              </a:spcAft>
            </a:pPr>
            <a:r>
              <a:rPr sz="1300">
                <a:solidFill>
                  <a:srgbClr val="C4D5E9"/>
                </a:solidFill>
                <a:latin typeface="Segoe UI"/>
                <a:ea typeface="Segoe UI"/>
              </a:rPr>
              <a:t>It can never record a family-side refusal.</a:t>
            </a:r>
          </a:p>
          <a:p>
            <a:pPr algn="l">
              <a:lnSpc>
                <a:spcPct val="122000"/>
              </a:lnSpc>
            </a:pPr>
            <a:r>
              <a:rPr sz="1300" b="1">
                <a:solidFill>
                  <a:srgbClr val="EAF2FC"/>
                </a:solidFill>
                <a:latin typeface="Segoe UI"/>
                <a:ea typeface="Segoe UI"/>
              </a:rPr>
              <a:t>Two unanswered visits make it a trace, not a bad afternoon.</a:t>
            </a:r>
          </a:p>
        </p:txBody>
      </p:sp>
      <p:sp>
        <p:nvSpPr>
          <p:cNvPr id="15" name="Shape 15">
            <a:extLst>
              <a:ext uri="{FF2B5EF4-FFF2-40B4-BE49-F238E27FC236}">
                <a16:creationId xmlns:a16="http://schemas.microsoft.com/office/drawing/2014/main" id="{F3C0CF19-8AF4-448D-9928-3FEFA248030A}"/>
              </a:ext>
            </a:extLst>
          </p:cNvPr>
          <p:cNvSpPr/>
          <p:nvPr/>
        </p:nvSpPr>
        <p:spPr>
          <a:xfrm>
            <a:off x="6229350" y="3905250"/>
            <a:ext cx="5200650" cy="2038350"/>
          </a:xfrm>
          <a:prstGeom prst="roundRect">
            <a:avLst/>
          </a:prstGeom>
          <a:solidFill>
            <a:srgbClr val="123456"/>
          </a:solidFill>
        </p:spPr>
        <p:txBody>
          <a:bodyPr wrap="square" rtlCol="0"/>
          <a:lstStyle/>
          <a:p>
            <a:r>
              <a:rPr/>
              <a:t/>
            </a:r>
          </a:p>
        </p:txBody>
      </p:sp>
      <p:sp>
        <p:nvSpPr>
          <p:cNvPr id="16" name="TextBox 16">
            <a:extLst>
              <a:ext uri="{FF2B5EF4-FFF2-40B4-BE49-F238E27FC236}">
                <a16:creationId xmlns:a16="http://schemas.microsoft.com/office/drawing/2014/main" id="{F2F63B9F-E8B2-4DEF-88C0-4F528A1F8523}"/>
              </a:ext>
            </a:extLst>
          </p:cNvPr>
          <p:cNvSpPr txBox="1"/>
          <p:nvPr/>
        </p:nvSpPr>
        <p:spPr>
          <a:xfrm>
            <a:off x="6457950" y="4095750"/>
            <a:ext cx="4743450" cy="304800"/>
          </a:xfrm>
        </p:spPr>
        <p:txBody>
          <a:bodyPr wrap="square" rtlCol="0" lIns="0" tIns="0" rIns="0" bIns="0" anchor="t"/>
          <a:lstStyle/>
          <a:p>
            <a:pPr algn="l"/>
            <a:r>
              <a:rPr sz="1600" b="1">
                <a:solidFill>
                  <a:srgbClr val="F2A93B"/>
                </a:solidFill>
                <a:latin typeface="Segoe UI"/>
                <a:ea typeface="Segoe UI"/>
              </a:rPr>
              <a:t>The reason becomes evidence</a:t>
            </a:r>
          </a:p>
        </p:txBody>
      </p:sp>
      <p:sp>
        <p:nvSpPr>
          <p:cNvPr id="17" name="TextBox 17">
            <a:extLst>
              <a:ext uri="{FF2B5EF4-FFF2-40B4-BE49-F238E27FC236}">
                <a16:creationId xmlns:a16="http://schemas.microsoft.com/office/drawing/2014/main" id="{E99A6A60-F1DE-430B-B250-2E09E104AA4D}"/>
              </a:ext>
            </a:extLst>
          </p:cNvPr>
          <p:cNvSpPr txBox="1"/>
          <p:nvPr/>
        </p:nvSpPr>
        <p:spPr>
          <a:xfrm>
            <a:off x="6457950" y="4476750"/>
            <a:ext cx="4743450" cy="1322832"/>
          </a:xfrm>
        </p:spPr>
        <p:txBody>
          <a:bodyPr wrap="square" rtlCol="0" lIns="0" tIns="0" rIns="0" bIns="0" anchor="t"/>
          <a:lstStyle/>
          <a:p>
            <a:pPr algn="l">
              <a:lnSpc>
                <a:spcPct val="122000"/>
              </a:lnSpc>
              <a:spcAft>
                <a:spcPts val="900"/>
              </a:spcAft>
            </a:pPr>
            <a:r>
              <a:rPr sz="1300">
                <a:solidFill>
                  <a:srgbClr val="C4D5E9"/>
                </a:solidFill>
                <a:latin typeface="Segoe UI"/>
                <a:ea typeface="Segoe UI"/>
              </a:rPr>
              <a:t>Counted by distinct households, not by taps, over a 30-day window — because a sub-district reports monthly.</a:t>
            </a:r>
          </a:p>
          <a:p>
            <a:pPr algn="l">
              <a:lnSpc>
                <a:spcPct val="122000"/>
              </a:lnSpc>
            </a:pPr>
            <a:r>
              <a:rPr sz="1300" b="1">
                <a:solidFill>
                  <a:srgbClr val="EAF2FC"/>
                </a:solidFill>
                <a:latin typeface="Segoe UI"/>
                <a:ea typeface="Segoe UI"/>
              </a:rPr>
              <a:t>Three households is where coincidence stops. Each pattern names who owns the fix: household, community, facility, system, or season.</a:t>
            </a:r>
          </a:p>
        </p:txBody>
      </p:sp>
      <p:sp>
        <p:nvSpPr>
          <p:cNvPr id="18" name="TextBox 18">
            <a:extLst>
              <a:ext uri="{FF2B5EF4-FFF2-40B4-BE49-F238E27FC236}">
                <a16:creationId xmlns:a16="http://schemas.microsoft.com/office/drawing/2014/main" id="{214FEA99-53FE-456E-A184-9504859B0DE0}"/>
              </a:ext>
            </a:extLst>
          </p:cNvPr>
          <p:cNvSpPr txBox="1"/>
          <p:nvPr/>
        </p:nvSpPr>
        <p:spPr>
          <a:xfrm>
            <a:off x="762000" y="6134100"/>
            <a:ext cx="10668000" cy="495300"/>
          </a:xfrm>
        </p:spPr>
        <p:txBody>
          <a:bodyPr wrap="square" rtlCol="0" lIns="0" tIns="0" rIns="0" bIns="0" anchor="t"/>
          <a:lstStyle/>
          <a:p>
            <a:pPr algn="l">
              <a:lnSpc>
                <a:spcPct val="122000"/>
              </a:lnSpc>
            </a:pPr>
            <a:r>
              <a:rPr sz="1300">
                <a:solidFill>
                  <a:srgbClr val="8FA6C2"/>
                </a:solidFill>
                <a:latin typeface="Segoe UI"/>
                <a:ea typeface="Segoe UI"/>
              </a:rPr>
              <a:t>SBAR handover is generated from the same record, and the evidence card re-reads the count the moment a follow-up is answered.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FF33B9EB-B997-4D12-8E97-EE5F17813A3F}"/>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THE AI SYSTEM</a:t>
            </a:r>
          </a:p>
        </p:txBody>
      </p:sp>
      <p:sp>
        <p:nvSpPr>
          <p:cNvPr id="4" name="TextBox 4">
            <a:extLst>
              <a:ext uri="{FF2B5EF4-FFF2-40B4-BE49-F238E27FC236}">
                <a16:creationId xmlns:a16="http://schemas.microsoft.com/office/drawing/2014/main" id="{85D39665-498C-421C-9864-9EBAE073A1BE}"/>
              </a:ext>
            </a:extLst>
          </p:cNvPr>
          <p:cNvSpPr txBox="1"/>
          <p:nvPr/>
        </p:nvSpPr>
        <p:spPr>
          <a:xfrm>
            <a:off x="762000" y="819150"/>
            <a:ext cx="10668000" cy="495300"/>
          </a:xfrm>
        </p:spPr>
        <p:txBody>
          <a:bodyPr wrap="square" rtlCol="0" lIns="0" tIns="0" rIns="0" bIns="0" anchor="t"/>
          <a:lstStyle/>
          <a:p>
            <a:pPr algn="l">
              <a:lnSpc>
                <a:spcPct val="106000"/>
              </a:lnSpc>
            </a:pPr>
            <a:r>
              <a:rPr sz="2800" b="1">
                <a:solidFill>
                  <a:srgbClr val="EAF2FC"/>
                </a:solidFill>
                <a:latin typeface="Segoe UI"/>
                <a:ea typeface="Segoe UI"/>
              </a:rPr>
              <a:t>Four int8 models — each under 6 KB, none allowed to decide</a:t>
            </a:r>
          </a:p>
        </p:txBody>
      </p:sp>
      <p:cxnSp>
        <p:nvCxnSpPr>
          <p:cNvPr id="5" name="Straight Connector 5">
            <a:extLst>
              <a:ext uri="{FF2B5EF4-FFF2-40B4-BE49-F238E27FC236}">
                <a16:creationId xmlns:a16="http://schemas.microsoft.com/office/drawing/2014/main" id="{016491E3-7327-47FA-AE99-3CAC4C64C192}"/>
              </a:ext>
            </a:extLst>
          </p:cNvPr>
          <p:cNvCxnSpPr/>
          <p:nvPr/>
        </p:nvCxnSpPr>
        <p:spPr>
          <a:xfrm>
            <a:off x="762000" y="144780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EA879972-2DEE-4E15-BBA4-C11360243D03}"/>
              </a:ext>
            </a:extLst>
          </p:cNvPr>
          <p:cNvSpPr txBox="1"/>
          <p:nvPr/>
        </p:nvSpPr>
        <p:spPr>
          <a:xfrm>
            <a:off x="762000" y="1676400"/>
            <a:ext cx="5334000" cy="247650"/>
          </a:xfrm>
        </p:spPr>
        <p:txBody>
          <a:bodyPr wrap="square" rtlCol="0" lIns="0" tIns="0" rIns="0" bIns="0" anchor="t"/>
          <a:lstStyle/>
          <a:p>
            <a:pPr algn="l"/>
            <a:r>
              <a:rPr sz="1250" b="1">
                <a:solidFill>
                  <a:srgbClr val="C4D5E9"/>
                </a:solidFill>
                <a:latin typeface="Segoe UI"/>
                <a:ea typeface="Segoe UI"/>
              </a:rPr>
              <a:t>Neonatal sepsis — 964 real Mbarara records, age 0–3 days</a:t>
            </a:r>
          </a:p>
        </p:txBody>
      </p:sp>
      <p:sp>
        <p:nvSpPr>
          <p:cNvPr id="7" name="Shape 7">
            <a:extLst>
              <a:ext uri="{FF2B5EF4-FFF2-40B4-BE49-F238E27FC236}">
                <a16:creationId xmlns:a16="http://schemas.microsoft.com/office/drawing/2014/main" id="{3D5E461A-1779-45CC-BC6B-140CB9A79A97}"/>
              </a:ext>
            </a:extLst>
          </p:cNvPr>
          <p:cNvSpPr/>
          <p:nvPr/>
        </p:nvSpPr>
        <p:spPr>
          <a:xfrm>
            <a:off x="762000" y="1962150"/>
            <a:ext cx="3943350" cy="152400"/>
          </a:xfrm>
          <a:prstGeom prst="rect">
            <a:avLst/>
          </a:prstGeom>
          <a:solidFill>
            <a:srgbClr val="3E8BFF"/>
          </a:solidFill>
        </p:spPr>
        <p:txBody>
          <a:bodyPr wrap="square" rtlCol="0"/>
          <a:lstStyle/>
          <a:p>
            <a:r>
              <a:rPr/>
              <a:t/>
            </a:r>
          </a:p>
        </p:txBody>
      </p:sp>
      <p:sp>
        <p:nvSpPr>
          <p:cNvPr id="8" name="TextBox 8">
            <a:extLst>
              <a:ext uri="{FF2B5EF4-FFF2-40B4-BE49-F238E27FC236}">
                <a16:creationId xmlns:a16="http://schemas.microsoft.com/office/drawing/2014/main" id="{F90D9963-9F1B-40AF-8905-139B7ED7C231}"/>
              </a:ext>
            </a:extLst>
          </p:cNvPr>
          <p:cNvSpPr txBox="1"/>
          <p:nvPr/>
        </p:nvSpPr>
        <p:spPr>
          <a:xfrm>
            <a:off x="4819650" y="1905000"/>
            <a:ext cx="1276350" cy="247650"/>
          </a:xfrm>
        </p:spPr>
        <p:txBody>
          <a:bodyPr wrap="square" rtlCol="0" lIns="0" tIns="0" rIns="0" bIns="0" anchor="t"/>
          <a:lstStyle/>
          <a:p>
            <a:pPr algn="l"/>
            <a:r>
              <a:rPr sz="1300" b="1">
                <a:solidFill>
                  <a:srgbClr val="EAF2FC"/>
                </a:solidFill>
                <a:latin typeface="Segoe UI"/>
                <a:ea typeface="Segoe UI"/>
              </a:rPr>
              <a:t>AUC 0.90</a:t>
            </a:r>
          </a:p>
        </p:txBody>
      </p:sp>
      <p:sp>
        <p:nvSpPr>
          <p:cNvPr id="9" name="TextBox 9">
            <a:extLst>
              <a:ext uri="{FF2B5EF4-FFF2-40B4-BE49-F238E27FC236}">
                <a16:creationId xmlns:a16="http://schemas.microsoft.com/office/drawing/2014/main" id="{20DC5CB1-3D57-4001-92E0-2FDC4D8360A8}"/>
              </a:ext>
            </a:extLst>
          </p:cNvPr>
          <p:cNvSpPr txBox="1"/>
          <p:nvPr/>
        </p:nvSpPr>
        <p:spPr>
          <a:xfrm>
            <a:off x="762000" y="2381250"/>
            <a:ext cx="5334000" cy="247650"/>
          </a:xfrm>
        </p:spPr>
        <p:txBody>
          <a:bodyPr wrap="square" rtlCol="0" lIns="0" tIns="0" rIns="0" bIns="0" anchor="t"/>
          <a:lstStyle/>
          <a:p>
            <a:pPr algn="l"/>
            <a:r>
              <a:rPr sz="1250" b="1">
                <a:solidFill>
                  <a:srgbClr val="C4D5E9"/>
                </a:solidFill>
                <a:latin typeface="Segoe UI"/>
                <a:ea typeface="Segoe UI"/>
              </a:rPr>
              <a:t>Low birth weight / SGA — Ghana-prior cohort, 8,000 / 2,000</a:t>
            </a:r>
          </a:p>
        </p:txBody>
      </p:sp>
      <p:sp>
        <p:nvSpPr>
          <p:cNvPr id="10" name="Shape 10">
            <a:extLst>
              <a:ext uri="{FF2B5EF4-FFF2-40B4-BE49-F238E27FC236}">
                <a16:creationId xmlns:a16="http://schemas.microsoft.com/office/drawing/2014/main" id="{489EAFEF-213D-455D-94E3-57A24333DE8D}"/>
              </a:ext>
            </a:extLst>
          </p:cNvPr>
          <p:cNvSpPr/>
          <p:nvPr/>
        </p:nvSpPr>
        <p:spPr>
          <a:xfrm>
            <a:off x="762000" y="2667000"/>
            <a:ext cx="4229100" cy="152400"/>
          </a:xfrm>
          <a:prstGeom prst="rect">
            <a:avLst/>
          </a:prstGeom>
          <a:solidFill>
            <a:srgbClr val="3E8BFF"/>
          </a:solidFill>
        </p:spPr>
        <p:txBody>
          <a:bodyPr wrap="square" rtlCol="0"/>
          <a:lstStyle/>
          <a:p>
            <a:r>
              <a:rPr/>
              <a:t/>
            </a:r>
          </a:p>
        </p:txBody>
      </p:sp>
      <p:sp>
        <p:nvSpPr>
          <p:cNvPr id="11" name="TextBox 11">
            <a:extLst>
              <a:ext uri="{FF2B5EF4-FFF2-40B4-BE49-F238E27FC236}">
                <a16:creationId xmlns:a16="http://schemas.microsoft.com/office/drawing/2014/main" id="{34C6009A-CDF8-43EA-96A2-2FE4D88BD013}"/>
              </a:ext>
            </a:extLst>
          </p:cNvPr>
          <p:cNvSpPr txBox="1"/>
          <p:nvPr/>
        </p:nvSpPr>
        <p:spPr>
          <a:xfrm>
            <a:off x="5105400" y="2609850"/>
            <a:ext cx="1276350" cy="247650"/>
          </a:xfrm>
        </p:spPr>
        <p:txBody>
          <a:bodyPr wrap="square" rtlCol="0" lIns="0" tIns="0" rIns="0" bIns="0" anchor="t"/>
          <a:lstStyle/>
          <a:p>
            <a:pPr algn="l"/>
            <a:r>
              <a:rPr sz="1300" b="1">
                <a:solidFill>
                  <a:srgbClr val="EAF2FC"/>
                </a:solidFill>
                <a:latin typeface="Segoe UI"/>
                <a:ea typeface="Segoe UI"/>
              </a:rPr>
              <a:t>AUC 0.96</a:t>
            </a:r>
          </a:p>
        </p:txBody>
      </p:sp>
      <p:sp>
        <p:nvSpPr>
          <p:cNvPr id="12" name="TextBox 12">
            <a:extLst>
              <a:ext uri="{FF2B5EF4-FFF2-40B4-BE49-F238E27FC236}">
                <a16:creationId xmlns:a16="http://schemas.microsoft.com/office/drawing/2014/main" id="{93CECB18-C4EE-4BF1-B6BF-36CF4F207653}"/>
              </a:ext>
            </a:extLst>
          </p:cNvPr>
          <p:cNvSpPr txBox="1"/>
          <p:nvPr/>
        </p:nvSpPr>
        <p:spPr>
          <a:xfrm>
            <a:off x="762000" y="3086100"/>
            <a:ext cx="5334000" cy="247650"/>
          </a:xfrm>
        </p:spPr>
        <p:txBody>
          <a:bodyPr wrap="square" rtlCol="0" lIns="0" tIns="0" rIns="0" bIns="0" anchor="t"/>
          <a:lstStyle/>
          <a:p>
            <a:pPr algn="l"/>
            <a:r>
              <a:rPr sz="1250" b="1">
                <a:solidFill>
                  <a:srgbClr val="C4D5E9"/>
                </a:solidFill>
                <a:latin typeface="Segoe UI"/>
                <a:ea typeface="Segoe UI"/>
              </a:rPr>
              <a:t>Child pneumonia — Ghana-prior cohort, IMCI 2014 thresholds</a:t>
            </a:r>
          </a:p>
        </p:txBody>
      </p:sp>
      <p:sp>
        <p:nvSpPr>
          <p:cNvPr id="13" name="Shape 13">
            <a:extLst>
              <a:ext uri="{FF2B5EF4-FFF2-40B4-BE49-F238E27FC236}">
                <a16:creationId xmlns:a16="http://schemas.microsoft.com/office/drawing/2014/main" id="{95E097A9-45D8-4CC2-B53B-3A5C5C6464EC}"/>
              </a:ext>
            </a:extLst>
          </p:cNvPr>
          <p:cNvSpPr/>
          <p:nvPr/>
        </p:nvSpPr>
        <p:spPr>
          <a:xfrm>
            <a:off x="762000" y="3371850"/>
            <a:ext cx="3257550" cy="152400"/>
          </a:xfrm>
          <a:prstGeom prst="rect">
            <a:avLst/>
          </a:prstGeom>
          <a:solidFill>
            <a:srgbClr val="3E8BFF"/>
          </a:solidFill>
        </p:spPr>
        <p:txBody>
          <a:bodyPr wrap="square" rtlCol="0"/>
          <a:lstStyle/>
          <a:p>
            <a:r>
              <a:rPr/>
              <a:t/>
            </a:r>
          </a:p>
        </p:txBody>
      </p:sp>
      <p:sp>
        <p:nvSpPr>
          <p:cNvPr id="14" name="TextBox 14">
            <a:extLst>
              <a:ext uri="{FF2B5EF4-FFF2-40B4-BE49-F238E27FC236}">
                <a16:creationId xmlns:a16="http://schemas.microsoft.com/office/drawing/2014/main" id="{5EDF2652-E3FC-4529-9B10-96E2207FD23B}"/>
              </a:ext>
            </a:extLst>
          </p:cNvPr>
          <p:cNvSpPr txBox="1"/>
          <p:nvPr/>
        </p:nvSpPr>
        <p:spPr>
          <a:xfrm>
            <a:off x="4133850" y="3314700"/>
            <a:ext cx="1276350" cy="247650"/>
          </a:xfrm>
        </p:spPr>
        <p:txBody>
          <a:bodyPr wrap="square" rtlCol="0" lIns="0" tIns="0" rIns="0" bIns="0" anchor="t"/>
          <a:lstStyle/>
          <a:p>
            <a:pPr algn="l"/>
            <a:r>
              <a:rPr sz="1300" b="1">
                <a:solidFill>
                  <a:srgbClr val="EAF2FC"/>
                </a:solidFill>
                <a:latin typeface="Segoe UI"/>
                <a:ea typeface="Segoe UI"/>
              </a:rPr>
              <a:t>AUC 0.74</a:t>
            </a:r>
          </a:p>
        </p:txBody>
      </p:sp>
      <p:sp>
        <p:nvSpPr>
          <p:cNvPr id="15" name="TextBox 15">
            <a:extLst>
              <a:ext uri="{FF2B5EF4-FFF2-40B4-BE49-F238E27FC236}">
                <a16:creationId xmlns:a16="http://schemas.microsoft.com/office/drawing/2014/main" id="{6E51CBDB-75E7-448A-99E7-B91CCFDA12B7}"/>
              </a:ext>
            </a:extLst>
          </p:cNvPr>
          <p:cNvSpPr txBox="1"/>
          <p:nvPr/>
        </p:nvSpPr>
        <p:spPr>
          <a:xfrm>
            <a:off x="762000" y="3790950"/>
            <a:ext cx="5334000" cy="247650"/>
          </a:xfrm>
        </p:spPr>
        <p:txBody>
          <a:bodyPr wrap="square" rtlCol="0" lIns="0" tIns="0" rIns="0" bIns="0" anchor="t"/>
          <a:lstStyle/>
          <a:p>
            <a:pPr algn="l"/>
            <a:r>
              <a:rPr sz="1250" b="1">
                <a:solidFill>
                  <a:srgbClr val="C4D5E9"/>
                </a:solidFill>
                <a:latin typeface="Segoe UI"/>
                <a:ea typeface="Segoe UI"/>
              </a:rPr>
              <a:t>Pre-eclampsia — simulator internal vs held-out external</a:t>
            </a:r>
          </a:p>
        </p:txBody>
      </p:sp>
      <p:sp>
        <p:nvSpPr>
          <p:cNvPr id="16" name="Shape 16">
            <a:extLst>
              <a:ext uri="{FF2B5EF4-FFF2-40B4-BE49-F238E27FC236}">
                <a16:creationId xmlns:a16="http://schemas.microsoft.com/office/drawing/2014/main" id="{612F1D33-AE8E-4734-A2A7-DC6892472650}"/>
              </a:ext>
            </a:extLst>
          </p:cNvPr>
          <p:cNvSpPr/>
          <p:nvPr/>
        </p:nvSpPr>
        <p:spPr>
          <a:xfrm>
            <a:off x="762000" y="4076700"/>
            <a:ext cx="4381500" cy="152400"/>
          </a:xfrm>
          <a:prstGeom prst="rect">
            <a:avLst/>
          </a:prstGeom>
          <a:solidFill>
            <a:srgbClr val="1B3A5E"/>
          </a:solidFill>
        </p:spPr>
        <p:txBody>
          <a:bodyPr wrap="square" rtlCol="0"/>
          <a:lstStyle/>
          <a:p>
            <a:r>
              <a:rPr/>
              <a:t/>
            </a:r>
          </a:p>
        </p:txBody>
      </p:sp>
      <p:sp>
        <p:nvSpPr>
          <p:cNvPr id="17" name="TextBox 17">
            <a:extLst>
              <a:ext uri="{FF2B5EF4-FFF2-40B4-BE49-F238E27FC236}">
                <a16:creationId xmlns:a16="http://schemas.microsoft.com/office/drawing/2014/main" id="{644DB90E-6BAC-4D17-BE5D-8B340A36482B}"/>
              </a:ext>
            </a:extLst>
          </p:cNvPr>
          <p:cNvSpPr txBox="1"/>
          <p:nvPr/>
        </p:nvSpPr>
        <p:spPr>
          <a:xfrm>
            <a:off x="5257800" y="4019550"/>
            <a:ext cx="952500" cy="247650"/>
          </a:xfrm>
        </p:spPr>
        <p:txBody>
          <a:bodyPr wrap="square" rtlCol="0" lIns="0" tIns="0" rIns="0" bIns="0" anchor="t"/>
          <a:lstStyle/>
          <a:p>
            <a:pPr algn="l"/>
            <a:r>
              <a:rPr sz="1300" b="1">
                <a:solidFill>
                  <a:srgbClr val="7F97B8"/>
                </a:solidFill>
                <a:latin typeface="Segoe UI"/>
                <a:ea typeface="Segoe UI"/>
              </a:rPr>
              <a:t>1.00</a:t>
            </a:r>
          </a:p>
        </p:txBody>
      </p:sp>
      <p:sp>
        <p:nvSpPr>
          <p:cNvPr id="18" name="Shape 18">
            <a:extLst>
              <a:ext uri="{FF2B5EF4-FFF2-40B4-BE49-F238E27FC236}">
                <a16:creationId xmlns:a16="http://schemas.microsoft.com/office/drawing/2014/main" id="{E65E7131-B617-46AF-ABE9-FE843B224EAC}"/>
              </a:ext>
            </a:extLst>
          </p:cNvPr>
          <p:cNvSpPr/>
          <p:nvPr/>
        </p:nvSpPr>
        <p:spPr>
          <a:xfrm>
            <a:off x="762000" y="4305300"/>
            <a:ext cx="3228975" cy="152400"/>
          </a:xfrm>
          <a:prstGeom prst="rect">
            <a:avLst/>
          </a:prstGeom>
          <a:solidFill>
            <a:srgbClr val="F2A93B"/>
          </a:solidFill>
        </p:spPr>
        <p:txBody>
          <a:bodyPr wrap="square" rtlCol="0"/>
          <a:lstStyle/>
          <a:p>
            <a:r>
              <a:rPr/>
              <a:t/>
            </a:r>
          </a:p>
        </p:txBody>
      </p:sp>
      <p:sp>
        <p:nvSpPr>
          <p:cNvPr id="19" name="TextBox 19">
            <a:extLst>
              <a:ext uri="{FF2B5EF4-FFF2-40B4-BE49-F238E27FC236}">
                <a16:creationId xmlns:a16="http://schemas.microsoft.com/office/drawing/2014/main" id="{777B210F-AA25-4EF1-9FE9-1A49B5981B2A}"/>
              </a:ext>
            </a:extLst>
          </p:cNvPr>
          <p:cNvSpPr txBox="1"/>
          <p:nvPr/>
        </p:nvSpPr>
        <p:spPr>
          <a:xfrm>
            <a:off x="4105275" y="4248150"/>
            <a:ext cx="2476500" cy="247650"/>
          </a:xfrm>
        </p:spPr>
        <p:txBody>
          <a:bodyPr wrap="square" rtlCol="0" lIns="0" tIns="0" rIns="0" bIns="0" anchor="t"/>
          <a:lstStyle/>
          <a:p>
            <a:pPr algn="l"/>
            <a:r>
              <a:rPr sz="1300" b="1">
                <a:solidFill>
                  <a:srgbClr val="F2A93B"/>
                </a:solidFill>
                <a:latin typeface="Segoe UI"/>
                <a:ea typeface="Segoe UI"/>
              </a:rPr>
              <a:t>0.7365 on held-out UCI</a:t>
            </a:r>
          </a:p>
        </p:txBody>
      </p:sp>
      <p:sp>
        <p:nvSpPr>
          <p:cNvPr id="20" name="TextBox 20">
            <a:extLst>
              <a:ext uri="{FF2B5EF4-FFF2-40B4-BE49-F238E27FC236}">
                <a16:creationId xmlns:a16="http://schemas.microsoft.com/office/drawing/2014/main" id="{9A406258-03F1-43BD-97D5-854B61DC8EB5}"/>
              </a:ext>
            </a:extLst>
          </p:cNvPr>
          <p:cNvSpPr txBox="1"/>
          <p:nvPr/>
        </p:nvSpPr>
        <p:spPr>
          <a:xfrm>
            <a:off x="762000" y="4705350"/>
            <a:ext cx="5334000" cy="762000"/>
          </a:xfrm>
        </p:spPr>
        <p:txBody>
          <a:bodyPr wrap="square" rtlCol="0" lIns="0" tIns="0" rIns="0" bIns="0" anchor="t"/>
          <a:lstStyle/>
          <a:p>
            <a:pPr algn="l">
              <a:lnSpc>
                <a:spcPct val="122000"/>
              </a:lnSpc>
            </a:pPr>
            <a:r>
              <a:rPr sz="1250" i="1">
                <a:solidFill>
                  <a:srgbClr val="8FA6C2"/>
                </a:solidFill>
                <a:latin typeface="Segoe UI"/>
                <a:ea typeface="Segoe UI"/>
              </a:rPr>
              <a:t>Bars are held-out discrimination, not accuracy. The simulator number measures how well the student copies the teacher; the external one is the evidence.</a:t>
            </a:r>
          </a:p>
        </p:txBody>
      </p:sp>
      <p:sp>
        <p:nvSpPr>
          <p:cNvPr id="21" name="TextBox 21">
            <a:extLst>
              <a:ext uri="{FF2B5EF4-FFF2-40B4-BE49-F238E27FC236}">
                <a16:creationId xmlns:a16="http://schemas.microsoft.com/office/drawing/2014/main" id="{C1CCA455-9DE1-4D8B-991B-9BAC2B06DFD6}"/>
              </a:ext>
            </a:extLst>
          </p:cNvPr>
          <p:cNvSpPr txBox="1"/>
          <p:nvPr/>
        </p:nvSpPr>
        <p:spPr>
          <a:xfrm>
            <a:off x="6477000" y="1676400"/>
            <a:ext cx="4953000" cy="285750"/>
          </a:xfrm>
        </p:spPr>
        <p:txBody>
          <a:bodyPr wrap="square" rtlCol="0" lIns="0" tIns="0" rIns="0" bIns="0" anchor="t"/>
          <a:lstStyle/>
          <a:p>
            <a:pPr algn="l"/>
            <a:r>
              <a:rPr sz="1600" b="1">
                <a:solidFill>
                  <a:srgbClr val="EAF2FC"/>
                </a:solidFill>
                <a:latin typeface="Segoe UI"/>
                <a:ea typeface="Segoe UI"/>
              </a:rPr>
              <a:t>How they are made</a:t>
            </a:r>
          </a:p>
        </p:txBody>
      </p:sp>
      <p:sp>
        <p:nvSpPr>
          <p:cNvPr id="22" name="TextBox 22">
            <a:extLst>
              <a:ext uri="{FF2B5EF4-FFF2-40B4-BE49-F238E27FC236}">
                <a16:creationId xmlns:a16="http://schemas.microsoft.com/office/drawing/2014/main" id="{AC5FA75E-EC98-49B1-B92F-A11310BE2C04}"/>
              </a:ext>
            </a:extLst>
          </p:cNvPr>
          <p:cNvSpPr txBox="1"/>
          <p:nvPr/>
        </p:nvSpPr>
        <p:spPr>
          <a:xfrm>
            <a:off x="6477000" y="2000250"/>
            <a:ext cx="4953000" cy="1181100"/>
          </a:xfrm>
        </p:spPr>
        <p:txBody>
          <a:bodyPr wrap="square" rtlCol="0" lIns="0" tIns="0" rIns="0" bIns="0" anchor="t"/>
          <a:lstStyle/>
          <a:p>
            <a:pPr algn="l">
              <a:lnSpc>
                <a:spcPct val="122000"/>
              </a:lnSpc>
            </a:pPr>
            <a:r>
              <a:rPr sz="1250">
                <a:solidFill>
                  <a:srgbClr val="C4D5E9"/>
                </a:solidFill>
                <a:latin typeface="Segoe UI"/>
                <a:ea typeface="Segoe UI"/>
              </a:rPr>
              <a:t>Published Northern Region prevalence and risk priors build the cohort; a teacher is fit on it; a small dense network is distilled onto the exact [0,1] tensor the app feeds at inference; then post-training int8 quantisation (scale 0.003922, zero point −128).</a:t>
            </a:r>
          </a:p>
        </p:txBody>
      </p:sp>
      <p:sp>
        <p:nvSpPr>
          <p:cNvPr id="23" name="TextBox 23">
            <a:extLst>
              <a:ext uri="{FF2B5EF4-FFF2-40B4-BE49-F238E27FC236}">
                <a16:creationId xmlns:a16="http://schemas.microsoft.com/office/drawing/2014/main" id="{D25254F6-D19E-40AD-89EF-CF8174AFE1E5}"/>
              </a:ext>
            </a:extLst>
          </p:cNvPr>
          <p:cNvSpPr txBox="1"/>
          <p:nvPr/>
        </p:nvSpPr>
        <p:spPr>
          <a:xfrm>
            <a:off x="6477000" y="3276600"/>
            <a:ext cx="4953000" cy="285750"/>
          </a:xfrm>
        </p:spPr>
        <p:txBody>
          <a:bodyPr wrap="square" rtlCol="0" lIns="0" tIns="0" rIns="0" bIns="0" anchor="t"/>
          <a:lstStyle/>
          <a:p>
            <a:pPr algn="l"/>
            <a:r>
              <a:rPr sz="1600" b="1">
                <a:solidFill>
                  <a:srgbClr val="EAF2FC"/>
                </a:solidFill>
                <a:latin typeface="Segoe UI"/>
                <a:ea typeface="Segoe UI"/>
              </a:rPr>
              <a:t>How they are measured</a:t>
            </a:r>
          </a:p>
        </p:txBody>
      </p:sp>
      <p:sp>
        <p:nvSpPr>
          <p:cNvPr id="24" name="TextBox 24">
            <a:extLst>
              <a:ext uri="{FF2B5EF4-FFF2-40B4-BE49-F238E27FC236}">
                <a16:creationId xmlns:a16="http://schemas.microsoft.com/office/drawing/2014/main" id="{358FE7D8-30E9-4072-A579-7D9F20C1538A}"/>
              </a:ext>
            </a:extLst>
          </p:cNvPr>
          <p:cNvSpPr txBox="1"/>
          <p:nvPr/>
        </p:nvSpPr>
        <p:spPr>
          <a:xfrm>
            <a:off x="6477000" y="3600450"/>
            <a:ext cx="4953000" cy="1238250"/>
          </a:xfrm>
        </p:spPr>
        <p:txBody>
          <a:bodyPr wrap="square" rtlCol="0" lIns="0" tIns="0" rIns="0" bIns="0" anchor="t"/>
          <a:lstStyle/>
          <a:p>
            <a:pPr algn="l">
              <a:lnSpc>
                <a:spcPct val="122000"/>
              </a:lnSpc>
            </a:pPr>
            <a:r>
              <a:rPr sz="1250">
                <a:solidFill>
                  <a:srgbClr val="C4D5E9"/>
                </a:solidFill>
                <a:latin typeface="Segoe UI"/>
                <a:ea typeface="Segoe UI"/>
              </a:rPr>
              <a:t>Held-out AUC, sensitivity and specificity at a chosen Youden threshold; Platt-scaling calibration with per-bin residual intervals and a Brier score; per-feature drift detection as a z-score against the training distribution — a 14-day-old is drift-flagged, and a test asserts it.</a:t>
            </a:r>
          </a:p>
        </p:txBody>
      </p:sp>
      <p:sp>
        <p:nvSpPr>
          <p:cNvPr id="25" name="Shape 25">
            <a:extLst>
              <a:ext uri="{FF2B5EF4-FFF2-40B4-BE49-F238E27FC236}">
                <a16:creationId xmlns:a16="http://schemas.microsoft.com/office/drawing/2014/main" id="{A33A5FCA-F40E-4639-AABD-DFA64163F0B9}"/>
              </a:ext>
            </a:extLst>
          </p:cNvPr>
          <p:cNvSpPr/>
          <p:nvPr/>
        </p:nvSpPr>
        <p:spPr>
          <a:xfrm>
            <a:off x="6477000" y="4953000"/>
            <a:ext cx="4953000" cy="514350"/>
          </a:xfrm>
          <a:prstGeom prst="roundRect">
            <a:avLst/>
          </a:prstGeom>
          <a:solidFill>
            <a:srgbClr val="123456"/>
          </a:solidFill>
        </p:spPr>
        <p:txBody>
          <a:bodyPr wrap="square" rtlCol="0"/>
          <a:lstStyle/>
          <a:p>
            <a:r>
              <a:rPr/>
              <a:t/>
            </a:r>
          </a:p>
        </p:txBody>
      </p:sp>
      <p:sp>
        <p:nvSpPr>
          <p:cNvPr id="26" name="TextBox 26">
            <a:extLst>
              <a:ext uri="{FF2B5EF4-FFF2-40B4-BE49-F238E27FC236}">
                <a16:creationId xmlns:a16="http://schemas.microsoft.com/office/drawing/2014/main" id="{C6AE8B62-5700-42DE-B70D-11869EF2DB33}"/>
              </a:ext>
            </a:extLst>
          </p:cNvPr>
          <p:cNvSpPr txBox="1"/>
          <p:nvPr/>
        </p:nvSpPr>
        <p:spPr>
          <a:xfrm>
            <a:off x="6667500" y="5086350"/>
            <a:ext cx="4572000" cy="285750"/>
          </a:xfrm>
        </p:spPr>
        <p:txBody>
          <a:bodyPr wrap="square" rtlCol="0" lIns="0" tIns="0" rIns="0" bIns="0" anchor="t"/>
          <a:lstStyle/>
          <a:p>
            <a:pPr algn="l"/>
            <a:r>
              <a:rPr sz="1400" b="1">
                <a:solidFill>
                  <a:srgbClr val="F2A93B"/>
                </a:solidFill>
                <a:latin typeface="Segoe UI"/>
                <a:ea typeface="Segoe UI"/>
              </a:rPr>
              <a:t>clinical_use_allowed: false — enforced in code</a:t>
            </a:r>
          </a:p>
        </p:txBody>
      </p:sp>
      <p:sp>
        <p:nvSpPr>
          <p:cNvPr id="27" name="Shape 27">
            <a:extLst>
              <a:ext uri="{FF2B5EF4-FFF2-40B4-BE49-F238E27FC236}">
                <a16:creationId xmlns:a16="http://schemas.microsoft.com/office/drawing/2014/main" id="{AE0ADCB3-282B-4BDD-904D-D8CD50F38015}"/>
              </a:ext>
            </a:extLst>
          </p:cNvPr>
          <p:cNvSpPr/>
          <p:nvPr/>
        </p:nvSpPr>
        <p:spPr>
          <a:xfrm>
            <a:off x="762000" y="5638800"/>
            <a:ext cx="10668000" cy="933450"/>
          </a:xfrm>
          <a:prstGeom prst="roundRect">
            <a:avLst/>
          </a:prstGeom>
          <a:solidFill>
            <a:srgbClr val="0B2138"/>
          </a:solidFill>
        </p:spPr>
        <p:txBody>
          <a:bodyPr wrap="square" rtlCol="0"/>
          <a:lstStyle/>
          <a:p>
            <a:r>
              <a:rPr/>
              <a:t/>
            </a:r>
          </a:p>
        </p:txBody>
      </p:sp>
      <p:sp>
        <p:nvSpPr>
          <p:cNvPr id="28" name="TextBox 28">
            <a:extLst>
              <a:ext uri="{FF2B5EF4-FFF2-40B4-BE49-F238E27FC236}">
                <a16:creationId xmlns:a16="http://schemas.microsoft.com/office/drawing/2014/main" id="{AE84C1F3-8F5E-48F5-8398-2BB6FC598B7E}"/>
              </a:ext>
            </a:extLst>
          </p:cNvPr>
          <p:cNvSpPr txBox="1"/>
          <p:nvPr/>
        </p:nvSpPr>
        <p:spPr>
          <a:xfrm>
            <a:off x="1066800" y="5791200"/>
            <a:ext cx="10058400" cy="855269"/>
          </a:xfrm>
        </p:spPr>
        <p:txBody>
          <a:bodyPr wrap="square" rtlCol="0" lIns="0" tIns="0" rIns="0" bIns="0" anchor="t"/>
          <a:lstStyle/>
          <a:p>
            <a:pPr algn="l">
              <a:lnSpc>
                <a:spcPct val="122000"/>
              </a:lnSpc>
            </a:pPr>
            <a:r>
              <a:rPr sz="1150" b="1">
                <a:solidFill>
                  <a:srgbClr val="EAF2FC"/>
                </a:solidFill>
                <a:latin typeface="Segoe UI"/>
                <a:ea typeface="Segoe UI"/>
              </a:rPr>
              <a:t>Sources pinned with sha256: </a:t>
            </a:r>
            <a:r>
              <a:rPr sz="1150">
                <a:solidFill>
                  <a:srgbClr val="8FA6C2"/>
                </a:solidFill>
                <a:latin typeface="Segoe UI"/>
                <a:ea typeface="Segoe UI"/>
              </a:rPr>
              <a:t>Mbarara RRH EMR — github.com/Helenaden/Neonatal-Sepsis-Prediction · external — UCI Maternal Health Risk, Ahmed M. 2018, n=1,006 · out-of-domain — PhysioNet 2019 adult ICU, n=4,000, AUC 0.5112, near chance as it should be for neonates against adults · Ghana priors — Adokiya 2022 doi:10.1080/03630242.2022.2030450 (n=359), Adjei-Gyamfi 2023, Fosu 2013, Charadan 2025, Bugri 2023, Boafo 2025, Baiden 2011, WHO IMCI 2014. Full citation blocks in assets/models/*_metrics.json.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E9FBB7B7-97C0-442D-BE83-5AD06E36478B}"/>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THE LIGHTWEIGHT NLP SYSTEM</a:t>
            </a:r>
          </a:p>
        </p:txBody>
      </p:sp>
      <p:sp>
        <p:nvSpPr>
          <p:cNvPr id="4" name="TextBox 4">
            <a:extLst>
              <a:ext uri="{FF2B5EF4-FFF2-40B4-BE49-F238E27FC236}">
                <a16:creationId xmlns:a16="http://schemas.microsoft.com/office/drawing/2014/main" id="{0FB3005A-881B-4EB4-ACF7-DBCCB82EA7E4}"/>
              </a:ext>
            </a:extLst>
          </p:cNvPr>
          <p:cNvSpPr txBox="1"/>
          <p:nvPr/>
        </p:nvSpPr>
        <p:spPr>
          <a:xfrm>
            <a:off x="762000" y="819150"/>
            <a:ext cx="10668000" cy="840029"/>
          </a:xfrm>
        </p:spPr>
        <p:txBody>
          <a:bodyPr wrap="square" rtlCol="0" lIns="0" tIns="0" rIns="0" bIns="0" anchor="t"/>
          <a:lstStyle/>
          <a:p>
            <a:pPr algn="l">
              <a:lnSpc>
                <a:spcPct val="106000"/>
              </a:lnSpc>
            </a:pPr>
            <a:r>
              <a:rPr sz="2600" b="1">
                <a:solidFill>
                  <a:srgbClr val="EAF2FC"/>
                </a:solidFill>
                <a:latin typeface="Segoe UI"/>
                <a:ea typeface="Segoe UI"/>
              </a:rPr>
              <a:t>Twi and Dagbani are not on the cloud speech lists — so the models run on the phone</a:t>
            </a:r>
          </a:p>
        </p:txBody>
      </p:sp>
      <p:cxnSp>
        <p:nvCxnSpPr>
          <p:cNvPr id="5" name="Straight Connector 5">
            <a:extLst>
              <a:ext uri="{FF2B5EF4-FFF2-40B4-BE49-F238E27FC236}">
                <a16:creationId xmlns:a16="http://schemas.microsoft.com/office/drawing/2014/main" id="{CF30FF56-4354-4E7A-8556-5F3CC280E7C8}"/>
              </a:ext>
            </a:extLst>
          </p:cNvPr>
          <p:cNvCxnSpPr/>
          <p:nvPr/>
        </p:nvCxnSpPr>
        <p:spPr>
          <a:xfrm>
            <a:off x="762000" y="1428750"/>
            <a:ext cx="10668000" cy="9525"/>
          </a:xfrm>
          <a:prstGeom prst="line">
            <a:avLst/>
          </a:prstGeom>
          <a:ln w="12700" cap="flat">
            <a:solidFill>
              <a:srgbClr val="24486F"/>
            </a:solidFill>
          </a:ln>
        </p:spPr>
      </p:cxnSp>
      <p:sp>
        <p:nvSpPr>
          <p:cNvPr id="6" name="Shape 6">
            <a:extLst>
              <a:ext uri="{FF2B5EF4-FFF2-40B4-BE49-F238E27FC236}">
                <a16:creationId xmlns:a16="http://schemas.microsoft.com/office/drawing/2014/main" id="{3ABE1DCD-C521-47B3-9E1D-C53D12610CA1}"/>
              </a:ext>
            </a:extLst>
          </p:cNvPr>
          <p:cNvSpPr/>
          <p:nvPr/>
        </p:nvSpPr>
        <p:spPr>
          <a:xfrm>
            <a:off x="762000" y="1676400"/>
            <a:ext cx="2524125" cy="2324100"/>
          </a:xfrm>
          <a:prstGeom prst="roundRect">
            <a:avLst/>
          </a:prstGeom>
          <a:solidFill>
            <a:srgbClr val="0F2A47"/>
          </a:solidFill>
        </p:spPr>
        <p:txBody>
          <a:bodyPr wrap="square" rtlCol="0"/>
          <a:lstStyle/>
          <a:p>
            <a:r>
              <a:rPr/>
              <a:t/>
            </a:r>
          </a:p>
        </p:txBody>
      </p:sp>
      <p:sp>
        <p:nvSpPr>
          <p:cNvPr id="7" name="TextBox 7">
            <a:extLst>
              <a:ext uri="{FF2B5EF4-FFF2-40B4-BE49-F238E27FC236}">
                <a16:creationId xmlns:a16="http://schemas.microsoft.com/office/drawing/2014/main" id="{0C1A81F5-1061-477D-B7BC-4668129FA6D7}"/>
              </a:ext>
            </a:extLst>
          </p:cNvPr>
          <p:cNvSpPr txBox="1"/>
          <p:nvPr/>
        </p:nvSpPr>
        <p:spPr>
          <a:xfrm>
            <a:off x="990600" y="1809750"/>
            <a:ext cx="2066925" cy="800100"/>
          </a:xfrm>
        </p:spPr>
        <p:txBody>
          <a:bodyPr wrap="square" rtlCol="0" lIns="0" tIns="0" rIns="0" bIns="0" anchor="t"/>
          <a:lstStyle/>
          <a:p>
            <a:pPr algn="l">
              <a:lnSpc>
                <a:spcPct val="96000"/>
              </a:lnSpc>
            </a:pPr>
            <a:r>
              <a:rPr sz="4400" b="1">
                <a:solidFill>
                  <a:srgbClr val="3E8BFF"/>
                </a:solidFill>
                <a:latin typeface="Segoe UI"/>
                <a:ea typeface="Segoe UI"/>
              </a:rPr>
              <a:t>0.162</a:t>
            </a:r>
          </a:p>
        </p:txBody>
      </p:sp>
      <p:sp>
        <p:nvSpPr>
          <p:cNvPr id="8" name="TextBox 8">
            <a:extLst>
              <a:ext uri="{FF2B5EF4-FFF2-40B4-BE49-F238E27FC236}">
                <a16:creationId xmlns:a16="http://schemas.microsoft.com/office/drawing/2014/main" id="{6AC1511E-1EC1-4619-BB62-475E62A3D703}"/>
              </a:ext>
            </a:extLst>
          </p:cNvPr>
          <p:cNvSpPr txBox="1"/>
          <p:nvPr/>
        </p:nvSpPr>
        <p:spPr>
          <a:xfrm>
            <a:off x="990600" y="2628900"/>
            <a:ext cx="2066925" cy="434340"/>
          </a:xfrm>
        </p:spPr>
        <p:txBody>
          <a:bodyPr wrap="square" rtlCol="0" lIns="0" tIns="0" rIns="0" bIns="0" anchor="t"/>
          <a:lstStyle/>
          <a:p>
            <a:pPr algn="l">
              <a:lnSpc>
                <a:spcPct val="114000"/>
              </a:lnSpc>
            </a:pPr>
            <a:r>
              <a:rPr sz="1250" b="1">
                <a:solidFill>
                  <a:srgbClr val="EAF2FC"/>
                </a:solidFill>
                <a:latin typeface="Segoe UI"/>
                <a:ea typeface="Segoe UI"/>
              </a:rPr>
              <a:t>Twi median CER, held-out WaxalNLP</a:t>
            </a:r>
          </a:p>
        </p:txBody>
      </p:sp>
      <p:sp>
        <p:nvSpPr>
          <p:cNvPr id="9" name="TextBox 9">
            <a:extLst>
              <a:ext uri="{FF2B5EF4-FFF2-40B4-BE49-F238E27FC236}">
                <a16:creationId xmlns:a16="http://schemas.microsoft.com/office/drawing/2014/main" id="{D3C972C4-5ABE-4AF8-AB39-946544D14ED9}"/>
              </a:ext>
            </a:extLst>
          </p:cNvPr>
          <p:cNvSpPr txBox="1"/>
          <p:nvPr/>
        </p:nvSpPr>
        <p:spPr>
          <a:xfrm>
            <a:off x="990600" y="3067050"/>
            <a:ext cx="2066925" cy="857250"/>
          </a:xfrm>
        </p:spPr>
        <p:txBody>
          <a:bodyPr wrap="square" rtlCol="0" lIns="0" tIns="0" rIns="0" bIns="0" anchor="t"/>
          <a:lstStyle/>
          <a:p>
            <a:pPr algn="l">
              <a:lnSpc>
                <a:spcPct val="118000"/>
              </a:lnSpc>
            </a:pPr>
            <a:r>
              <a:rPr sz="1100">
                <a:solidFill>
                  <a:srgbClr val="9FB4CE"/>
                </a:solidFill>
                <a:latin typeface="Segoe UI"/>
                <a:ea typeface="Segoe UI"/>
              </a:rPr>
              <a:t>RTF 0.69×. int8 reproduces the fp32 score exactly — mean 0.2075 both ways. Clears the 0.25 dictation ceiling.</a:t>
            </a:r>
          </a:p>
        </p:txBody>
      </p:sp>
      <p:sp>
        <p:nvSpPr>
          <p:cNvPr id="10" name="Shape 10">
            <a:extLst>
              <a:ext uri="{FF2B5EF4-FFF2-40B4-BE49-F238E27FC236}">
                <a16:creationId xmlns:a16="http://schemas.microsoft.com/office/drawing/2014/main" id="{18F3B7A8-61A6-4E16-8F11-F30C98169568}"/>
              </a:ext>
            </a:extLst>
          </p:cNvPr>
          <p:cNvSpPr/>
          <p:nvPr/>
        </p:nvSpPr>
        <p:spPr>
          <a:xfrm>
            <a:off x="3476625" y="1676400"/>
            <a:ext cx="2524125" cy="2324100"/>
          </a:xfrm>
          <a:prstGeom prst="roundRect">
            <a:avLst/>
          </a:prstGeom>
          <a:solidFill>
            <a:srgbClr val="123456"/>
          </a:solidFill>
        </p:spPr>
        <p:txBody>
          <a:bodyPr wrap="square" rtlCol="0"/>
          <a:lstStyle/>
          <a:p>
            <a:r>
              <a:rPr/>
              <a:t/>
            </a:r>
          </a:p>
        </p:txBody>
      </p:sp>
      <p:sp>
        <p:nvSpPr>
          <p:cNvPr id="11" name="TextBox 11">
            <a:extLst>
              <a:ext uri="{FF2B5EF4-FFF2-40B4-BE49-F238E27FC236}">
                <a16:creationId xmlns:a16="http://schemas.microsoft.com/office/drawing/2014/main" id="{B5B41D44-7F87-4DBC-A74F-BA1DC8E34809}"/>
              </a:ext>
            </a:extLst>
          </p:cNvPr>
          <p:cNvSpPr txBox="1"/>
          <p:nvPr/>
        </p:nvSpPr>
        <p:spPr>
          <a:xfrm>
            <a:off x="3705225" y="1809750"/>
            <a:ext cx="2066925" cy="800100"/>
          </a:xfrm>
        </p:spPr>
        <p:txBody>
          <a:bodyPr wrap="square" rtlCol="0" lIns="0" tIns="0" rIns="0" bIns="0" anchor="t"/>
          <a:lstStyle/>
          <a:p>
            <a:pPr algn="l">
              <a:lnSpc>
                <a:spcPct val="96000"/>
              </a:lnSpc>
            </a:pPr>
            <a:r>
              <a:rPr sz="4400" b="1">
                <a:solidFill>
                  <a:srgbClr val="F2A93B"/>
                </a:solidFill>
                <a:latin typeface="Segoe UI"/>
                <a:ea typeface="Segoe UI"/>
              </a:rPr>
              <a:t>0.420</a:t>
            </a:r>
          </a:p>
        </p:txBody>
      </p:sp>
      <p:sp>
        <p:nvSpPr>
          <p:cNvPr id="12" name="TextBox 12">
            <a:extLst>
              <a:ext uri="{FF2B5EF4-FFF2-40B4-BE49-F238E27FC236}">
                <a16:creationId xmlns:a16="http://schemas.microsoft.com/office/drawing/2014/main" id="{BF629F6E-D074-41E0-B7DC-DEC3785A54D5}"/>
              </a:ext>
            </a:extLst>
          </p:cNvPr>
          <p:cNvSpPr txBox="1"/>
          <p:nvPr/>
        </p:nvSpPr>
        <p:spPr>
          <a:xfrm>
            <a:off x="3705225" y="2628900"/>
            <a:ext cx="2066925" cy="434340"/>
          </a:xfrm>
        </p:spPr>
        <p:txBody>
          <a:bodyPr wrap="square" rtlCol="0" lIns="0" tIns="0" rIns="0" bIns="0" anchor="t"/>
          <a:lstStyle/>
          <a:p>
            <a:pPr algn="l">
              <a:lnSpc>
                <a:spcPct val="114000"/>
              </a:lnSpc>
            </a:pPr>
            <a:r>
              <a:rPr sz="1250" b="1">
                <a:solidFill>
                  <a:srgbClr val="EAF2FC"/>
                </a:solidFill>
                <a:latin typeface="Segoe UI"/>
                <a:ea typeface="Segoe UI"/>
              </a:rPr>
              <a:t>Dagbani median CER — DONDO, int8</a:t>
            </a:r>
          </a:p>
        </p:txBody>
      </p:sp>
      <p:sp>
        <p:nvSpPr>
          <p:cNvPr id="13" name="TextBox 13">
            <a:extLst>
              <a:ext uri="{FF2B5EF4-FFF2-40B4-BE49-F238E27FC236}">
                <a16:creationId xmlns:a16="http://schemas.microsoft.com/office/drawing/2014/main" id="{66AF42DE-FD9A-49EB-96B7-535866AA4376}"/>
              </a:ext>
            </a:extLst>
          </p:cNvPr>
          <p:cNvSpPr txBox="1"/>
          <p:nvPr/>
        </p:nvSpPr>
        <p:spPr>
          <a:xfrm>
            <a:off x="3705225" y="3067050"/>
            <a:ext cx="2066925" cy="857250"/>
          </a:xfrm>
        </p:spPr>
        <p:txBody>
          <a:bodyPr wrap="square" rtlCol="0" lIns="0" tIns="0" rIns="0" bIns="0" anchor="t"/>
          <a:lstStyle/>
          <a:p>
            <a:pPr algn="l">
              <a:lnSpc>
                <a:spcPct val="118000"/>
              </a:lnSpc>
            </a:pPr>
            <a:r>
              <a:rPr sz="1100">
                <a:solidFill>
                  <a:srgbClr val="C4D5E9"/>
                </a:solidFill>
                <a:latin typeface="Segoe UI"/>
                <a:ea typeface="Segoe UI"/>
              </a:rPr>
              <a:t>One word in three carries a mistake, so the app refuses to open the Dagbani microphone for dictation.</a:t>
            </a:r>
          </a:p>
        </p:txBody>
      </p:sp>
      <p:sp>
        <p:nvSpPr>
          <p:cNvPr id="14" name="Shape 14">
            <a:extLst>
              <a:ext uri="{FF2B5EF4-FFF2-40B4-BE49-F238E27FC236}">
                <a16:creationId xmlns:a16="http://schemas.microsoft.com/office/drawing/2014/main" id="{79DAB891-FE17-4A41-B7E0-DDBA20EE433A}"/>
              </a:ext>
            </a:extLst>
          </p:cNvPr>
          <p:cNvSpPr/>
          <p:nvPr/>
        </p:nvSpPr>
        <p:spPr>
          <a:xfrm>
            <a:off x="6191250" y="1676400"/>
            <a:ext cx="2524125" cy="2324100"/>
          </a:xfrm>
          <a:prstGeom prst="roundRect">
            <a:avLst/>
          </a:prstGeom>
          <a:solidFill>
            <a:srgbClr val="0F2A47"/>
          </a:solidFill>
        </p:spPr>
        <p:txBody>
          <a:bodyPr wrap="square" rtlCol="0"/>
          <a:lstStyle/>
          <a:p>
            <a:r>
              <a:rPr/>
              <a:t/>
            </a:r>
          </a:p>
        </p:txBody>
      </p:sp>
      <p:sp>
        <p:nvSpPr>
          <p:cNvPr id="15" name="TextBox 15">
            <a:extLst>
              <a:ext uri="{FF2B5EF4-FFF2-40B4-BE49-F238E27FC236}">
                <a16:creationId xmlns:a16="http://schemas.microsoft.com/office/drawing/2014/main" id="{C82A27E1-DE14-4A37-892F-4EFCC1FE2CA2}"/>
              </a:ext>
            </a:extLst>
          </p:cNvPr>
          <p:cNvSpPr txBox="1"/>
          <p:nvPr/>
        </p:nvSpPr>
        <p:spPr>
          <a:xfrm>
            <a:off x="6419850" y="1809750"/>
            <a:ext cx="2066925" cy="800100"/>
          </a:xfrm>
        </p:spPr>
        <p:txBody>
          <a:bodyPr wrap="square" rtlCol="0" lIns="0" tIns="0" rIns="0" bIns="0" anchor="t"/>
          <a:lstStyle/>
          <a:p>
            <a:pPr algn="l">
              <a:lnSpc>
                <a:spcPct val="96000"/>
              </a:lnSpc>
            </a:pPr>
            <a:r>
              <a:rPr sz="4400" b="1">
                <a:solidFill>
                  <a:srgbClr val="3E8BFF"/>
                </a:solidFill>
                <a:latin typeface="Segoe UI"/>
                <a:ea typeface="Segoe UI"/>
              </a:rPr>
              <a:t>4</a:t>
            </a:r>
          </a:p>
        </p:txBody>
      </p:sp>
      <p:sp>
        <p:nvSpPr>
          <p:cNvPr id="16" name="TextBox 16">
            <a:extLst>
              <a:ext uri="{FF2B5EF4-FFF2-40B4-BE49-F238E27FC236}">
                <a16:creationId xmlns:a16="http://schemas.microsoft.com/office/drawing/2014/main" id="{4816BA26-A52F-45F3-B0C1-BCFB9439EF76}"/>
              </a:ext>
            </a:extLst>
          </p:cNvPr>
          <p:cNvSpPr txBox="1"/>
          <p:nvPr/>
        </p:nvSpPr>
        <p:spPr>
          <a:xfrm>
            <a:off x="6419850" y="2628900"/>
            <a:ext cx="2066925" cy="434340"/>
          </a:xfrm>
        </p:spPr>
        <p:txBody>
          <a:bodyPr wrap="square" rtlCol="0" lIns="0" tIns="0" rIns="0" bIns="0" anchor="t"/>
          <a:lstStyle/>
          <a:p>
            <a:pPr algn="l">
              <a:lnSpc>
                <a:spcPct val="114000"/>
              </a:lnSpc>
            </a:pPr>
            <a:r>
              <a:rPr sz="1250" b="1">
                <a:solidFill>
                  <a:srgbClr val="EAF2FC"/>
                </a:solidFill>
                <a:latin typeface="Segoe UI"/>
                <a:ea typeface="Segoe UI"/>
              </a:rPr>
              <a:t>offline Piper voices, 37–80 MB</a:t>
            </a:r>
          </a:p>
        </p:txBody>
      </p:sp>
      <p:sp>
        <p:nvSpPr>
          <p:cNvPr id="17" name="TextBox 17">
            <a:extLst>
              <a:ext uri="{FF2B5EF4-FFF2-40B4-BE49-F238E27FC236}">
                <a16:creationId xmlns:a16="http://schemas.microsoft.com/office/drawing/2014/main" id="{AEC90849-40A9-4BA8-A143-5777CC67910D}"/>
              </a:ext>
            </a:extLst>
          </p:cNvPr>
          <p:cNvSpPr txBox="1"/>
          <p:nvPr/>
        </p:nvSpPr>
        <p:spPr>
          <a:xfrm>
            <a:off x="6419850" y="3067050"/>
            <a:ext cx="2066925" cy="857250"/>
          </a:xfrm>
        </p:spPr>
        <p:txBody>
          <a:bodyPr wrap="square" rtlCol="0" lIns="0" tIns="0" rIns="0" bIns="0" anchor="t"/>
          <a:lstStyle/>
          <a:p>
            <a:pPr algn="l">
              <a:lnSpc>
                <a:spcPct val="118000"/>
              </a:lnSpc>
            </a:pPr>
            <a:r>
              <a:rPr sz="1100">
                <a:solidFill>
                  <a:srgbClr val="9FB4CE"/>
                </a:solidFill>
                <a:latin typeface="Segoe UI"/>
                <a:ea typeface="Segoe UI"/>
              </a:rPr>
              <a:t>Licence and sha256 per pack: CC-BY-4.0, CC-BY-NC-4.0, CC-BY-NC-SA-4.0, and one held pending its author's licence.</a:t>
            </a:r>
          </a:p>
        </p:txBody>
      </p:sp>
      <p:sp>
        <p:nvSpPr>
          <p:cNvPr id="18" name="Shape 18">
            <a:extLst>
              <a:ext uri="{FF2B5EF4-FFF2-40B4-BE49-F238E27FC236}">
                <a16:creationId xmlns:a16="http://schemas.microsoft.com/office/drawing/2014/main" id="{6B0A8B41-1B90-4132-AF6C-28C2DF89D31B}"/>
              </a:ext>
            </a:extLst>
          </p:cNvPr>
          <p:cNvSpPr/>
          <p:nvPr/>
        </p:nvSpPr>
        <p:spPr>
          <a:xfrm>
            <a:off x="8905875" y="1676400"/>
            <a:ext cx="2524125" cy="2324100"/>
          </a:xfrm>
          <a:prstGeom prst="roundRect">
            <a:avLst/>
          </a:prstGeom>
          <a:solidFill>
            <a:srgbClr val="0F2A47"/>
          </a:solidFill>
        </p:spPr>
        <p:txBody>
          <a:bodyPr wrap="square" rtlCol="0"/>
          <a:lstStyle/>
          <a:p>
            <a:r>
              <a:rPr/>
              <a:t/>
            </a:r>
          </a:p>
        </p:txBody>
      </p:sp>
      <p:sp>
        <p:nvSpPr>
          <p:cNvPr id="19" name="TextBox 19">
            <a:extLst>
              <a:ext uri="{FF2B5EF4-FFF2-40B4-BE49-F238E27FC236}">
                <a16:creationId xmlns:a16="http://schemas.microsoft.com/office/drawing/2014/main" id="{367EA3AD-D7D7-4F44-9A17-BC5BB269D726}"/>
              </a:ext>
            </a:extLst>
          </p:cNvPr>
          <p:cNvSpPr txBox="1"/>
          <p:nvPr/>
        </p:nvSpPr>
        <p:spPr>
          <a:xfrm>
            <a:off x="9134475" y="1809750"/>
            <a:ext cx="2066925" cy="800100"/>
          </a:xfrm>
        </p:spPr>
        <p:txBody>
          <a:bodyPr wrap="square" rtlCol="0" lIns="0" tIns="0" rIns="0" bIns="0" anchor="t"/>
          <a:lstStyle/>
          <a:p>
            <a:pPr algn="l">
              <a:lnSpc>
                <a:spcPct val="96000"/>
              </a:lnSpc>
            </a:pPr>
            <a:r>
              <a:rPr sz="4400" b="1">
                <a:solidFill>
                  <a:srgbClr val="3E8BFF"/>
                </a:solidFill>
                <a:latin typeface="Segoe UI"/>
                <a:ea typeface="Segoe UI"/>
              </a:rPr>
              <a:t>2</a:t>
            </a:r>
          </a:p>
        </p:txBody>
      </p:sp>
      <p:sp>
        <p:nvSpPr>
          <p:cNvPr id="20" name="TextBox 20">
            <a:extLst>
              <a:ext uri="{FF2B5EF4-FFF2-40B4-BE49-F238E27FC236}">
                <a16:creationId xmlns:a16="http://schemas.microsoft.com/office/drawing/2014/main" id="{DB6B55AE-B16A-48EE-A106-B54A4C9478DD}"/>
              </a:ext>
            </a:extLst>
          </p:cNvPr>
          <p:cNvSpPr txBox="1"/>
          <p:nvPr/>
        </p:nvSpPr>
        <p:spPr>
          <a:xfrm>
            <a:off x="9134475" y="2628900"/>
            <a:ext cx="2066925" cy="434340"/>
          </a:xfrm>
        </p:spPr>
        <p:txBody>
          <a:bodyPr wrap="square" rtlCol="0" lIns="0" tIns="0" rIns="0" bIns="0" anchor="t"/>
          <a:lstStyle/>
          <a:p>
            <a:pPr algn="l">
              <a:lnSpc>
                <a:spcPct val="114000"/>
              </a:lnSpc>
            </a:pPr>
            <a:r>
              <a:rPr sz="1250" b="1">
                <a:solidFill>
                  <a:srgbClr val="EAF2FC"/>
                </a:solidFill>
                <a:latin typeface="Segoe UI"/>
                <a:ea typeface="Segoe UI"/>
              </a:rPr>
              <a:t>Marian pairs: en→Twi, en→Hausa</a:t>
            </a:r>
          </a:p>
        </p:txBody>
      </p:sp>
      <p:sp>
        <p:nvSpPr>
          <p:cNvPr id="21" name="TextBox 21">
            <a:extLst>
              <a:ext uri="{FF2B5EF4-FFF2-40B4-BE49-F238E27FC236}">
                <a16:creationId xmlns:a16="http://schemas.microsoft.com/office/drawing/2014/main" id="{78FF086D-79CB-4843-9DC1-D4CF0F3D289B}"/>
              </a:ext>
            </a:extLst>
          </p:cNvPr>
          <p:cNvSpPr txBox="1"/>
          <p:nvPr/>
        </p:nvSpPr>
        <p:spPr>
          <a:xfrm>
            <a:off x="9134475" y="3067050"/>
            <a:ext cx="2066925" cy="857250"/>
          </a:xfrm>
        </p:spPr>
        <p:txBody>
          <a:bodyPr wrap="square" rtlCol="0" lIns="0" tIns="0" rIns="0" bIns="0" anchor="t"/>
          <a:lstStyle/>
          <a:p>
            <a:pPr algn="l">
              <a:lnSpc>
                <a:spcPct val="118000"/>
              </a:lnSpc>
            </a:pPr>
            <a:r>
              <a:rPr sz="1100">
                <a:solidFill>
                  <a:srgbClr val="9FB4CE"/>
                </a:solidFill>
                <a:latin typeface="Segoe UI"/>
                <a:ea typeface="Segoe UI"/>
              </a:rPr>
              <a:t>Helsinki-NLP/opus-mt-en-tw and opus-mt-en-ha, Apache-2.0, ONNX encoder/decoder under the marian-v1 contract.</a:t>
            </a:r>
          </a:p>
        </p:txBody>
      </p:sp>
      <p:sp>
        <p:nvSpPr>
          <p:cNvPr id="22" name="Shape 22">
            <a:extLst>
              <a:ext uri="{FF2B5EF4-FFF2-40B4-BE49-F238E27FC236}">
                <a16:creationId xmlns:a16="http://schemas.microsoft.com/office/drawing/2014/main" id="{5CE273B7-2351-4BAC-8B7A-95B5E052EB53}"/>
              </a:ext>
            </a:extLst>
          </p:cNvPr>
          <p:cNvSpPr/>
          <p:nvPr/>
        </p:nvSpPr>
        <p:spPr>
          <a:xfrm>
            <a:off x="762000" y="4229100"/>
            <a:ext cx="10668000" cy="1047750"/>
          </a:xfrm>
          <a:prstGeom prst="roundRect">
            <a:avLst/>
          </a:prstGeom>
          <a:solidFill>
            <a:srgbClr val="0B2138"/>
          </a:solidFill>
        </p:spPr>
        <p:txBody>
          <a:bodyPr wrap="square" rtlCol="0"/>
          <a:lstStyle/>
          <a:p>
            <a:r>
              <a:rPr/>
              <a:t/>
            </a:r>
          </a:p>
        </p:txBody>
      </p:sp>
      <p:sp>
        <p:nvSpPr>
          <p:cNvPr id="23" name="TextBox 23">
            <a:extLst>
              <a:ext uri="{FF2B5EF4-FFF2-40B4-BE49-F238E27FC236}">
                <a16:creationId xmlns:a16="http://schemas.microsoft.com/office/drawing/2014/main" id="{D7BC8D94-3250-45DF-8E04-DD053BD99790}"/>
              </a:ext>
            </a:extLst>
          </p:cNvPr>
          <p:cNvSpPr txBox="1"/>
          <p:nvPr/>
        </p:nvSpPr>
        <p:spPr>
          <a:xfrm>
            <a:off x="1066800" y="4381500"/>
            <a:ext cx="10058400" cy="781050"/>
          </a:xfrm>
        </p:spPr>
        <p:txBody>
          <a:bodyPr wrap="square" rtlCol="0" lIns="0" tIns="0" rIns="0" bIns="0" anchor="t"/>
          <a:lstStyle/>
          <a:p>
            <a:pPr algn="l">
              <a:lnSpc>
                <a:spcPct val="120000"/>
              </a:lnSpc>
            </a:pPr>
            <a:r>
              <a:rPr sz="1200" b="1">
                <a:solidFill>
                  <a:srgbClr val="EAF2FC"/>
                </a:solidFill>
                <a:latin typeface="Segoe UI"/>
                <a:ea typeface="Segoe UI"/>
              </a:rPr>
              <a:t>Refusal is the safety layer. </a:t>
            </a:r>
            <a:r>
              <a:rPr sz="1200">
                <a:solidFill>
                  <a:srgbClr val="9FB4CE"/>
                </a:solidFill>
                <a:latin typeface="Segoe UI"/>
                <a:ea typeface="Segoe UI"/>
              </a:rPr>
              <a:t>Recognition is scored with an exact CTC forward algorithm over every spellable spoken form of an answer, so a synonym is one answer — and labels are characters in the app's own orthography: a Dagbani pack without ɛ turns voice input off rather than mis-hearing Ee. Through the app's own engine, 5 of 5 spoken Twi yes/no clips and the Dagbani Ee are heard as the right answer.</a:t>
            </a:r>
          </a:p>
        </p:txBody>
      </p:sp>
      <p:sp>
        <p:nvSpPr>
          <p:cNvPr id="24" name="TextBox 24">
            <a:extLst>
              <a:ext uri="{FF2B5EF4-FFF2-40B4-BE49-F238E27FC236}">
                <a16:creationId xmlns:a16="http://schemas.microsoft.com/office/drawing/2014/main" id="{707A29CA-1EF2-4D2E-9892-5E67E7E8D374}"/>
              </a:ext>
            </a:extLst>
          </p:cNvPr>
          <p:cNvSpPr txBox="1"/>
          <p:nvPr/>
        </p:nvSpPr>
        <p:spPr>
          <a:xfrm>
            <a:off x="762000" y="5448300"/>
            <a:ext cx="10668000" cy="1181100"/>
          </a:xfrm>
        </p:spPr>
        <p:txBody>
          <a:bodyPr wrap="square" rtlCol="0" lIns="0" tIns="0" rIns="0" bIns="0" anchor="t"/>
          <a:lstStyle/>
          <a:p>
            <a:pPr algn="l">
              <a:lnSpc>
                <a:spcPct val="120000"/>
              </a:lnSpc>
              <a:spcAft>
                <a:spcPts val="800"/>
              </a:spcAft>
            </a:pPr>
            <a:r>
              <a:rPr sz="1150" b="1">
                <a:solidFill>
                  <a:srgbClr val="F2A93B"/>
                </a:solidFill>
                <a:latin typeface="Segoe UI"/>
                <a:ea typeface="Segoe UI"/>
              </a:rPr>
              <a:t>Not shipped, and said so: </a:t>
            </a:r>
            <a:r>
              <a:rPr sz="1150">
                <a:solidFill>
                  <a:srgbClr val="9FB4CE"/>
                </a:solidFill>
                <a:latin typeface="Segoe UI"/>
                <a:ea typeface="Segoe UI"/>
              </a:rPr>
              <a:t>the packs are 355 MB and 876 MB in a gitignored dev directory, and voice input is switched off by the absence of a pack rather than a feature flag. The Dart reimplementation of DONDO's filter bank is replayed against the real HuggingFace processor and must agree to 1e-5 — today it measures 1.7e-6. No threshold yet separates a spoken answer from four seconds of prose, so every closed-set answer carries verified: false: voice may propose, never record.</a:t>
            </a:r>
          </a:p>
          <a:p>
            <a:pPr algn="l">
              <a:lnSpc>
                <a:spcPct val="120000"/>
              </a:lnSpc>
            </a:pPr>
            <a:r>
              <a:rPr sz="1150" i="1">
                <a:solidFill>
                  <a:srgbClr val="8FA6C2"/>
                </a:solidFill>
                <a:latin typeface="Segoe UI"/>
                <a:ea typeface="Segoe UI"/>
              </a:rPr>
              <a:t>Baseline for scale: openai/whisper-tiny untuned sits at CER 0.91 / 0.78 on the same clips and drifts into Arabic, Indonesian and English on Ghanaian audio.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C6102DD6-185B-4572-871C-3C148D07D53B}"/>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STORAGE ARCHITECTURE</a:t>
            </a:r>
          </a:p>
        </p:txBody>
      </p:sp>
      <p:sp>
        <p:nvSpPr>
          <p:cNvPr id="4" name="TextBox 4">
            <a:extLst>
              <a:ext uri="{FF2B5EF4-FFF2-40B4-BE49-F238E27FC236}">
                <a16:creationId xmlns:a16="http://schemas.microsoft.com/office/drawing/2014/main" id="{FE0DD9CD-1C2A-4F6A-8FE1-022A014CFCA1}"/>
              </a:ext>
            </a:extLst>
          </p:cNvPr>
          <p:cNvSpPr txBox="1"/>
          <p:nvPr/>
        </p:nvSpPr>
        <p:spPr>
          <a:xfrm>
            <a:off x="762000" y="819150"/>
            <a:ext cx="10668000" cy="495300"/>
          </a:xfrm>
        </p:spPr>
        <p:txBody>
          <a:bodyPr wrap="square" rtlCol="0" lIns="0" tIns="0" rIns="0" bIns="0" anchor="t"/>
          <a:lstStyle/>
          <a:p>
            <a:pPr algn="l">
              <a:lnSpc>
                <a:spcPct val="106000"/>
              </a:lnSpc>
            </a:pPr>
            <a:r>
              <a:rPr sz="3000" b="1">
                <a:solidFill>
                  <a:srgbClr val="EAF2FC"/>
                </a:solidFill>
                <a:latin typeface="Segoe UI"/>
                <a:ea typeface="Segoe UI"/>
              </a:rPr>
              <a:t>Hybrid — and honest about which half is real</a:t>
            </a:r>
          </a:p>
        </p:txBody>
      </p:sp>
      <p:cxnSp>
        <p:nvCxnSpPr>
          <p:cNvPr id="5" name="Straight Connector 5">
            <a:extLst>
              <a:ext uri="{FF2B5EF4-FFF2-40B4-BE49-F238E27FC236}">
                <a16:creationId xmlns:a16="http://schemas.microsoft.com/office/drawing/2014/main" id="{067E8E8E-927D-45A2-BFD6-7735D0158CDF}"/>
              </a:ext>
            </a:extLst>
          </p:cNvPr>
          <p:cNvCxnSpPr/>
          <p:nvPr/>
        </p:nvCxnSpPr>
        <p:spPr>
          <a:xfrm>
            <a:off x="762000" y="1485900"/>
            <a:ext cx="10668000" cy="9525"/>
          </a:xfrm>
          <a:prstGeom prst="line">
            <a:avLst/>
          </a:prstGeom>
          <a:ln w="12700" cap="flat">
            <a:solidFill>
              <a:srgbClr val="24486F"/>
            </a:solidFill>
          </a:ln>
        </p:spPr>
      </p:cxnSp>
      <p:sp>
        <p:nvSpPr>
          <p:cNvPr id="6" name="Shape 6">
            <a:extLst>
              <a:ext uri="{FF2B5EF4-FFF2-40B4-BE49-F238E27FC236}">
                <a16:creationId xmlns:a16="http://schemas.microsoft.com/office/drawing/2014/main" id="{F8F9E2C1-05D5-49F5-845A-364DBBE2E886}"/>
              </a:ext>
            </a:extLst>
          </p:cNvPr>
          <p:cNvSpPr/>
          <p:nvPr/>
        </p:nvSpPr>
        <p:spPr>
          <a:xfrm>
            <a:off x="762000" y="1714500"/>
            <a:ext cx="5200650" cy="2552700"/>
          </a:xfrm>
          <a:prstGeom prst="roundRect">
            <a:avLst/>
          </a:prstGeom>
          <a:solidFill>
            <a:srgbClr val="0F2A47"/>
          </a:solidFill>
        </p:spPr>
        <p:txBody>
          <a:bodyPr wrap="square" rtlCol="0"/>
          <a:lstStyle/>
          <a:p>
            <a:r>
              <a:rPr/>
              <a:t/>
            </a:r>
          </a:p>
        </p:txBody>
      </p:sp>
      <p:sp>
        <p:nvSpPr>
          <p:cNvPr id="7" name="TextBox 7">
            <a:extLst>
              <a:ext uri="{FF2B5EF4-FFF2-40B4-BE49-F238E27FC236}">
                <a16:creationId xmlns:a16="http://schemas.microsoft.com/office/drawing/2014/main" id="{9D7E72B3-3ABD-4A33-974D-802E1C19F152}"/>
              </a:ext>
            </a:extLst>
          </p:cNvPr>
          <p:cNvSpPr txBox="1"/>
          <p:nvPr/>
        </p:nvSpPr>
        <p:spPr>
          <a:xfrm>
            <a:off x="990600" y="1905000"/>
            <a:ext cx="4743450" cy="304800"/>
          </a:xfrm>
        </p:spPr>
        <p:txBody>
          <a:bodyPr wrap="square" rtlCol="0" lIns="0" tIns="0" rIns="0" bIns="0" anchor="t"/>
          <a:lstStyle/>
          <a:p>
            <a:pPr algn="l"/>
            <a:r>
              <a:rPr sz="1700" b="1">
                <a:solidFill>
                  <a:srgbClr val="3E8BFF"/>
                </a:solidFill>
                <a:latin typeface="Segoe UI"/>
                <a:ea typeface="Segoe UI"/>
              </a:rPr>
              <a:t>On the handset</a:t>
            </a:r>
          </a:p>
        </p:txBody>
      </p:sp>
      <p:sp>
        <p:nvSpPr>
          <p:cNvPr id="8" name="TextBox 8">
            <a:extLst>
              <a:ext uri="{FF2B5EF4-FFF2-40B4-BE49-F238E27FC236}">
                <a16:creationId xmlns:a16="http://schemas.microsoft.com/office/drawing/2014/main" id="{804561D5-4F61-49DD-8589-FE69E28D8027}"/>
              </a:ext>
            </a:extLst>
          </p:cNvPr>
          <p:cNvSpPr txBox="1"/>
          <p:nvPr/>
        </p:nvSpPr>
        <p:spPr>
          <a:xfrm>
            <a:off x="990600" y="2247900"/>
            <a:ext cx="4743450" cy="1866900"/>
          </a:xfrm>
        </p:spPr>
        <p:txBody>
          <a:bodyPr wrap="square" rtlCol="0" lIns="0" tIns="0" rIns="0" bIns="0" anchor="t"/>
          <a:lstStyle/>
          <a:p>
            <a:pPr marL="228600" indent="-228600" algn="l">
              <a:lnSpc>
                <a:spcPct val="118000"/>
              </a:lnSpc>
              <a:spcAft>
                <a:spcPts val="1000"/>
              </a:spcAft>
              <a:buChar char="•"/>
            </a:pPr>
            <a:r>
              <a:rPr sz="1200">
                <a:solidFill>
                  <a:srgbClr val="EAF2FC"/>
                </a:solidFill>
                <a:latin typeface="Segoe UI"/>
                <a:ea typeface="Segoe UI"/>
              </a:rPr>
              <a:t>One SQLCipher file — schema v12, 26 local tables</a:t>
            </a:r>
          </a:p>
          <a:p>
            <a:pPr marL="228600" indent="-228600" algn="l">
              <a:lnSpc>
                <a:spcPct val="118000"/>
              </a:lnSpc>
              <a:spcAft>
                <a:spcPts val="1000"/>
              </a:spcAft>
              <a:buChar char="•"/>
            </a:pPr>
            <a:r>
              <a:rPr sz="1200">
                <a:solidFill>
                  <a:srgbClr val="C4D5E9"/>
                </a:solidFill>
                <a:latin typeface="Segoe UI"/>
                <a:ea typeface="Segoe UI"/>
              </a:rPr>
              <a:t>Every clinical write commits with its own outbox row, so a half-saved visit cannot exist</a:t>
            </a:r>
          </a:p>
          <a:p>
            <a:pPr marL="228600" indent="-228600" algn="l">
              <a:lnSpc>
                <a:spcPct val="118000"/>
              </a:lnSpc>
              <a:spcAft>
                <a:spcPts val="1000"/>
              </a:spcAft>
              <a:buChar char="•"/>
            </a:pPr>
            <a:r>
              <a:rPr sz="1200">
                <a:solidFill>
                  <a:srgbClr val="C4D5E9"/>
                </a:solidFill>
                <a:latin typeface="Segoe UI"/>
                <a:ea typeface="Segoe UI"/>
              </a:rPr>
              <a:t>Consent, access and audit tables are append-only, and never cascaded from a patient row</a:t>
            </a:r>
          </a:p>
          <a:p>
            <a:pPr marL="228600" indent="-228600" algn="l">
              <a:lnSpc>
                <a:spcPct val="118000"/>
              </a:lnSpc>
              <a:buChar char="•"/>
            </a:pPr>
            <a:r>
              <a:rPr sz="1200">
                <a:solidFill>
                  <a:srgbClr val="C4D5E9"/>
                </a:solidFill>
                <a:latin typeface="Segoe UI"/>
                <a:ea typeface="Segoe UI"/>
              </a:rPr>
              <a:t>PRAGMA secure_delete on at every open, on every engine</a:t>
            </a:r>
          </a:p>
        </p:txBody>
      </p:sp>
      <p:sp>
        <p:nvSpPr>
          <p:cNvPr id="9" name="Shape 9">
            <a:extLst>
              <a:ext uri="{FF2B5EF4-FFF2-40B4-BE49-F238E27FC236}">
                <a16:creationId xmlns:a16="http://schemas.microsoft.com/office/drawing/2014/main" id="{0D584774-93F3-4B4D-82A5-902920A9229E}"/>
              </a:ext>
            </a:extLst>
          </p:cNvPr>
          <p:cNvSpPr/>
          <p:nvPr/>
        </p:nvSpPr>
        <p:spPr>
          <a:xfrm>
            <a:off x="6229350" y="1714500"/>
            <a:ext cx="5200650" cy="2552700"/>
          </a:xfrm>
          <a:prstGeom prst="roundRect">
            <a:avLst/>
          </a:prstGeom>
          <a:solidFill>
            <a:srgbClr val="0F2A47"/>
          </a:solidFill>
        </p:spPr>
        <p:txBody>
          <a:bodyPr wrap="square" rtlCol="0"/>
          <a:lstStyle/>
          <a:p>
            <a:r>
              <a:rPr/>
              <a:t/>
            </a:r>
          </a:p>
        </p:txBody>
      </p:sp>
      <p:sp>
        <p:nvSpPr>
          <p:cNvPr id="10" name="TextBox 10">
            <a:extLst>
              <a:ext uri="{FF2B5EF4-FFF2-40B4-BE49-F238E27FC236}">
                <a16:creationId xmlns:a16="http://schemas.microsoft.com/office/drawing/2014/main" id="{D18218AA-1EB3-4212-A3AF-7FBAC8C74538}"/>
              </a:ext>
            </a:extLst>
          </p:cNvPr>
          <p:cNvSpPr txBox="1"/>
          <p:nvPr/>
        </p:nvSpPr>
        <p:spPr>
          <a:xfrm>
            <a:off x="6457950" y="1905000"/>
            <a:ext cx="4743450" cy="304800"/>
          </a:xfrm>
        </p:spPr>
        <p:txBody>
          <a:bodyPr wrap="square" rtlCol="0" lIns="0" tIns="0" rIns="0" bIns="0" anchor="t"/>
          <a:lstStyle/>
          <a:p>
            <a:pPr algn="l"/>
            <a:r>
              <a:rPr sz="1700" b="1">
                <a:solidFill>
                  <a:srgbClr val="3E8BFF"/>
                </a:solidFill>
                <a:latin typeface="Segoe UI"/>
                <a:ea typeface="Segoe UI"/>
              </a:rPr>
              <a:t>At the district</a:t>
            </a:r>
          </a:p>
        </p:txBody>
      </p:sp>
      <p:sp>
        <p:nvSpPr>
          <p:cNvPr id="11" name="TextBox 11">
            <a:extLst>
              <a:ext uri="{FF2B5EF4-FFF2-40B4-BE49-F238E27FC236}">
                <a16:creationId xmlns:a16="http://schemas.microsoft.com/office/drawing/2014/main" id="{49B0D16A-6BA1-4591-94AD-E8A542F3BC76}"/>
              </a:ext>
            </a:extLst>
          </p:cNvPr>
          <p:cNvSpPr txBox="1"/>
          <p:nvPr/>
        </p:nvSpPr>
        <p:spPr>
          <a:xfrm>
            <a:off x="6457950" y="2247900"/>
            <a:ext cx="4743450" cy="1866900"/>
          </a:xfrm>
        </p:spPr>
        <p:txBody>
          <a:bodyPr wrap="square" rtlCol="0" lIns="0" tIns="0" rIns="0" bIns="0" anchor="t"/>
          <a:lstStyle/>
          <a:p>
            <a:pPr marL="228600" indent="-228600" algn="l">
              <a:lnSpc>
                <a:spcPct val="118000"/>
              </a:lnSpc>
              <a:spcAft>
                <a:spcPts val="1000"/>
              </a:spcAft>
              <a:buChar char="•"/>
            </a:pPr>
            <a:r>
              <a:rPr sz="1200">
                <a:solidFill>
                  <a:srgbClr val="EAF2FC"/>
                </a:solidFill>
                <a:latin typeface="Segoe UI"/>
                <a:ea typeface="Segoe UI"/>
              </a:rPr>
              <a:t>24 tables — the system of record, not a backup</a:t>
            </a:r>
          </a:p>
          <a:p>
            <a:pPr marL="228600" indent="-228600" algn="l">
              <a:lnSpc>
                <a:spcPct val="118000"/>
              </a:lnSpc>
              <a:spcAft>
                <a:spcPts val="1000"/>
              </a:spcAft>
              <a:buChar char="•"/>
            </a:pPr>
            <a:r>
              <a:rPr sz="1200">
                <a:solidFill>
                  <a:srgbClr val="C4D5E9"/>
                </a:solidFill>
                <a:latin typeface="Segoe UI"/>
                <a:ea typeface="Segoe UI"/>
              </a:rPr>
              <a:t>A per-user watermark, written only after a pull completes end to end</a:t>
            </a:r>
          </a:p>
          <a:p>
            <a:pPr marL="228600" indent="-228600" algn="l">
              <a:lnSpc>
                <a:spcPct val="118000"/>
              </a:lnSpc>
              <a:spcAft>
                <a:spcPts val="1000"/>
              </a:spcAft>
              <a:buChar char="•"/>
            </a:pPr>
            <a:r>
              <a:rPr sz="1200">
                <a:solidFill>
                  <a:srgbClr val="C4D5E9"/>
                </a:solidFill>
                <a:latin typeface="Segoe UI"/>
                <a:ea typeface="Segoe UI"/>
              </a:rPr>
              <a:t>Caseload merges last-writer-wins; clinical history is insert-if-absent</a:t>
            </a:r>
          </a:p>
          <a:p>
            <a:pPr marL="228600" indent="-228600" algn="l">
              <a:lnSpc>
                <a:spcPct val="118000"/>
              </a:lnSpc>
              <a:buChar char="•"/>
            </a:pPr>
            <a:r>
              <a:rPr sz="1200">
                <a:solidFill>
                  <a:srgbClr val="C4D5E9"/>
                </a:solidFill>
                <a:latin typeface="Segoe UI"/>
                <a:ea typeface="Segoe UI"/>
              </a:rPr>
              <a:t>Referrals merge on the server's own revision marker, so re-delivery is harmless</a:t>
            </a:r>
          </a:p>
        </p:txBody>
      </p:sp>
      <p:sp>
        <p:nvSpPr>
          <p:cNvPr id="12" name="Shape 12">
            <a:extLst>
              <a:ext uri="{FF2B5EF4-FFF2-40B4-BE49-F238E27FC236}">
                <a16:creationId xmlns:a16="http://schemas.microsoft.com/office/drawing/2014/main" id="{C330EE63-69AD-42A9-B0D9-F61C89D6C9D4}"/>
              </a:ext>
            </a:extLst>
          </p:cNvPr>
          <p:cNvSpPr/>
          <p:nvPr/>
        </p:nvSpPr>
        <p:spPr>
          <a:xfrm>
            <a:off x="762000" y="4419600"/>
            <a:ext cx="10668000" cy="1219200"/>
          </a:xfrm>
          <a:prstGeom prst="roundRect">
            <a:avLst/>
          </a:prstGeom>
          <a:solidFill>
            <a:srgbClr val="0B2138"/>
          </a:solidFill>
        </p:spPr>
        <p:txBody>
          <a:bodyPr wrap="square" rtlCol="0"/>
          <a:lstStyle/>
          <a:p>
            <a:r>
              <a:rPr/>
              <a:t/>
            </a:r>
          </a:p>
        </p:txBody>
      </p:sp>
      <p:sp>
        <p:nvSpPr>
          <p:cNvPr id="13" name="TextBox 13">
            <a:extLst>
              <a:ext uri="{FF2B5EF4-FFF2-40B4-BE49-F238E27FC236}">
                <a16:creationId xmlns:a16="http://schemas.microsoft.com/office/drawing/2014/main" id="{7948111E-592D-4B3B-9105-B7FD6C86B7F8}"/>
              </a:ext>
            </a:extLst>
          </p:cNvPr>
          <p:cNvSpPr txBox="1"/>
          <p:nvPr/>
        </p:nvSpPr>
        <p:spPr>
          <a:xfrm>
            <a:off x="1066800" y="4552950"/>
            <a:ext cx="10058400" cy="247650"/>
          </a:xfrm>
        </p:spPr>
        <p:txBody>
          <a:bodyPr wrap="square" rtlCol="0" lIns="0" tIns="0" rIns="0" bIns="0" anchor="t"/>
          <a:lstStyle/>
          <a:p>
            <a:pPr algn="l"/>
            <a:r>
              <a:rPr sz="1400" b="1">
                <a:solidFill>
                  <a:srgbClr val="EAF2FC"/>
                </a:solidFill>
                <a:latin typeface="Segoe UI"/>
                <a:ea typeface="Segoe UI"/>
              </a:rPr>
              <a:t>Four declared travel scopes, written per table</a:t>
            </a:r>
          </a:p>
        </p:txBody>
      </p:sp>
      <p:sp>
        <p:nvSpPr>
          <p:cNvPr id="14" name="Shape 14">
            <a:extLst>
              <a:ext uri="{FF2B5EF4-FFF2-40B4-BE49-F238E27FC236}">
                <a16:creationId xmlns:a16="http://schemas.microsoft.com/office/drawing/2014/main" id="{BD40EEB1-8674-44D0-B433-AA8BD627C65E}"/>
              </a:ext>
            </a:extLst>
          </p:cNvPr>
          <p:cNvSpPr/>
          <p:nvPr/>
        </p:nvSpPr>
        <p:spPr>
          <a:xfrm>
            <a:off x="1066800" y="4857750"/>
            <a:ext cx="2381250" cy="342900"/>
          </a:xfrm>
          <a:prstGeom prst="roundRect">
            <a:avLst/>
          </a:prstGeom>
          <a:solidFill>
            <a:srgbClr val="123456"/>
          </a:solidFill>
        </p:spPr>
        <p:txBody>
          <a:bodyPr wrap="square" rtlCol="0"/>
          <a:lstStyle/>
          <a:p>
            <a:r>
              <a:rPr/>
              <a:t/>
            </a:r>
          </a:p>
        </p:txBody>
      </p:sp>
      <p:sp>
        <p:nvSpPr>
          <p:cNvPr id="15" name="Shape 15">
            <a:extLst>
              <a:ext uri="{FF2B5EF4-FFF2-40B4-BE49-F238E27FC236}">
                <a16:creationId xmlns:a16="http://schemas.microsoft.com/office/drawing/2014/main" id="{C350DA24-C592-4CDD-A807-F5EA4BC47C64}"/>
              </a:ext>
            </a:extLst>
          </p:cNvPr>
          <p:cNvSpPr/>
          <p:nvPr/>
        </p:nvSpPr>
        <p:spPr>
          <a:xfrm>
            <a:off x="3600450" y="4857750"/>
            <a:ext cx="2381250" cy="342900"/>
          </a:xfrm>
          <a:prstGeom prst="roundRect">
            <a:avLst/>
          </a:prstGeom>
          <a:solidFill>
            <a:srgbClr val="123456"/>
          </a:solidFill>
        </p:spPr>
        <p:txBody>
          <a:bodyPr wrap="square" rtlCol="0"/>
          <a:lstStyle/>
          <a:p>
            <a:r>
              <a:rPr/>
              <a:t/>
            </a:r>
          </a:p>
        </p:txBody>
      </p:sp>
      <p:sp>
        <p:nvSpPr>
          <p:cNvPr id="16" name="Shape 16">
            <a:extLst>
              <a:ext uri="{FF2B5EF4-FFF2-40B4-BE49-F238E27FC236}">
                <a16:creationId xmlns:a16="http://schemas.microsoft.com/office/drawing/2014/main" id="{EF989F46-9340-4A0D-A62B-2B2CD514F508}"/>
              </a:ext>
            </a:extLst>
          </p:cNvPr>
          <p:cNvSpPr/>
          <p:nvPr/>
        </p:nvSpPr>
        <p:spPr>
          <a:xfrm>
            <a:off x="6134100" y="4857750"/>
            <a:ext cx="2381250" cy="342900"/>
          </a:xfrm>
          <a:prstGeom prst="roundRect">
            <a:avLst/>
          </a:prstGeom>
          <a:solidFill>
            <a:srgbClr val="123456"/>
          </a:solidFill>
        </p:spPr>
        <p:txBody>
          <a:bodyPr wrap="square" rtlCol="0"/>
          <a:lstStyle/>
          <a:p>
            <a:r>
              <a:rPr/>
              <a:t/>
            </a:r>
          </a:p>
        </p:txBody>
      </p:sp>
      <p:sp>
        <p:nvSpPr>
          <p:cNvPr id="17" name="Shape 17">
            <a:extLst>
              <a:ext uri="{FF2B5EF4-FFF2-40B4-BE49-F238E27FC236}">
                <a16:creationId xmlns:a16="http://schemas.microsoft.com/office/drawing/2014/main" id="{0E39C321-10F9-4051-849A-C1ADB17D1D8F}"/>
              </a:ext>
            </a:extLst>
          </p:cNvPr>
          <p:cNvSpPr/>
          <p:nvPr/>
        </p:nvSpPr>
        <p:spPr>
          <a:xfrm>
            <a:off x="8667750" y="4857750"/>
            <a:ext cx="2381250" cy="342900"/>
          </a:xfrm>
          <a:prstGeom prst="roundRect">
            <a:avLst/>
          </a:prstGeom>
          <a:solidFill>
            <a:srgbClr val="123456"/>
          </a:solidFill>
        </p:spPr>
        <p:txBody>
          <a:bodyPr wrap="square" rtlCol="0"/>
          <a:lstStyle/>
          <a:p>
            <a:r>
              <a:rPr/>
              <a:t/>
            </a:r>
          </a:p>
        </p:txBody>
      </p:sp>
      <p:sp>
        <p:nvSpPr>
          <p:cNvPr id="18" name="TextBox 18">
            <a:extLst>
              <a:ext uri="{FF2B5EF4-FFF2-40B4-BE49-F238E27FC236}">
                <a16:creationId xmlns:a16="http://schemas.microsoft.com/office/drawing/2014/main" id="{453BE66E-54F0-4E80-AD32-D12375F7D326}"/>
              </a:ext>
            </a:extLst>
          </p:cNvPr>
          <p:cNvSpPr txBox="1"/>
          <p:nvPr/>
        </p:nvSpPr>
        <p:spPr>
          <a:xfrm>
            <a:off x="1219200" y="4943475"/>
            <a:ext cx="2095500" cy="190500"/>
          </a:xfrm>
        </p:spPr>
        <p:txBody>
          <a:bodyPr wrap="square" rtlCol="0" lIns="0" tIns="0" rIns="0" bIns="0" anchor="t"/>
          <a:lstStyle/>
          <a:p>
            <a:pPr algn="l"/>
            <a:r>
              <a:rPr sz="1150" b="1">
                <a:solidFill>
                  <a:srgbClr val="C4D5E9"/>
                </a:solidFill>
                <a:latin typeface="Segoe UI"/>
                <a:ea typeface="Segoe UI"/>
              </a:rPr>
              <a:t>On this device only</a:t>
            </a:r>
          </a:p>
        </p:txBody>
      </p:sp>
      <p:sp>
        <p:nvSpPr>
          <p:cNvPr id="19" name="TextBox 19">
            <a:extLst>
              <a:ext uri="{FF2B5EF4-FFF2-40B4-BE49-F238E27FC236}">
                <a16:creationId xmlns:a16="http://schemas.microsoft.com/office/drawing/2014/main" id="{D0584A6D-BDBF-4BE6-8369-FF6C3B66F7A4}"/>
              </a:ext>
            </a:extLst>
          </p:cNvPr>
          <p:cNvSpPr txBox="1"/>
          <p:nvPr/>
        </p:nvSpPr>
        <p:spPr>
          <a:xfrm>
            <a:off x="3752850" y="4943475"/>
            <a:ext cx="2095500" cy="190500"/>
          </a:xfrm>
        </p:spPr>
        <p:txBody>
          <a:bodyPr wrap="square" rtlCol="0" lIns="0" tIns="0" rIns="0" bIns="0" anchor="t"/>
          <a:lstStyle/>
          <a:p>
            <a:pPr algn="l"/>
            <a:r>
              <a:rPr sz="1150" b="1">
                <a:solidFill>
                  <a:srgbClr val="C4D5E9"/>
                </a:solidFill>
                <a:latin typeface="Segoe UI"/>
                <a:ea typeface="Segoe UI"/>
              </a:rPr>
              <a:t>Device and district</a:t>
            </a:r>
          </a:p>
        </p:txBody>
      </p:sp>
      <p:sp>
        <p:nvSpPr>
          <p:cNvPr id="20" name="TextBox 20">
            <a:extLst>
              <a:ext uri="{FF2B5EF4-FFF2-40B4-BE49-F238E27FC236}">
                <a16:creationId xmlns:a16="http://schemas.microsoft.com/office/drawing/2014/main" id="{417285D2-FFD5-4D63-A423-DF9528E66E15}"/>
              </a:ext>
            </a:extLst>
          </p:cNvPr>
          <p:cNvSpPr txBox="1"/>
          <p:nvPr/>
        </p:nvSpPr>
        <p:spPr>
          <a:xfrm>
            <a:off x="6286500" y="4943475"/>
            <a:ext cx="2095500" cy="190500"/>
          </a:xfrm>
        </p:spPr>
        <p:txBody>
          <a:bodyPr wrap="square" rtlCol="0" lIns="0" tIns="0" rIns="0" bIns="0" anchor="t"/>
          <a:lstStyle/>
          <a:p>
            <a:pPr algn="l"/>
            <a:r>
              <a:rPr sz="1150" b="1">
                <a:solidFill>
                  <a:srgbClr val="F2A93B"/>
                </a:solidFill>
                <a:latin typeface="Segoe UI"/>
                <a:ea typeface="Segoe UI"/>
              </a:rPr>
              <a:t>Pushed, never stored</a:t>
            </a:r>
          </a:p>
        </p:txBody>
      </p:sp>
      <p:sp>
        <p:nvSpPr>
          <p:cNvPr id="21" name="TextBox 21">
            <a:extLst>
              <a:ext uri="{FF2B5EF4-FFF2-40B4-BE49-F238E27FC236}">
                <a16:creationId xmlns:a16="http://schemas.microsoft.com/office/drawing/2014/main" id="{06AEABAF-58F0-451C-BC33-7238E2534D88}"/>
              </a:ext>
            </a:extLst>
          </p:cNvPr>
          <p:cNvSpPr txBox="1"/>
          <p:nvPr/>
        </p:nvSpPr>
        <p:spPr>
          <a:xfrm>
            <a:off x="8820150" y="4943475"/>
            <a:ext cx="2095500" cy="190500"/>
          </a:xfrm>
        </p:spPr>
        <p:txBody>
          <a:bodyPr wrap="square" rtlCol="0" lIns="0" tIns="0" rIns="0" bIns="0" anchor="t"/>
          <a:lstStyle/>
          <a:p>
            <a:pPr algn="l"/>
            <a:r>
              <a:rPr sz="1150" b="1">
                <a:solidFill>
                  <a:srgbClr val="C4D5E9"/>
                </a:solidFill>
                <a:latin typeface="Segoe UI"/>
                <a:ea typeface="Segoe UI"/>
              </a:rPr>
              <a:t>District only</a:t>
            </a:r>
          </a:p>
        </p:txBody>
      </p:sp>
      <p:sp>
        <p:nvSpPr>
          <p:cNvPr id="22" name="TextBox 22">
            <a:extLst>
              <a:ext uri="{FF2B5EF4-FFF2-40B4-BE49-F238E27FC236}">
                <a16:creationId xmlns:a16="http://schemas.microsoft.com/office/drawing/2014/main" id="{95E0B688-7417-431B-82EC-69F219EB1319}"/>
              </a:ext>
            </a:extLst>
          </p:cNvPr>
          <p:cNvSpPr txBox="1"/>
          <p:nvPr/>
        </p:nvSpPr>
        <p:spPr>
          <a:xfrm>
            <a:off x="1066800" y="5295900"/>
            <a:ext cx="10058400" cy="228600"/>
          </a:xfrm>
        </p:spPr>
        <p:txBody>
          <a:bodyPr wrap="square" rtlCol="0" lIns="0" tIns="0" rIns="0" bIns="0" anchor="t"/>
          <a:lstStyle/>
          <a:p>
            <a:pPr algn="l"/>
            <a:r>
              <a:rPr sz="1150">
                <a:solidFill>
                  <a:srgbClr val="8FA6C2"/>
                </a:solidFill>
                <a:latin typeface="Segoe UI"/>
                <a:ea typeface="Segoe UI"/>
              </a:rPr>
              <a:t>The credential verifier lives in the third: the derivation that lets the cloud authenticate a PIN must not sit beside the record it unlocks.</a:t>
            </a:r>
          </a:p>
        </p:txBody>
      </p:sp>
      <p:sp>
        <p:nvSpPr>
          <p:cNvPr id="23" name="TextBox 23">
            <a:extLst>
              <a:ext uri="{FF2B5EF4-FFF2-40B4-BE49-F238E27FC236}">
                <a16:creationId xmlns:a16="http://schemas.microsoft.com/office/drawing/2014/main" id="{3FD4BF6F-F08A-4E50-945F-80C6FEAF4345}"/>
              </a:ext>
            </a:extLst>
          </p:cNvPr>
          <p:cNvSpPr txBox="1"/>
          <p:nvPr/>
        </p:nvSpPr>
        <p:spPr>
          <a:xfrm>
            <a:off x="762000" y="5829300"/>
            <a:ext cx="10668000" cy="723900"/>
          </a:xfrm>
        </p:spPr>
        <p:txBody>
          <a:bodyPr wrap="square" rtlCol="0" lIns="0" tIns="0" rIns="0" bIns="0" anchor="t"/>
          <a:lstStyle/>
          <a:p>
            <a:pPr algn="l">
              <a:lnSpc>
                <a:spcPct val="120000"/>
              </a:lnSpc>
            </a:pPr>
            <a:r>
              <a:rPr sz="1200" b="1">
                <a:solidFill>
                  <a:srgbClr val="EAF2FC"/>
                </a:solidFill>
                <a:latin typeface="Segoe UI"/>
                <a:ea typeface="Segoe UI"/>
              </a:rPr>
              <a:t>Packs are a separate plane: </a:t>
            </a:r>
            <a:r>
              <a:rPr sz="1200">
                <a:solidFill>
                  <a:srgbClr val="9FB4CE"/>
                </a:solidFill>
                <a:latin typeface="Segoe UI"/>
                <a:ea typeface="Segoe UI"/>
              </a:rPr>
              <a:t>a ready-* revision is downloaded and every file's sha256 and byte count is verified against model_manifest.json before it loads, under a 2 GB cap. Anything that disagrees with its own contract is refused at open — not discovered at first inference.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C30EA56-9D04-4844-988C-B468DAAEE6D2}"/>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OFFLINE CONNECTIVITY</a:t>
            </a:r>
          </a:p>
        </p:txBody>
      </p:sp>
      <p:sp>
        <p:nvSpPr>
          <p:cNvPr id="4" name="TextBox 4">
            <a:extLst>
              <a:ext uri="{FF2B5EF4-FFF2-40B4-BE49-F238E27FC236}">
                <a16:creationId xmlns:a16="http://schemas.microsoft.com/office/drawing/2014/main" id="{709593DC-AA28-4C61-B2A0-104074C5060B}"/>
              </a:ext>
            </a:extLst>
          </p:cNvPr>
          <p:cNvSpPr txBox="1"/>
          <p:nvPr/>
        </p:nvSpPr>
        <p:spPr>
          <a:xfrm>
            <a:off x="762000" y="819150"/>
            <a:ext cx="10668000" cy="495300"/>
          </a:xfrm>
        </p:spPr>
        <p:txBody>
          <a:bodyPr wrap="square" rtlCol="0" lIns="0" tIns="0" rIns="0" bIns="0" anchor="t"/>
          <a:lstStyle/>
          <a:p>
            <a:pPr algn="l">
              <a:lnSpc>
                <a:spcPct val="106000"/>
              </a:lnSpc>
            </a:pPr>
            <a:r>
              <a:rPr sz="3000" b="1">
                <a:solidFill>
                  <a:srgbClr val="EAF2FC"/>
                </a:solidFill>
                <a:latin typeface="Segoe UI"/>
                <a:ea typeface="Segoe UI"/>
              </a:rPr>
              <a:t>The app does not need the network to work</a:t>
            </a:r>
          </a:p>
        </p:txBody>
      </p:sp>
      <p:cxnSp>
        <p:nvCxnSpPr>
          <p:cNvPr id="5" name="Straight Connector 5">
            <a:extLst>
              <a:ext uri="{FF2B5EF4-FFF2-40B4-BE49-F238E27FC236}">
                <a16:creationId xmlns:a16="http://schemas.microsoft.com/office/drawing/2014/main" id="{6B1416F3-25BA-4F76-AC4D-3AAC6941BD92}"/>
              </a:ext>
            </a:extLst>
          </p:cNvPr>
          <p:cNvCxnSpPr/>
          <p:nvPr/>
        </p:nvCxnSpPr>
        <p:spPr>
          <a:xfrm>
            <a:off x="762000" y="148590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C69964C2-BDBD-4DE1-95F1-C0C79B134BCD}"/>
              </a:ext>
            </a:extLst>
          </p:cNvPr>
          <p:cNvSpPr txBox="1"/>
          <p:nvPr/>
        </p:nvSpPr>
        <p:spPr>
          <a:xfrm>
            <a:off x="762000" y="1695450"/>
            <a:ext cx="10668000" cy="512064"/>
          </a:xfrm>
        </p:spPr>
        <p:txBody>
          <a:bodyPr wrap="square" rtlCol="0" lIns="0" tIns="0" rIns="0" bIns="0" anchor="t"/>
          <a:lstStyle/>
          <a:p>
            <a:pPr algn="l">
              <a:lnSpc>
                <a:spcPct val="120000"/>
              </a:lnSpc>
            </a:pPr>
            <a:r>
              <a:rPr sz="1400">
                <a:solidFill>
                  <a:srgbClr val="C4D5E9"/>
                </a:solidFill>
                <a:latin typeface="Segoe UI"/>
                <a:ea typeface="Segoe UI"/>
              </a:rPr>
              <a:t>Sync is how records eventually reach the district — not how care gets delivered. No screen ever waits for it, and no button says "upload" as though the worker were responsible for the network.</a:t>
            </a:r>
          </a:p>
        </p:txBody>
      </p:sp>
      <p:cxnSp>
        <p:nvCxnSpPr>
          <p:cNvPr id="7" name="Straight Connector 7">
            <a:extLst>
              <a:ext uri="{FF2B5EF4-FFF2-40B4-BE49-F238E27FC236}">
                <a16:creationId xmlns:a16="http://schemas.microsoft.com/office/drawing/2014/main" id="{5A2168FF-9A1C-46F9-BBBD-1C965631ECEF}"/>
              </a:ext>
            </a:extLst>
          </p:cNvPr>
          <p:cNvCxnSpPr/>
          <p:nvPr/>
        </p:nvCxnSpPr>
        <p:spPr>
          <a:xfrm>
            <a:off x="762000" y="3143250"/>
            <a:ext cx="10668000" cy="9525"/>
          </a:xfrm>
          <a:prstGeom prst="line">
            <a:avLst/>
          </a:prstGeom>
          <a:ln w="12700" cap="flat">
            <a:solidFill>
              <a:srgbClr val="1B3A5E"/>
            </a:solidFill>
          </a:ln>
        </p:spPr>
      </p:cxnSp>
      <p:sp>
        <p:nvSpPr>
          <p:cNvPr id="8" name="Shape 8">
            <a:extLst>
              <a:ext uri="{FF2B5EF4-FFF2-40B4-BE49-F238E27FC236}">
                <a16:creationId xmlns:a16="http://schemas.microsoft.com/office/drawing/2014/main" id="{2B6ADA75-125D-42C2-BF89-7C1E3BA80F22}"/>
              </a:ext>
            </a:extLst>
          </p:cNvPr>
          <p:cNvSpPr/>
          <p:nvPr/>
        </p:nvSpPr>
        <p:spPr>
          <a:xfrm>
            <a:off x="1552575" y="2933700"/>
            <a:ext cx="419100" cy="419100"/>
          </a:xfrm>
          <a:prstGeom prst="ellipse">
            <a:avLst/>
          </a:prstGeom>
          <a:solidFill>
            <a:srgbClr val="3E8BFF"/>
          </a:solidFill>
        </p:spPr>
        <p:txBody>
          <a:bodyPr wrap="square" rtlCol="0"/>
          <a:lstStyle/>
          <a:p>
            <a:r>
              <a:rPr/>
              <a:t/>
            </a:r>
          </a:p>
        </p:txBody>
      </p:sp>
      <p:sp>
        <p:nvSpPr>
          <p:cNvPr id="9" name="Shape 9">
            <a:extLst>
              <a:ext uri="{FF2B5EF4-FFF2-40B4-BE49-F238E27FC236}">
                <a16:creationId xmlns:a16="http://schemas.microsoft.com/office/drawing/2014/main" id="{8FA8BDB1-EE09-41E6-9A50-CCD2E183C359}"/>
              </a:ext>
            </a:extLst>
          </p:cNvPr>
          <p:cNvSpPr/>
          <p:nvPr/>
        </p:nvSpPr>
        <p:spPr>
          <a:xfrm>
            <a:off x="4314825" y="2933700"/>
            <a:ext cx="419100" cy="419100"/>
          </a:xfrm>
          <a:prstGeom prst="ellipse">
            <a:avLst/>
          </a:prstGeom>
          <a:solidFill>
            <a:srgbClr val="3E8BFF"/>
          </a:solidFill>
        </p:spPr>
        <p:txBody>
          <a:bodyPr wrap="square" rtlCol="0"/>
          <a:lstStyle/>
          <a:p>
            <a:r>
              <a:rPr/>
              <a:t/>
            </a:r>
          </a:p>
        </p:txBody>
      </p:sp>
      <p:sp>
        <p:nvSpPr>
          <p:cNvPr id="10" name="Shape 10">
            <a:extLst>
              <a:ext uri="{FF2B5EF4-FFF2-40B4-BE49-F238E27FC236}">
                <a16:creationId xmlns:a16="http://schemas.microsoft.com/office/drawing/2014/main" id="{36FF174D-A94B-454C-8296-9428B99AF146}"/>
              </a:ext>
            </a:extLst>
          </p:cNvPr>
          <p:cNvSpPr/>
          <p:nvPr/>
        </p:nvSpPr>
        <p:spPr>
          <a:xfrm>
            <a:off x="7077075" y="2933700"/>
            <a:ext cx="419100" cy="419100"/>
          </a:xfrm>
          <a:prstGeom prst="ellipse">
            <a:avLst/>
          </a:prstGeom>
          <a:solidFill>
            <a:srgbClr val="3E8BFF"/>
          </a:solidFill>
        </p:spPr>
        <p:txBody>
          <a:bodyPr wrap="square" rtlCol="0"/>
          <a:lstStyle/>
          <a:p>
            <a:r>
              <a:rPr/>
              <a:t/>
            </a:r>
          </a:p>
        </p:txBody>
      </p:sp>
      <p:sp>
        <p:nvSpPr>
          <p:cNvPr id="11" name="Shape 11">
            <a:extLst>
              <a:ext uri="{FF2B5EF4-FFF2-40B4-BE49-F238E27FC236}">
                <a16:creationId xmlns:a16="http://schemas.microsoft.com/office/drawing/2014/main" id="{1753272F-637B-4E33-8943-42FDD348825A}"/>
              </a:ext>
            </a:extLst>
          </p:cNvPr>
          <p:cNvSpPr/>
          <p:nvPr/>
        </p:nvSpPr>
        <p:spPr>
          <a:xfrm>
            <a:off x="9839325" y="2933700"/>
            <a:ext cx="419100" cy="419100"/>
          </a:xfrm>
          <a:prstGeom prst="ellipse">
            <a:avLst/>
          </a:prstGeom>
          <a:solidFill>
            <a:srgbClr val="3E8BFF"/>
          </a:solidFill>
        </p:spPr>
        <p:txBody>
          <a:bodyPr wrap="square" rtlCol="0"/>
          <a:lstStyle/>
          <a:p>
            <a:r>
              <a:rPr/>
              <a:t/>
            </a:r>
          </a:p>
        </p:txBody>
      </p:sp>
      <p:sp>
        <p:nvSpPr>
          <p:cNvPr id="12" name="TextBox 12">
            <a:extLst>
              <a:ext uri="{FF2B5EF4-FFF2-40B4-BE49-F238E27FC236}">
                <a16:creationId xmlns:a16="http://schemas.microsoft.com/office/drawing/2014/main" id="{F4D8AD01-3A89-437B-8CF4-1EBE403A439A}"/>
              </a:ext>
            </a:extLst>
          </p:cNvPr>
          <p:cNvSpPr txBox="1"/>
          <p:nvPr/>
        </p:nvSpPr>
        <p:spPr>
          <a:xfrm>
            <a:off x="952500" y="2609850"/>
            <a:ext cx="2914650" cy="247650"/>
          </a:xfrm>
        </p:spPr>
        <p:txBody>
          <a:bodyPr wrap="square" rtlCol="0" lIns="0" tIns="0" rIns="0" bIns="0" anchor="t"/>
          <a:lstStyle/>
          <a:p>
            <a:pPr algn="l"/>
            <a:r>
              <a:rPr sz="1350" b="1">
                <a:solidFill>
                  <a:srgbClr val="EAF2FC"/>
                </a:solidFill>
                <a:latin typeface="Segoe UI"/>
                <a:ea typeface="Segoe UI"/>
              </a:rPr>
              <a:t>A write commits locally</a:t>
            </a:r>
          </a:p>
        </p:txBody>
      </p:sp>
      <p:sp>
        <p:nvSpPr>
          <p:cNvPr id="13" name="TextBox 13">
            <a:extLst>
              <a:ext uri="{FF2B5EF4-FFF2-40B4-BE49-F238E27FC236}">
                <a16:creationId xmlns:a16="http://schemas.microsoft.com/office/drawing/2014/main" id="{9BDD989A-47C0-4EA3-BE3E-1E55E63DDE07}"/>
              </a:ext>
            </a:extLst>
          </p:cNvPr>
          <p:cNvSpPr txBox="1"/>
          <p:nvPr/>
        </p:nvSpPr>
        <p:spPr>
          <a:xfrm>
            <a:off x="3714750" y="2609850"/>
            <a:ext cx="2914650" cy="247650"/>
          </a:xfrm>
        </p:spPr>
        <p:txBody>
          <a:bodyPr wrap="square" rtlCol="0" lIns="0" tIns="0" rIns="0" bIns="0" anchor="t"/>
          <a:lstStyle/>
          <a:p>
            <a:pPr algn="l"/>
            <a:r>
              <a:rPr sz="1350" b="1">
                <a:solidFill>
                  <a:srgbClr val="EAF2FC"/>
                </a:solidFill>
                <a:latin typeface="Segoe UI"/>
                <a:ea typeface="Segoe UI"/>
              </a:rPr>
              <a:t>Signal appears</a:t>
            </a:r>
          </a:p>
        </p:txBody>
      </p:sp>
      <p:sp>
        <p:nvSpPr>
          <p:cNvPr id="14" name="TextBox 14">
            <a:extLst>
              <a:ext uri="{FF2B5EF4-FFF2-40B4-BE49-F238E27FC236}">
                <a16:creationId xmlns:a16="http://schemas.microsoft.com/office/drawing/2014/main" id="{9E6D8E0F-7858-42C4-B530-8E90CB5B8F02}"/>
              </a:ext>
            </a:extLst>
          </p:cNvPr>
          <p:cNvSpPr txBox="1"/>
          <p:nvPr/>
        </p:nvSpPr>
        <p:spPr>
          <a:xfrm>
            <a:off x="6477000" y="2609850"/>
            <a:ext cx="2914650" cy="247650"/>
          </a:xfrm>
        </p:spPr>
        <p:txBody>
          <a:bodyPr wrap="square" rtlCol="0" lIns="0" tIns="0" rIns="0" bIns="0" anchor="t"/>
          <a:lstStyle/>
          <a:p>
            <a:pPr algn="l"/>
            <a:r>
              <a:rPr sz="1350" b="1">
                <a:solidFill>
                  <a:srgbClr val="EAF2FC"/>
                </a:solidFill>
                <a:latin typeface="Segoe UI"/>
                <a:ea typeface="Segoe UI"/>
              </a:rPr>
              <a:t>25 rows at a time</a:t>
            </a:r>
          </a:p>
        </p:txBody>
      </p:sp>
      <p:sp>
        <p:nvSpPr>
          <p:cNvPr id="15" name="TextBox 15">
            <a:extLst>
              <a:ext uri="{FF2B5EF4-FFF2-40B4-BE49-F238E27FC236}">
                <a16:creationId xmlns:a16="http://schemas.microsoft.com/office/drawing/2014/main" id="{290098B8-310B-4496-B094-33C32942AE3F}"/>
              </a:ext>
            </a:extLst>
          </p:cNvPr>
          <p:cNvSpPr txBox="1"/>
          <p:nvPr/>
        </p:nvSpPr>
        <p:spPr>
          <a:xfrm>
            <a:off x="9239250" y="2609850"/>
            <a:ext cx="2914650" cy="247650"/>
          </a:xfrm>
        </p:spPr>
        <p:txBody>
          <a:bodyPr wrap="square" rtlCol="0" lIns="0" tIns="0" rIns="0" bIns="0" anchor="t"/>
          <a:lstStyle/>
          <a:p>
            <a:pPr algn="l"/>
            <a:r>
              <a:rPr sz="1350" b="1">
                <a:solidFill>
                  <a:srgbClr val="EAF2FC"/>
                </a:solidFill>
                <a:latin typeface="Segoe UI"/>
                <a:ea typeface="Segoe UI"/>
              </a:rPr>
              <a:t>Delta pull comes back</a:t>
            </a:r>
          </a:p>
        </p:txBody>
      </p:sp>
      <p:sp>
        <p:nvSpPr>
          <p:cNvPr id="16" name="TextBox 16">
            <a:extLst>
              <a:ext uri="{FF2B5EF4-FFF2-40B4-BE49-F238E27FC236}">
                <a16:creationId xmlns:a16="http://schemas.microsoft.com/office/drawing/2014/main" id="{D13E0272-F8D9-4CCB-B190-2385B0DB20E0}"/>
              </a:ext>
            </a:extLst>
          </p:cNvPr>
          <p:cNvSpPr txBox="1"/>
          <p:nvPr/>
        </p:nvSpPr>
        <p:spPr>
          <a:xfrm>
            <a:off x="952500" y="3543300"/>
            <a:ext cx="2914650" cy="1409700"/>
          </a:xfrm>
        </p:spPr>
        <p:txBody>
          <a:bodyPr wrap="square" rtlCol="0" lIns="0" tIns="0" rIns="0" bIns="0" anchor="t"/>
          <a:lstStyle/>
          <a:p>
            <a:pPr algn="l">
              <a:lnSpc>
                <a:spcPct val="118000"/>
              </a:lnSpc>
            </a:pPr>
            <a:r>
              <a:rPr sz="1200">
                <a:solidFill>
                  <a:srgbClr val="9FB4CE"/>
                </a:solidFill>
                <a:latin typeface="Segoe UI"/>
                <a:ea typeface="Segoe UI"/>
              </a:rPr>
              <a:t>The visit, the assessment and its outbox row go in one transaction. The worker carries on; a failed network changes nothing about the care already given.</a:t>
            </a:r>
          </a:p>
        </p:txBody>
      </p:sp>
      <p:sp>
        <p:nvSpPr>
          <p:cNvPr id="17" name="TextBox 17">
            <a:extLst>
              <a:ext uri="{FF2B5EF4-FFF2-40B4-BE49-F238E27FC236}">
                <a16:creationId xmlns:a16="http://schemas.microsoft.com/office/drawing/2014/main" id="{21B866EB-A30B-4CA3-95FF-4270C9CD47DB}"/>
              </a:ext>
            </a:extLst>
          </p:cNvPr>
          <p:cNvSpPr txBox="1"/>
          <p:nvPr/>
        </p:nvSpPr>
        <p:spPr>
          <a:xfrm>
            <a:off x="3714750" y="3543300"/>
            <a:ext cx="2914650" cy="1409700"/>
          </a:xfrm>
        </p:spPr>
        <p:txBody>
          <a:bodyPr wrap="square" rtlCol="0" lIns="0" tIns="0" rIns="0" bIns="0" anchor="t"/>
          <a:lstStyle/>
          <a:p>
            <a:pPr algn="l">
              <a:lnSpc>
                <a:spcPct val="118000"/>
              </a:lnSpc>
            </a:pPr>
            <a:r>
              <a:rPr sz="1200">
                <a:solidFill>
                  <a:srgbClr val="9FB4CE"/>
                </a:solidFill>
                <a:latin typeface="Segoe UI"/>
                <a:ea typeface="Segoe UI"/>
              </a:rPr>
              <a:t>Sync runs when connectivity appears and on a slow timer. It is opportunistic and never blocking, and it is never the critical path of a consultation.</a:t>
            </a:r>
          </a:p>
        </p:txBody>
      </p:sp>
      <p:sp>
        <p:nvSpPr>
          <p:cNvPr id="18" name="TextBox 18">
            <a:extLst>
              <a:ext uri="{FF2B5EF4-FFF2-40B4-BE49-F238E27FC236}">
                <a16:creationId xmlns:a16="http://schemas.microsoft.com/office/drawing/2014/main" id="{D01B690F-5C97-4BCD-BE93-C08D17EEA635}"/>
              </a:ext>
            </a:extLst>
          </p:cNvPr>
          <p:cNvSpPr txBox="1"/>
          <p:nvPr/>
        </p:nvSpPr>
        <p:spPr>
          <a:xfrm>
            <a:off x="6477000" y="3543300"/>
            <a:ext cx="2914650" cy="1409700"/>
          </a:xfrm>
        </p:spPr>
        <p:txBody>
          <a:bodyPr wrap="square" rtlCol="0" lIns="0" tIns="0" rIns="0" bIns="0" anchor="t"/>
          <a:lstStyle/>
          <a:p>
            <a:pPr algn="l">
              <a:lnSpc>
                <a:spcPct val="118000"/>
              </a:lnSpc>
            </a:pPr>
            <a:r>
              <a:rPr sz="1200">
                <a:solidFill>
                  <a:srgbClr val="9FB4CE"/>
                </a:solidFill>
                <a:latin typeface="Segoe UI"/>
                <a:ea typeface="Segoe UI"/>
              </a:rPr>
              <a:t>Each row is marked synced on its own success, so a ninety-second EDGE window that closes halfway still made progress. Urgent referrals leave before routine registrations.</a:t>
            </a:r>
          </a:p>
        </p:txBody>
      </p:sp>
      <p:sp>
        <p:nvSpPr>
          <p:cNvPr id="19" name="TextBox 19">
            <a:extLst>
              <a:ext uri="{FF2B5EF4-FFF2-40B4-BE49-F238E27FC236}">
                <a16:creationId xmlns:a16="http://schemas.microsoft.com/office/drawing/2014/main" id="{10AB898A-FFEA-44E9-9AC6-D6F2D8997FDB}"/>
              </a:ext>
            </a:extLst>
          </p:cNvPr>
          <p:cNvSpPr txBox="1"/>
          <p:nvPr/>
        </p:nvSpPr>
        <p:spPr>
          <a:xfrm>
            <a:off x="9239250" y="3543300"/>
            <a:ext cx="2914650" cy="1409700"/>
          </a:xfrm>
        </p:spPr>
        <p:txBody>
          <a:bodyPr wrap="square" rtlCol="0" lIns="0" tIns="0" rIns="0" bIns="0" anchor="t"/>
          <a:lstStyle/>
          <a:p>
            <a:pPr algn="l">
              <a:lnSpc>
                <a:spcPct val="118000"/>
              </a:lnSpc>
            </a:pPr>
            <a:r>
              <a:rPr sz="1200">
                <a:solidFill>
                  <a:srgbClr val="9FB4CE"/>
                </a:solidFill>
                <a:latin typeface="Segoe UI"/>
                <a:ea typeface="Segoe UI"/>
              </a:rPr>
              <a:t>Pages merge until the server says there are no more. A pull that fails at page 3 of 5 has committed its earlier pages and advanced nothing, so the retry is invisible.</a:t>
            </a:r>
          </a:p>
        </p:txBody>
      </p:sp>
      <p:sp>
        <p:nvSpPr>
          <p:cNvPr id="20" name="Shape 20">
            <a:extLst>
              <a:ext uri="{FF2B5EF4-FFF2-40B4-BE49-F238E27FC236}">
                <a16:creationId xmlns:a16="http://schemas.microsoft.com/office/drawing/2014/main" id="{41CC44E1-D209-4E3A-9477-1FD5C2924EB6}"/>
              </a:ext>
            </a:extLst>
          </p:cNvPr>
          <p:cNvSpPr/>
          <p:nvPr/>
        </p:nvSpPr>
        <p:spPr>
          <a:xfrm>
            <a:off x="762000" y="5086350"/>
            <a:ext cx="10668000" cy="1504950"/>
          </a:xfrm>
          <a:prstGeom prst="roundRect">
            <a:avLst/>
          </a:prstGeom>
          <a:solidFill>
            <a:srgbClr val="0B2138"/>
          </a:solidFill>
        </p:spPr>
        <p:txBody>
          <a:bodyPr wrap="square" rtlCol="0"/>
          <a:lstStyle/>
          <a:p>
            <a:r>
              <a:rPr/>
              <a:t/>
            </a:r>
          </a:p>
        </p:txBody>
      </p:sp>
      <p:sp>
        <p:nvSpPr>
          <p:cNvPr id="21" name="TextBox 21">
            <a:extLst>
              <a:ext uri="{FF2B5EF4-FFF2-40B4-BE49-F238E27FC236}">
                <a16:creationId xmlns:a16="http://schemas.microsoft.com/office/drawing/2014/main" id="{8A87123D-44C1-4BB1-AEA0-8C50C2945F38}"/>
              </a:ext>
            </a:extLst>
          </p:cNvPr>
          <p:cNvSpPr txBox="1"/>
          <p:nvPr/>
        </p:nvSpPr>
        <p:spPr>
          <a:xfrm>
            <a:off x="1066800" y="5238750"/>
            <a:ext cx="4953000" cy="1469136"/>
          </a:xfrm>
        </p:spPr>
        <p:txBody>
          <a:bodyPr wrap="square" rtlCol="0" lIns="0" tIns="0" rIns="0" bIns="0" anchor="t"/>
          <a:lstStyle/>
          <a:p>
            <a:pPr marL="228600" indent="-228600" algn="l">
              <a:lnSpc>
                <a:spcPct val="120000"/>
              </a:lnSpc>
              <a:spcAft>
                <a:spcPts val="1200"/>
              </a:spcAft>
              <a:buChar char="•"/>
            </a:pPr>
            <a:r>
              <a:rPr sz="1200">
                <a:solidFill>
                  <a:srgbClr val="C4D5E9"/>
                </a:solidFill>
                <a:latin typeface="Segoe UI"/>
                <a:ea typeface="Segoe UI"/>
              </a:rPr>
              <a:t>The transport rule sits in the app, in the one door every request passes through — so it holds on web and desktop too, where no platform TLS policy exists to hold it.</a:t>
            </a:r>
          </a:p>
          <a:p>
            <a:pPr marL="228600" indent="-228600" algn="l">
              <a:lnSpc>
                <a:spcPct val="120000"/>
              </a:lnSpc>
              <a:buChar char="•"/>
            </a:pPr>
            <a:r>
              <a:rPr sz="1200">
                <a:solidFill>
                  <a:srgbClr val="C4D5E9"/>
                </a:solidFill>
                <a:latin typeface="Segoe UI"/>
                <a:ea typeface="Segoe UI"/>
              </a:rPr>
              <a:t>Lose the handset, and identity is verified locally against the district's salt and hash before a single record is pulled down. No fabricated accounts outside demo mode.</a:t>
            </a:r>
          </a:p>
        </p:txBody>
      </p:sp>
      <p:sp>
        <p:nvSpPr>
          <p:cNvPr id="22" name="TextBox 22">
            <a:extLst>
              <a:ext uri="{FF2B5EF4-FFF2-40B4-BE49-F238E27FC236}">
                <a16:creationId xmlns:a16="http://schemas.microsoft.com/office/drawing/2014/main" id="{D44E3AFA-351F-4D49-87A5-DFC92B4B5945}"/>
              </a:ext>
            </a:extLst>
          </p:cNvPr>
          <p:cNvSpPr txBox="1"/>
          <p:nvPr/>
        </p:nvSpPr>
        <p:spPr>
          <a:xfrm>
            <a:off x="6286500" y="5238750"/>
            <a:ext cx="4876800" cy="1469136"/>
          </a:xfrm>
        </p:spPr>
        <p:txBody>
          <a:bodyPr wrap="square" rtlCol="0" lIns="0" tIns="0" rIns="0" bIns="0" anchor="t"/>
          <a:lstStyle/>
          <a:p>
            <a:pPr marL="228600" indent="-228600" algn="l">
              <a:lnSpc>
                <a:spcPct val="120000"/>
              </a:lnSpc>
              <a:spcAft>
                <a:spcPts val="1200"/>
              </a:spcAft>
              <a:buChar char="•"/>
            </a:pPr>
            <a:r>
              <a:rPr sz="1200">
                <a:solidFill>
                  <a:srgbClr val="C4D5E9"/>
                </a:solidFill>
                <a:latin typeface="Segoe UI"/>
                <a:ea typeface="Segoe UI"/>
              </a:rPr>
              <a:t>No analytics, no telemetry. Nothing leaves the handset that the sync whitelist did not declare.</a:t>
            </a:r>
          </a:p>
          <a:p>
            <a:pPr marL="228600" indent="-228600" algn="l">
              <a:lnSpc>
                <a:spcPct val="120000"/>
              </a:lnSpc>
              <a:buChar char="•"/>
            </a:pPr>
            <a:r>
              <a:rPr sz="1200" b="1">
                <a:solidFill>
                  <a:srgbClr val="F2A93B"/>
                </a:solidFill>
                <a:latin typeface="Segoe UI"/>
                <a:ea typeface="Segoe UI"/>
              </a:rPr>
              <a:t>Stated plainly, on the device: there is no live district server yet. SyncTransport is the seam, and the bundled loopback transport exercises the whole pipeline end to end without inventing a backend.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1AE2A2D-9869-4E33-A081-FD295791801F}"/>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SECURITY AND COMPLIANCE</a:t>
            </a:r>
          </a:p>
        </p:txBody>
      </p:sp>
      <p:sp>
        <p:nvSpPr>
          <p:cNvPr id="4" name="TextBox 4">
            <a:extLst>
              <a:ext uri="{FF2B5EF4-FFF2-40B4-BE49-F238E27FC236}">
                <a16:creationId xmlns:a16="http://schemas.microsoft.com/office/drawing/2014/main" id="{94CDE094-C323-452C-9455-BE9DB33A15E4}"/>
              </a:ext>
            </a:extLst>
          </p:cNvPr>
          <p:cNvSpPr txBox="1"/>
          <p:nvPr/>
        </p:nvSpPr>
        <p:spPr>
          <a:xfrm>
            <a:off x="762000" y="819150"/>
            <a:ext cx="10668000" cy="495300"/>
          </a:xfrm>
        </p:spPr>
        <p:txBody>
          <a:bodyPr wrap="square" rtlCol="0" lIns="0" tIns="0" rIns="0" bIns="0" anchor="t"/>
          <a:lstStyle/>
          <a:p>
            <a:pPr algn="l">
              <a:lnSpc>
                <a:spcPct val="106000"/>
              </a:lnSpc>
            </a:pPr>
            <a:r>
              <a:rPr sz="2900" b="1">
                <a:solidFill>
                  <a:srgbClr val="EAF2FC"/>
                </a:solidFill>
                <a:latin typeface="Segoe UI"/>
                <a:ea typeface="Segoe UI"/>
              </a:rPr>
              <a:t>A privacy register that cannot drift from the database</a:t>
            </a:r>
          </a:p>
        </p:txBody>
      </p:sp>
      <p:cxnSp>
        <p:nvCxnSpPr>
          <p:cNvPr id="5" name="Straight Connector 5">
            <a:extLst>
              <a:ext uri="{FF2B5EF4-FFF2-40B4-BE49-F238E27FC236}">
                <a16:creationId xmlns:a16="http://schemas.microsoft.com/office/drawing/2014/main" id="{BB2BE984-AA77-4664-98F6-65BD9CD4BED6}"/>
              </a:ext>
            </a:extLst>
          </p:cNvPr>
          <p:cNvCxnSpPr/>
          <p:nvPr/>
        </p:nvCxnSpPr>
        <p:spPr>
          <a:xfrm>
            <a:off x="762000" y="148590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66ACE6C8-6751-495F-9498-F9F837BF2E0D}"/>
              </a:ext>
            </a:extLst>
          </p:cNvPr>
          <p:cNvSpPr txBox="1"/>
          <p:nvPr/>
        </p:nvSpPr>
        <p:spPr>
          <a:xfrm>
            <a:off x="762000" y="1866900"/>
            <a:ext cx="3810000" cy="1170432"/>
          </a:xfrm>
        </p:spPr>
        <p:txBody>
          <a:bodyPr wrap="square" rtlCol="0" lIns="0" tIns="0" rIns="0" bIns="0" anchor="t"/>
          <a:lstStyle/>
          <a:p>
            <a:pPr algn="l">
              <a:lnSpc>
                <a:spcPct val="96000"/>
              </a:lnSpc>
            </a:pPr>
            <a:r>
              <a:rPr sz="8000" b="1">
                <a:solidFill>
                  <a:srgbClr val="3E8BFF"/>
                </a:solidFill>
                <a:latin typeface="Segoe UI"/>
                <a:ea typeface="Segoe UI"/>
              </a:rPr>
              <a:t>28</a:t>
            </a:r>
          </a:p>
        </p:txBody>
      </p:sp>
      <p:sp>
        <p:nvSpPr>
          <p:cNvPr id="7" name="TextBox 7">
            <a:extLst>
              <a:ext uri="{FF2B5EF4-FFF2-40B4-BE49-F238E27FC236}">
                <a16:creationId xmlns:a16="http://schemas.microsoft.com/office/drawing/2014/main" id="{B9B74EBD-50F6-4BD9-9C5D-18C23E71E471}"/>
              </a:ext>
            </a:extLst>
          </p:cNvPr>
          <p:cNvSpPr txBox="1"/>
          <p:nvPr/>
        </p:nvSpPr>
        <p:spPr>
          <a:xfrm>
            <a:off x="762000" y="2971800"/>
            <a:ext cx="3810000" cy="571500"/>
          </a:xfrm>
        </p:spPr>
        <p:txBody>
          <a:bodyPr wrap="square" rtlCol="0" lIns="0" tIns="0" rIns="0" bIns="0" anchor="t"/>
          <a:lstStyle/>
          <a:p>
            <a:pPr algn="l">
              <a:lnSpc>
                <a:spcPct val="116000"/>
              </a:lnSpc>
            </a:pPr>
            <a:r>
              <a:rPr sz="1600" b="1">
                <a:solidFill>
                  <a:srgbClr val="EAF2FC"/>
                </a:solidFill>
                <a:latin typeface="Segoe UI"/>
                <a:ea typeface="Segoe UI"/>
              </a:rPr>
              <a:t>named security controls, each one naming a real file</a:t>
            </a:r>
          </a:p>
        </p:txBody>
      </p:sp>
      <p:sp>
        <p:nvSpPr>
          <p:cNvPr id="8" name="TextBox 8">
            <a:extLst>
              <a:ext uri="{FF2B5EF4-FFF2-40B4-BE49-F238E27FC236}">
                <a16:creationId xmlns:a16="http://schemas.microsoft.com/office/drawing/2014/main" id="{12EC9D88-5CBA-4498-894D-DB681F492E4A}"/>
              </a:ext>
            </a:extLst>
          </p:cNvPr>
          <p:cNvSpPr txBox="1"/>
          <p:nvPr/>
        </p:nvSpPr>
        <p:spPr>
          <a:xfrm>
            <a:off x="762000" y="3619500"/>
            <a:ext cx="3810000" cy="1905000"/>
          </a:xfrm>
        </p:spPr>
        <p:txBody>
          <a:bodyPr wrap="square" rtlCol="0" lIns="0" tIns="0" rIns="0" bIns="0" anchor="t"/>
          <a:lstStyle/>
          <a:p>
            <a:pPr algn="l">
              <a:lnSpc>
                <a:spcPct val="116000"/>
              </a:lnSpc>
              <a:spcAft>
                <a:spcPts val="1400"/>
              </a:spcAft>
            </a:pPr>
            <a:r>
              <a:rPr sz="2000" b="1">
                <a:solidFill>
                  <a:srgbClr val="3E8BFF"/>
                </a:solidFill>
                <a:latin typeface="Segoe UI"/>
                <a:ea typeface="Segoe UI"/>
              </a:rPr>
              <a:t>15  </a:t>
            </a:r>
            <a:r>
              <a:rPr sz="1300">
                <a:solidFill>
                  <a:srgbClr val="C4D5E9"/>
                </a:solidFill>
                <a:latin typeface="Segoe UI"/>
                <a:ea typeface="Segoe UI"/>
              </a:rPr>
              <a:t>in place</a:t>
            </a:r>
          </a:p>
          <a:p>
            <a:pPr algn="l">
              <a:lnSpc>
                <a:spcPct val="116000"/>
              </a:lnSpc>
              <a:spcAft>
                <a:spcPts val="1400"/>
              </a:spcAft>
            </a:pPr>
            <a:r>
              <a:rPr sz="2000" b="1">
                <a:solidFill>
                  <a:srgbClr val="3E8BFF"/>
                </a:solidFill>
                <a:latin typeface="Segoe UI"/>
                <a:ea typeface="Segoe UI"/>
              </a:rPr>
              <a:t>8  </a:t>
            </a:r>
            <a:r>
              <a:rPr sz="1300">
                <a:solidFill>
                  <a:srgbClr val="C4D5E9"/>
                </a:solidFill>
                <a:latin typeface="Segoe UI"/>
                <a:ea typeface="Segoe UI"/>
              </a:rPr>
              <a:t>in place, with a stated limit</a:t>
            </a:r>
          </a:p>
          <a:p>
            <a:pPr algn="l">
              <a:lnSpc>
                <a:spcPct val="116000"/>
              </a:lnSpc>
            </a:pPr>
            <a:r>
              <a:rPr sz="2000" b="1">
                <a:solidFill>
                  <a:srgbClr val="F2A93B"/>
                </a:solidFill>
                <a:latin typeface="Segoe UI"/>
                <a:ea typeface="Segoe UI"/>
              </a:rPr>
              <a:t>4  </a:t>
            </a:r>
            <a:r>
              <a:rPr sz="1300">
                <a:solidFill>
                  <a:srgbClr val="C4D5E9"/>
                </a:solidFill>
                <a:latin typeface="Segoe UI"/>
                <a:ea typeface="Segoe UI"/>
              </a:rPr>
              <a:t>owned by the district, not by this software — and named as theirs rather than quietly dropped from the map</a:t>
            </a:r>
          </a:p>
        </p:txBody>
      </p:sp>
      <p:sp>
        <p:nvSpPr>
          <p:cNvPr id="9" name="TextBox 9">
            <a:extLst>
              <a:ext uri="{FF2B5EF4-FFF2-40B4-BE49-F238E27FC236}">
                <a16:creationId xmlns:a16="http://schemas.microsoft.com/office/drawing/2014/main" id="{09915FC0-EB51-4771-B627-B141FB1FC4EC}"/>
              </a:ext>
            </a:extLst>
          </p:cNvPr>
          <p:cNvSpPr txBox="1"/>
          <p:nvPr/>
        </p:nvSpPr>
        <p:spPr>
          <a:xfrm>
            <a:off x="4953000" y="1866900"/>
            <a:ext cx="6477000" cy="285750"/>
          </a:xfrm>
        </p:spPr>
        <p:txBody>
          <a:bodyPr wrap="square" rtlCol="0" lIns="0" tIns="0" rIns="0" bIns="0" anchor="t"/>
          <a:lstStyle/>
          <a:p>
            <a:pPr algn="l"/>
            <a:r>
              <a:rPr sz="1600" b="1">
                <a:solidFill>
                  <a:srgbClr val="EAF2FC"/>
                </a:solidFill>
                <a:latin typeface="Segoe UI"/>
                <a:ea typeface="Segoe UI"/>
              </a:rPr>
              <a:t>The register is data, in the language of the system it describes</a:t>
            </a:r>
          </a:p>
        </p:txBody>
      </p:sp>
      <p:sp>
        <p:nvSpPr>
          <p:cNvPr id="10" name="TextBox 10">
            <a:extLst>
              <a:ext uri="{FF2B5EF4-FFF2-40B4-BE49-F238E27FC236}">
                <a16:creationId xmlns:a16="http://schemas.microsoft.com/office/drawing/2014/main" id="{D9093432-E5E7-49CB-B3A4-D5A9EB8C61D6}"/>
              </a:ext>
            </a:extLst>
          </p:cNvPr>
          <p:cNvSpPr txBox="1"/>
          <p:nvPr/>
        </p:nvSpPr>
        <p:spPr>
          <a:xfrm>
            <a:off x="4953000" y="2190750"/>
            <a:ext cx="6477000" cy="914400"/>
          </a:xfrm>
        </p:spPr>
        <p:txBody>
          <a:bodyPr wrap="square" rtlCol="0" lIns="0" tIns="0" rIns="0" bIns="0" anchor="t"/>
          <a:lstStyle/>
          <a:p>
            <a:pPr algn="l">
              <a:lnSpc>
                <a:spcPct val="120000"/>
              </a:lnSpc>
            </a:pPr>
            <a:r>
              <a:rPr sz="1200">
                <a:solidFill>
                  <a:srgbClr val="9FB4CE"/>
                </a:solidFill>
                <a:latin typeface="Segoe UI"/>
                <a:ea typeface="Segoe UI"/>
              </a:rPr>
              <a:t>Every table declares its purpose, lawful basis, retention rule and place in the access matrix. CI reconciles that declaration against four artefacts that are not opinions: the local schema, server/schema.sql, the sync whitelist and the pull list. Add a table without declaring it and the build fails; remove one and the register cannot keep claiming it.</a:t>
            </a:r>
          </a:p>
        </p:txBody>
      </p:sp>
      <p:sp>
        <p:nvSpPr>
          <p:cNvPr id="11" name="TextBox 11">
            <a:extLst>
              <a:ext uri="{FF2B5EF4-FFF2-40B4-BE49-F238E27FC236}">
                <a16:creationId xmlns:a16="http://schemas.microsoft.com/office/drawing/2014/main" id="{FF9CB756-EC30-4743-8168-BCE457D442D2}"/>
              </a:ext>
            </a:extLst>
          </p:cNvPr>
          <p:cNvSpPr txBox="1"/>
          <p:nvPr/>
        </p:nvSpPr>
        <p:spPr>
          <a:xfrm>
            <a:off x="4953000" y="3200400"/>
            <a:ext cx="6477000" cy="285750"/>
          </a:xfrm>
        </p:spPr>
        <p:txBody>
          <a:bodyPr wrap="square" rtlCol="0" lIns="0" tIns="0" rIns="0" bIns="0" anchor="t"/>
          <a:lstStyle/>
          <a:p>
            <a:pPr algn="l"/>
            <a:r>
              <a:rPr sz="1600" b="1">
                <a:solidFill>
                  <a:srgbClr val="EAF2FC"/>
                </a:solidFill>
                <a:latin typeface="Segoe UI"/>
                <a:ea typeface="Segoe UI"/>
              </a:rPr>
              <a:t>What is enforced, in one line each</a:t>
            </a:r>
          </a:p>
        </p:txBody>
      </p:sp>
      <p:sp>
        <p:nvSpPr>
          <p:cNvPr id="12" name="TextBox 12">
            <a:extLst>
              <a:ext uri="{FF2B5EF4-FFF2-40B4-BE49-F238E27FC236}">
                <a16:creationId xmlns:a16="http://schemas.microsoft.com/office/drawing/2014/main" id="{FDE769C0-959A-4B3B-8F98-0906C2EC9E5A}"/>
              </a:ext>
            </a:extLst>
          </p:cNvPr>
          <p:cNvSpPr txBox="1"/>
          <p:nvPr/>
        </p:nvSpPr>
        <p:spPr>
          <a:xfrm>
            <a:off x="4953000" y="3524250"/>
            <a:ext cx="6477000" cy="2420112"/>
          </a:xfrm>
        </p:spPr>
        <p:txBody>
          <a:bodyPr wrap="square" rtlCol="0" lIns="0" tIns="0" rIns="0" bIns="0" anchor="t"/>
          <a:lstStyle/>
          <a:p>
            <a:pPr marL="228600" indent="-228600" algn="l">
              <a:lnSpc>
                <a:spcPct val="112000"/>
              </a:lnSpc>
              <a:spcAft>
                <a:spcPts val="900"/>
              </a:spcAft>
              <a:buChar char="•"/>
            </a:pPr>
            <a:r>
              <a:rPr sz="1150">
                <a:solidFill>
                  <a:srgbClr val="C4D5E9"/>
                </a:solidFill>
                <a:latin typeface="Segoe UI"/>
                <a:ea typeface="Segoe UI"/>
              </a:rPr>
              <a:t>SQLCipher with a per-installation 256-bit key — and an install refuses to encrypt with a key it cannot read back.</a:t>
            </a:r>
          </a:p>
          <a:p>
            <a:pPr marL="228600" indent="-228600" algn="l">
              <a:lnSpc>
                <a:spcPct val="112000"/>
              </a:lnSpc>
              <a:spcAft>
                <a:spcPts val="900"/>
              </a:spcAft>
              <a:buChar char="•"/>
            </a:pPr>
            <a:r>
              <a:rPr sz="1150">
                <a:solidFill>
                  <a:srgbClr val="C4D5E9"/>
                </a:solidFill>
                <a:latin typeface="Segoe UI"/>
                <a:ea typeface="Segoe UI"/>
              </a:rPr>
              <a:t>Pre-encryption installs migrate by copy-verify-swap: every table counted on both sides before the original is renamed over.</a:t>
            </a:r>
          </a:p>
          <a:p>
            <a:pPr marL="228600" indent="-228600" algn="l">
              <a:lnSpc>
                <a:spcPct val="112000"/>
              </a:lnSpc>
              <a:spcAft>
                <a:spcPts val="900"/>
              </a:spcAft>
              <a:buChar char="•"/>
            </a:pPr>
            <a:r>
              <a:rPr sz="1150">
                <a:solidFill>
                  <a:srgbClr val="C4D5E9"/>
                </a:solidFill>
                <a:latin typeface="Segoe UI"/>
                <a:ea typeface="Segoe UI"/>
              </a:rPr>
              <a:t>Permissions enforced in the repository, not the UI; sensitive-record class, break-glass, inactivity lock, screen-capture block.</a:t>
            </a:r>
          </a:p>
          <a:p>
            <a:pPr marL="228600" indent="-228600" algn="l">
              <a:lnSpc>
                <a:spcPct val="112000"/>
              </a:lnSpc>
              <a:spcAft>
                <a:spcPts val="900"/>
              </a:spcAft>
              <a:buChar char="•"/>
            </a:pPr>
            <a:r>
              <a:rPr sz="1150">
                <a:solidFill>
                  <a:srgbClr val="C4D5E9"/>
                </a:solidFill>
                <a:latin typeface="Segoe UI"/>
                <a:ea typeface="Segoe UI"/>
              </a:rPr>
              <a:t>Consent as history, an access ledger of who read what, tamper-evident trail, chain anchoring, district-side read audit.</a:t>
            </a:r>
          </a:p>
          <a:p>
            <a:pPr marL="228600" indent="-228600" algn="l">
              <a:lnSpc>
                <a:spcPct val="112000"/>
              </a:lnSpc>
              <a:buChar char="•"/>
            </a:pPr>
            <a:r>
              <a:rPr sz="1150">
                <a:solidFill>
                  <a:srgbClr val="C4D5E9"/>
                </a:solidFill>
                <a:latin typeface="Segoe UI"/>
                <a:ea typeface="Segoe UI"/>
              </a:rPr>
              <a:t>Erasure and access rights carry a statutory deadline; minimisation happens at the edge; research export is field-minimised.</a:t>
            </a:r>
          </a:p>
        </p:txBody>
      </p:sp>
      <p:sp>
        <p:nvSpPr>
          <p:cNvPr id="13" name="Shape 13">
            <a:extLst>
              <a:ext uri="{FF2B5EF4-FFF2-40B4-BE49-F238E27FC236}">
                <a16:creationId xmlns:a16="http://schemas.microsoft.com/office/drawing/2014/main" id="{77F9B2F0-84E5-40C8-A2F1-24139A00F9DD}"/>
              </a:ext>
            </a:extLst>
          </p:cNvPr>
          <p:cNvSpPr/>
          <p:nvPr/>
        </p:nvSpPr>
        <p:spPr>
          <a:xfrm>
            <a:off x="762000" y="5695950"/>
            <a:ext cx="10668000" cy="914400"/>
          </a:xfrm>
          <a:prstGeom prst="roundRect">
            <a:avLst/>
          </a:prstGeom>
          <a:solidFill>
            <a:srgbClr val="123456"/>
          </a:solidFill>
        </p:spPr>
        <p:txBody>
          <a:bodyPr wrap="square" rtlCol="0"/>
          <a:lstStyle/>
          <a:p>
            <a:r>
              <a:rPr/>
              <a:t/>
            </a:r>
          </a:p>
        </p:txBody>
      </p:sp>
      <p:sp>
        <p:nvSpPr>
          <p:cNvPr id="14" name="TextBox 14">
            <a:extLst>
              <a:ext uri="{FF2B5EF4-FFF2-40B4-BE49-F238E27FC236}">
                <a16:creationId xmlns:a16="http://schemas.microsoft.com/office/drawing/2014/main" id="{156FF79C-6D6B-4472-8E81-F4AA5A87DEFE}"/>
              </a:ext>
            </a:extLst>
          </p:cNvPr>
          <p:cNvSpPr txBox="1"/>
          <p:nvPr/>
        </p:nvSpPr>
        <p:spPr>
          <a:xfrm>
            <a:off x="1066800" y="5829300"/>
            <a:ext cx="10058400" cy="964794"/>
          </a:xfrm>
        </p:spPr>
        <p:txBody>
          <a:bodyPr wrap="square" rtlCol="0" lIns="0" tIns="0" rIns="0" bIns="0" anchor="t"/>
          <a:lstStyle/>
          <a:p>
            <a:pPr algn="l">
              <a:lnSpc>
                <a:spcPct val="118000"/>
              </a:lnSpc>
              <a:spcAft>
                <a:spcPts val="800"/>
              </a:spcAft>
            </a:pPr>
            <a:r>
              <a:rPr sz="1200" b="1">
                <a:solidFill>
                  <a:srgbClr val="F2A93B"/>
                </a:solidFill>
                <a:latin typeface="Segoe UI"/>
                <a:ea typeface="Segoe UI"/>
              </a:rPr>
              <a:t>It does not rate itself "compliant". </a:t>
            </a:r>
            <a:r>
              <a:rPr sz="1200">
                <a:solidFill>
                  <a:srgbClr val="C4D5E9"/>
                </a:solidFill>
                <a:latin typeface="Segoe UI"/>
                <a:ea typeface="Segoe UI"/>
              </a:rPr>
              <a:t>Web and desktop builds have no SQLCipher engine, so the posture card on those platforms says "not encrypted at rest" instead of claiming a protection it does not have.</a:t>
            </a:r>
          </a:p>
          <a:p>
            <a:pPr algn="l">
              <a:lnSpc>
                <a:spcPct val="118000"/>
              </a:lnSpc>
            </a:pPr>
            <a:r>
              <a:rPr sz="1200">
                <a:solidFill>
                  <a:srgbClr val="8FA6C2"/>
                </a:solidFill>
                <a:latin typeface="Segoe UI"/>
                <a:ea typeface="Segoe UI"/>
              </a:rPr>
              <a:t>Mapped, not name-dropped: Ghana Data Protection Act 843 (s.26 security of processed data, s.27 responsibility) · HIPAA 45 CFR 164.312 · OWASP MASVS STORAGE / PLATFORM / CRYPTO.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81A31"/>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E2283D2F-3BA8-4F99-A912-FCB785245F5F}"/>
              </a:ext>
            </a:extLst>
          </p:cNvPr>
          <p:cNvSpPr txBox="1"/>
          <p:nvPr/>
        </p:nvSpPr>
        <p:spPr>
          <a:xfrm>
            <a:off x="762000" y="514350"/>
            <a:ext cx="9525000" cy="228600"/>
          </a:xfrm>
        </p:spPr>
        <p:txBody>
          <a:bodyPr wrap="square" rtlCol="0" lIns="0" tIns="0" rIns="0" bIns="0" anchor="t"/>
          <a:lstStyle/>
          <a:p>
            <a:pPr algn="l"/>
            <a:r>
              <a:rPr sz="1150" b="1">
                <a:solidFill>
                  <a:srgbClr val="5F7899"/>
                </a:solidFill>
                <a:latin typeface="Segoe UI"/>
                <a:ea typeface="Segoe UI"/>
              </a:rPr>
              <a:t>PROOF</a:t>
            </a:r>
          </a:p>
        </p:txBody>
      </p:sp>
      <p:sp>
        <p:nvSpPr>
          <p:cNvPr id="4" name="TextBox 4">
            <a:extLst>
              <a:ext uri="{FF2B5EF4-FFF2-40B4-BE49-F238E27FC236}">
                <a16:creationId xmlns:a16="http://schemas.microsoft.com/office/drawing/2014/main" id="{E7F6B49E-FCE2-4B76-A5E1-C296EC554C6A}"/>
              </a:ext>
            </a:extLst>
          </p:cNvPr>
          <p:cNvSpPr txBox="1"/>
          <p:nvPr/>
        </p:nvSpPr>
        <p:spPr>
          <a:xfrm>
            <a:off x="762000" y="819150"/>
            <a:ext cx="10668000" cy="495300"/>
          </a:xfrm>
        </p:spPr>
        <p:txBody>
          <a:bodyPr wrap="square" rtlCol="0" lIns="0" tIns="0" rIns="0" bIns="0" anchor="t"/>
          <a:lstStyle/>
          <a:p>
            <a:pPr algn="l">
              <a:lnSpc>
                <a:spcPct val="106000"/>
              </a:lnSpc>
            </a:pPr>
            <a:r>
              <a:rPr sz="3000" b="1">
                <a:solidFill>
                  <a:srgbClr val="EAF2FC"/>
                </a:solidFill>
                <a:latin typeface="Segoe UI"/>
                <a:ea typeface="Segoe UI"/>
              </a:rPr>
              <a:t>Nothing here asks you to take it on faith</a:t>
            </a:r>
          </a:p>
        </p:txBody>
      </p:sp>
      <p:cxnSp>
        <p:nvCxnSpPr>
          <p:cNvPr id="5" name="Straight Connector 5">
            <a:extLst>
              <a:ext uri="{FF2B5EF4-FFF2-40B4-BE49-F238E27FC236}">
                <a16:creationId xmlns:a16="http://schemas.microsoft.com/office/drawing/2014/main" id="{8EFF9E8B-4C79-4606-8FDF-43164814CF30}"/>
              </a:ext>
            </a:extLst>
          </p:cNvPr>
          <p:cNvCxnSpPr/>
          <p:nvPr/>
        </p:nvCxnSpPr>
        <p:spPr>
          <a:xfrm>
            <a:off x="762000" y="1485900"/>
            <a:ext cx="10668000" cy="9525"/>
          </a:xfrm>
          <a:prstGeom prst="line">
            <a:avLst/>
          </a:prstGeom>
          <a:ln w="12700" cap="flat">
            <a:solidFill>
              <a:srgbClr val="24486F"/>
            </a:solidFill>
          </a:ln>
        </p:spPr>
      </p:cxnSp>
      <p:sp>
        <p:nvSpPr>
          <p:cNvPr id="6" name="TextBox 6">
            <a:extLst>
              <a:ext uri="{FF2B5EF4-FFF2-40B4-BE49-F238E27FC236}">
                <a16:creationId xmlns:a16="http://schemas.microsoft.com/office/drawing/2014/main" id="{9301AE77-9FA4-4A6F-AF62-EBEBA84522A6}"/>
              </a:ext>
            </a:extLst>
          </p:cNvPr>
          <p:cNvSpPr txBox="1"/>
          <p:nvPr/>
        </p:nvSpPr>
        <p:spPr>
          <a:xfrm>
            <a:off x="762000" y="1790700"/>
            <a:ext cx="1428750" cy="495300"/>
          </a:xfrm>
        </p:spPr>
        <p:txBody>
          <a:bodyPr wrap="square" rtlCol="0" lIns="0" tIns="0" rIns="0" bIns="0" anchor="t"/>
          <a:lstStyle/>
          <a:p>
            <a:pPr algn="l">
              <a:lnSpc>
                <a:spcPct val="100000"/>
              </a:lnSpc>
            </a:pPr>
            <a:r>
              <a:rPr sz="3000" b="1">
                <a:solidFill>
                  <a:srgbClr val="3E8BFF"/>
                </a:solidFill>
                <a:latin typeface="Segoe UI"/>
                <a:ea typeface="Segoe UI"/>
              </a:rPr>
              <a:t>1,239</a:t>
            </a:r>
          </a:p>
        </p:txBody>
      </p:sp>
      <p:sp>
        <p:nvSpPr>
          <p:cNvPr id="7" name="TextBox 7">
            <a:extLst>
              <a:ext uri="{FF2B5EF4-FFF2-40B4-BE49-F238E27FC236}">
                <a16:creationId xmlns:a16="http://schemas.microsoft.com/office/drawing/2014/main" id="{38E0AC3F-4A84-4F8B-AB0A-D29AE60AE672}"/>
              </a:ext>
            </a:extLst>
          </p:cNvPr>
          <p:cNvSpPr txBox="1"/>
          <p:nvPr/>
        </p:nvSpPr>
        <p:spPr>
          <a:xfrm>
            <a:off x="2343150" y="1847850"/>
            <a:ext cx="3752850" cy="687222"/>
          </a:xfrm>
        </p:spPr>
        <p:txBody>
          <a:bodyPr wrap="square" rtlCol="0" lIns="0" tIns="0" rIns="0" bIns="0" anchor="t"/>
          <a:lstStyle/>
          <a:p>
            <a:pPr algn="l">
              <a:lnSpc>
                <a:spcPct val="116000"/>
              </a:lnSpc>
              <a:spcAft>
                <a:spcPts val="400"/>
              </a:spcAft>
            </a:pPr>
            <a:r>
              <a:rPr sz="1300" b="1">
                <a:solidFill>
                  <a:srgbClr val="EAF2FC"/>
                </a:solidFill>
                <a:latin typeface="Segoe UI"/>
                <a:ea typeface="Segoe UI"/>
              </a:rPr>
              <a:t>tests passing, 9 skipped</a:t>
            </a:r>
          </a:p>
          <a:p>
            <a:pPr algn="l">
              <a:lnSpc>
                <a:spcPct val="116000"/>
              </a:lnSpc>
            </a:pPr>
            <a:r>
              <a:rPr sz="1150">
                <a:solidFill>
                  <a:srgbClr val="8FA6C2"/>
                </a:solidFill>
                <a:latin typeface="Segoe UI"/>
                <a:ea typeface="Segoe UI"/>
              </a:rPr>
              <a:t>111 test files across 234 Dart sources; clean analyzer; the browser build compiles.</a:t>
            </a:r>
          </a:p>
        </p:txBody>
      </p:sp>
      <p:sp>
        <p:nvSpPr>
          <p:cNvPr id="8" name="TextBox 8">
            <a:extLst>
              <a:ext uri="{FF2B5EF4-FFF2-40B4-BE49-F238E27FC236}">
                <a16:creationId xmlns:a16="http://schemas.microsoft.com/office/drawing/2014/main" id="{A0A880AE-D448-4A11-96A1-C9140A231A5B}"/>
              </a:ext>
            </a:extLst>
          </p:cNvPr>
          <p:cNvSpPr txBox="1"/>
          <p:nvPr/>
        </p:nvSpPr>
        <p:spPr>
          <a:xfrm>
            <a:off x="762000" y="2667000"/>
            <a:ext cx="1428750" cy="495300"/>
          </a:xfrm>
        </p:spPr>
        <p:txBody>
          <a:bodyPr wrap="square" rtlCol="0" lIns="0" tIns="0" rIns="0" bIns="0" anchor="t"/>
          <a:lstStyle/>
          <a:p>
            <a:pPr algn="l">
              <a:lnSpc>
                <a:spcPct val="100000"/>
              </a:lnSpc>
            </a:pPr>
            <a:r>
              <a:rPr sz="3000" b="1">
                <a:solidFill>
                  <a:srgbClr val="3E8BFF"/>
                </a:solidFill>
                <a:latin typeface="Segoe UI"/>
                <a:ea typeface="Segoe UI"/>
              </a:rPr>
              <a:t>1.7e-6</a:t>
            </a:r>
          </a:p>
        </p:txBody>
      </p:sp>
      <p:sp>
        <p:nvSpPr>
          <p:cNvPr id="9" name="TextBox 9">
            <a:extLst>
              <a:ext uri="{FF2B5EF4-FFF2-40B4-BE49-F238E27FC236}">
                <a16:creationId xmlns:a16="http://schemas.microsoft.com/office/drawing/2014/main" id="{4757F319-1A36-4855-B51A-9DF5CBBE7D31}"/>
              </a:ext>
            </a:extLst>
          </p:cNvPr>
          <p:cNvSpPr txBox="1"/>
          <p:nvPr/>
        </p:nvSpPr>
        <p:spPr>
          <a:xfrm>
            <a:off x="2343150" y="2724150"/>
            <a:ext cx="3752850" cy="890524"/>
          </a:xfrm>
        </p:spPr>
        <p:txBody>
          <a:bodyPr wrap="square" rtlCol="0" lIns="0" tIns="0" rIns="0" bIns="0" anchor="t"/>
          <a:lstStyle/>
          <a:p>
            <a:pPr algn="l">
              <a:lnSpc>
                <a:spcPct val="116000"/>
              </a:lnSpc>
              <a:spcAft>
                <a:spcPts val="400"/>
              </a:spcAft>
            </a:pPr>
            <a:r>
              <a:rPr sz="1300" b="1">
                <a:solidFill>
                  <a:srgbClr val="EAF2FC"/>
                </a:solidFill>
                <a:latin typeface="Segoe UI"/>
                <a:ea typeface="Segoe UI"/>
              </a:rPr>
              <a:t>frontends replayed against the real tooling</a:t>
            </a:r>
          </a:p>
          <a:p>
            <a:pPr algn="l">
              <a:lnSpc>
                <a:spcPct val="116000"/>
              </a:lnSpc>
            </a:pPr>
            <a:r>
              <a:rPr sz="1150">
                <a:solidFill>
                  <a:srgbClr val="8FA6C2"/>
                </a:solidFill>
                <a:latin typeface="Segoe UI"/>
                <a:ea typeface="Segoe UI"/>
              </a:rPr>
              <a:t>The Dart filter bank must match the HuggingFace processor to 1e-5; the waveform normalisation is pinned the same way.</a:t>
            </a:r>
          </a:p>
        </p:txBody>
      </p:sp>
      <p:sp>
        <p:nvSpPr>
          <p:cNvPr id="10" name="TextBox 10">
            <a:extLst>
              <a:ext uri="{FF2B5EF4-FFF2-40B4-BE49-F238E27FC236}">
                <a16:creationId xmlns:a16="http://schemas.microsoft.com/office/drawing/2014/main" id="{3B826812-A0C4-402E-BABC-3BD133E52292}"/>
              </a:ext>
            </a:extLst>
          </p:cNvPr>
          <p:cNvSpPr txBox="1"/>
          <p:nvPr/>
        </p:nvSpPr>
        <p:spPr>
          <a:xfrm>
            <a:off x="762000" y="3543300"/>
            <a:ext cx="1428750" cy="495300"/>
          </a:xfrm>
        </p:spPr>
        <p:txBody>
          <a:bodyPr wrap="square" rtlCol="0" lIns="0" tIns="0" rIns="0" bIns="0" anchor="t"/>
          <a:lstStyle/>
          <a:p>
            <a:pPr algn="l">
              <a:lnSpc>
                <a:spcPct val="100000"/>
              </a:lnSpc>
            </a:pPr>
            <a:r>
              <a:rPr sz="3000" b="1">
                <a:solidFill>
                  <a:srgbClr val="3E8BFF"/>
                </a:solidFill>
                <a:latin typeface="Segoe UI"/>
                <a:ea typeface="Segoe UI"/>
              </a:rPr>
              <a:t>2</a:t>
            </a:r>
          </a:p>
        </p:txBody>
      </p:sp>
      <p:sp>
        <p:nvSpPr>
          <p:cNvPr id="11" name="TextBox 11">
            <a:extLst>
              <a:ext uri="{FF2B5EF4-FFF2-40B4-BE49-F238E27FC236}">
                <a16:creationId xmlns:a16="http://schemas.microsoft.com/office/drawing/2014/main" id="{04512BF3-7AA0-4573-8279-D923BEC30C72}"/>
              </a:ext>
            </a:extLst>
          </p:cNvPr>
          <p:cNvSpPr txBox="1"/>
          <p:nvPr/>
        </p:nvSpPr>
        <p:spPr>
          <a:xfrm>
            <a:off x="2343150" y="3600450"/>
            <a:ext cx="3752850" cy="890524"/>
          </a:xfrm>
        </p:spPr>
        <p:txBody>
          <a:bodyPr wrap="square" rtlCol="0" lIns="0" tIns="0" rIns="0" bIns="0" anchor="t"/>
          <a:lstStyle/>
          <a:p>
            <a:pPr algn="l">
              <a:lnSpc>
                <a:spcPct val="116000"/>
              </a:lnSpc>
              <a:spcAft>
                <a:spcPts val="400"/>
              </a:spcAft>
            </a:pPr>
            <a:r>
              <a:rPr sz="1300" b="1">
                <a:solidFill>
                  <a:srgbClr val="EAF2FC"/>
                </a:solidFill>
                <a:latin typeface="Segoe UI"/>
                <a:ea typeface="Segoe UI"/>
              </a:rPr>
              <a:t>real defects found by playing real audio</a:t>
            </a:r>
          </a:p>
          <a:p>
            <a:pPr algn="l">
              <a:lnSpc>
                <a:spcPct val="116000"/>
              </a:lnSpc>
            </a:pPr>
            <a:r>
              <a:rPr sz="1150">
                <a:solidFill>
                  <a:srgbClr val="8FA6C2"/>
                </a:solidFill>
                <a:latin typeface="Segoe UI"/>
                <a:ea typeface="Segoe UI"/>
              </a:rPr>
              <a:t>An encoder handing the decoder raw logits instead of probabilities, and a CTC path charging a blank frame between every pair of letters. No mock caught either.</a:t>
            </a:r>
          </a:p>
        </p:txBody>
      </p:sp>
      <p:sp>
        <p:nvSpPr>
          <p:cNvPr id="12" name="TextBox 12">
            <a:extLst>
              <a:ext uri="{FF2B5EF4-FFF2-40B4-BE49-F238E27FC236}">
                <a16:creationId xmlns:a16="http://schemas.microsoft.com/office/drawing/2014/main" id="{0E863A18-6124-4682-B05C-FC246798908A}"/>
              </a:ext>
            </a:extLst>
          </p:cNvPr>
          <p:cNvSpPr txBox="1"/>
          <p:nvPr/>
        </p:nvSpPr>
        <p:spPr>
          <a:xfrm>
            <a:off x="762000" y="4419600"/>
            <a:ext cx="1428750" cy="495300"/>
          </a:xfrm>
        </p:spPr>
        <p:txBody>
          <a:bodyPr wrap="square" rtlCol="0" lIns="0" tIns="0" rIns="0" bIns="0" anchor="t"/>
          <a:lstStyle/>
          <a:p>
            <a:pPr algn="l">
              <a:lnSpc>
                <a:spcPct val="100000"/>
              </a:lnSpc>
            </a:pPr>
            <a:r>
              <a:rPr sz="3000" b="1">
                <a:solidFill>
                  <a:srgbClr val="3E8BFF"/>
                </a:solidFill>
                <a:latin typeface="Segoe UI"/>
                <a:ea typeface="Segoe UI"/>
              </a:rPr>
              <a:t>CI</a:t>
            </a:r>
          </a:p>
        </p:txBody>
      </p:sp>
      <p:sp>
        <p:nvSpPr>
          <p:cNvPr id="13" name="TextBox 13">
            <a:extLst>
              <a:ext uri="{FF2B5EF4-FFF2-40B4-BE49-F238E27FC236}">
                <a16:creationId xmlns:a16="http://schemas.microsoft.com/office/drawing/2014/main" id="{F84A2397-9066-41ED-B4F9-7258E3D3482E}"/>
              </a:ext>
            </a:extLst>
          </p:cNvPr>
          <p:cNvSpPr txBox="1"/>
          <p:nvPr/>
        </p:nvSpPr>
        <p:spPr>
          <a:xfrm>
            <a:off x="2343150" y="4476750"/>
            <a:ext cx="3752850" cy="1093826"/>
          </a:xfrm>
        </p:spPr>
        <p:txBody>
          <a:bodyPr wrap="square" rtlCol="0" lIns="0" tIns="0" rIns="0" bIns="0" anchor="t"/>
          <a:lstStyle/>
          <a:p>
            <a:pPr algn="l">
              <a:lnSpc>
                <a:spcPct val="116000"/>
              </a:lnSpc>
              <a:spcAft>
                <a:spcPts val="400"/>
              </a:spcAft>
            </a:pPr>
            <a:r>
              <a:rPr sz="1300" b="1">
                <a:solidFill>
                  <a:srgbClr val="EAF2FC"/>
                </a:solidFill>
                <a:latin typeface="Segoe UI"/>
                <a:ea typeface="Segoe UI"/>
              </a:rPr>
              <a:t>safety properties, tested not reviewed</a:t>
            </a:r>
          </a:p>
          <a:p>
            <a:pPr algn="l">
              <a:lnSpc>
                <a:spcPct val="116000"/>
              </a:lnSpc>
            </a:pPr>
            <a:r>
              <a:rPr sz="1150">
                <a:solidFill>
                  <a:srgbClr val="8FA6C2"/>
                </a:solidFill>
                <a:latin typeface="Segoe UI"/>
                <a:ea typeface="Segoe UI"/>
              </a:rPr>
              <a:t>A settled referral cannot reopen; arrival is not treatment; a facility cannot record a refusal; a drift-flagged age is caught; an unspellable answer turns voice off; governance must match the schema.</a:t>
            </a:r>
          </a:p>
        </p:txBody>
      </p:sp>
      <p:sp>
        <p:nvSpPr>
          <p:cNvPr id="14" name="Shape 14">
            <a:extLst>
              <a:ext uri="{FF2B5EF4-FFF2-40B4-BE49-F238E27FC236}">
                <a16:creationId xmlns:a16="http://schemas.microsoft.com/office/drawing/2014/main" id="{57572648-19A9-4036-B3B7-768399EABEFB}"/>
              </a:ext>
            </a:extLst>
          </p:cNvPr>
          <p:cNvSpPr/>
          <p:nvPr/>
        </p:nvSpPr>
        <p:spPr>
          <a:xfrm>
            <a:off x="6477000" y="1790700"/>
            <a:ext cx="4953000" cy="3848100"/>
          </a:xfrm>
          <a:prstGeom prst="roundRect">
            <a:avLst/>
          </a:prstGeom>
          <a:solidFill>
            <a:srgbClr val="123456"/>
          </a:solidFill>
        </p:spPr>
        <p:txBody>
          <a:bodyPr wrap="square" rtlCol="0"/>
          <a:lstStyle/>
          <a:p>
            <a:r>
              <a:rPr/>
              <a:t/>
            </a:r>
          </a:p>
        </p:txBody>
      </p:sp>
      <p:sp>
        <p:nvSpPr>
          <p:cNvPr id="15" name="TextBox 15">
            <a:extLst>
              <a:ext uri="{FF2B5EF4-FFF2-40B4-BE49-F238E27FC236}">
                <a16:creationId xmlns:a16="http://schemas.microsoft.com/office/drawing/2014/main" id="{A8E958A4-F107-4F17-82C8-EC0B5C9BC339}"/>
              </a:ext>
            </a:extLst>
          </p:cNvPr>
          <p:cNvSpPr txBox="1"/>
          <p:nvPr/>
        </p:nvSpPr>
        <p:spPr>
          <a:xfrm>
            <a:off x="6743700" y="2019300"/>
            <a:ext cx="4419600" cy="304800"/>
          </a:xfrm>
        </p:spPr>
        <p:txBody>
          <a:bodyPr wrap="square" rtlCol="0" lIns="0" tIns="0" rIns="0" bIns="0" anchor="t"/>
          <a:lstStyle/>
          <a:p>
            <a:pPr algn="l"/>
            <a:r>
              <a:rPr sz="1600" b="1">
                <a:solidFill>
                  <a:srgbClr val="F2A93B"/>
                </a:solidFill>
                <a:latin typeface="Segoe UI"/>
                <a:ea typeface="Segoe UI"/>
              </a:rPr>
              <a:t>What is not done, said plainly</a:t>
            </a:r>
          </a:p>
        </p:txBody>
      </p:sp>
      <p:sp>
        <p:nvSpPr>
          <p:cNvPr id="16" name="TextBox 16">
            <a:extLst>
              <a:ext uri="{FF2B5EF4-FFF2-40B4-BE49-F238E27FC236}">
                <a16:creationId xmlns:a16="http://schemas.microsoft.com/office/drawing/2014/main" id="{4A0F3C53-0847-4FD4-A37E-7F3B94E8E7CC}"/>
              </a:ext>
            </a:extLst>
          </p:cNvPr>
          <p:cNvSpPr txBox="1"/>
          <p:nvPr/>
        </p:nvSpPr>
        <p:spPr>
          <a:xfrm>
            <a:off x="6743700" y="2381250"/>
            <a:ext cx="4419600" cy="3055315"/>
          </a:xfrm>
        </p:spPr>
        <p:txBody>
          <a:bodyPr wrap="square" rtlCol="0" lIns="0" tIns="0" rIns="0" bIns="0" anchor="t"/>
          <a:lstStyle/>
          <a:p>
            <a:pPr marL="228600" indent="-228600" algn="l">
              <a:lnSpc>
                <a:spcPct val="114000"/>
              </a:lnSpc>
              <a:spcAft>
                <a:spcPts val="1200"/>
              </a:spcAft>
              <a:buChar char="•"/>
            </a:pPr>
            <a:r>
              <a:rPr sz="1200">
                <a:solidFill>
                  <a:srgbClr val="EAF2FC"/>
                </a:solidFill>
                <a:latin typeface="Segoe UI"/>
                <a:ea typeface="Segoe UI"/>
              </a:rPr>
              <a:t>The district server is a loopback transport, not a live backend.</a:t>
            </a:r>
          </a:p>
          <a:p>
            <a:pPr marL="228600" indent="-228600" algn="l">
              <a:lnSpc>
                <a:spcPct val="114000"/>
              </a:lnSpc>
              <a:spcAft>
                <a:spcPts val="1200"/>
              </a:spcAft>
              <a:buChar char="•"/>
            </a:pPr>
            <a:r>
              <a:rPr sz="1200">
                <a:solidFill>
                  <a:srgbClr val="EAF2FC"/>
                </a:solidFill>
                <a:latin typeface="Segoe UI"/>
                <a:ea typeface="Segoe UI"/>
              </a:rPr>
              <a:t>The ASR packs are 355 MB and 876 MB and are not shipped; they are not phone-sized yet.</a:t>
            </a:r>
          </a:p>
          <a:p>
            <a:pPr marL="228600" indent="-228600" algn="l">
              <a:lnSpc>
                <a:spcPct val="114000"/>
              </a:lnSpc>
              <a:spcAft>
                <a:spcPts val="1200"/>
              </a:spcAft>
              <a:buChar char="•"/>
            </a:pPr>
            <a:r>
              <a:rPr sz="1200">
                <a:solidFill>
                  <a:srgbClr val="EAF2FC"/>
                </a:solidFill>
                <a:latin typeface="Segoe UI"/>
                <a:ea typeface="Segoe UI"/>
              </a:rPr>
              <a:t>No native ear has signed off an accent, which is why every spoken answer stays verified: false.</a:t>
            </a:r>
          </a:p>
          <a:p>
            <a:pPr marL="228600" indent="-228600" algn="l">
              <a:lnSpc>
                <a:spcPct val="114000"/>
              </a:lnSpc>
              <a:spcAft>
                <a:spcPts val="1200"/>
              </a:spcAft>
              <a:buChar char="•"/>
            </a:pPr>
            <a:r>
              <a:rPr sz="1200">
                <a:solidFill>
                  <a:srgbClr val="EAF2FC"/>
                </a:solidFill>
                <a:latin typeface="Segoe UI"/>
                <a:ea typeface="Segoe UI"/>
              </a:rPr>
              <a:t>The human-recorded Dagbani voice pack is still recording-pending.</a:t>
            </a:r>
          </a:p>
          <a:p>
            <a:pPr marL="228600" indent="-228600" algn="l">
              <a:lnSpc>
                <a:spcPct val="114000"/>
              </a:lnSpc>
              <a:spcAft>
                <a:spcPts val="1200"/>
              </a:spcAft>
              <a:buChar char="•"/>
            </a:pPr>
            <a:r>
              <a:rPr sz="1200">
                <a:solidFill>
                  <a:srgbClr val="EAF2FC"/>
                </a:solidFill>
                <a:latin typeface="Segoe UI"/>
                <a:ea typeface="Segoe UI"/>
              </a:rPr>
              <a:t>Three of four risk models are distilled from Ghana-prior simulators, awaiting a real cohort.</a:t>
            </a:r>
          </a:p>
          <a:p>
            <a:pPr marL="228600" indent="-228600" algn="l">
              <a:lnSpc>
                <a:spcPct val="114000"/>
              </a:lnSpc>
              <a:buChar char="•"/>
            </a:pPr>
            <a:r>
              <a:rPr sz="1200">
                <a:solidFill>
                  <a:srgbClr val="EAF2FC"/>
                </a:solidFill>
                <a:latin typeface="Segoe UI"/>
                <a:ea typeface="Segoe UI"/>
              </a:rPr>
              <a:t>Nothing here has been clinically validated in Northern Ghana yet, and no model may make a decision.</a:t>
            </a:r>
          </a:p>
        </p:txBody>
      </p:sp>
      <p:sp>
        <p:nvSpPr>
          <p:cNvPr id="17" name="TextBox 17">
            <a:extLst>
              <a:ext uri="{FF2B5EF4-FFF2-40B4-BE49-F238E27FC236}">
                <a16:creationId xmlns:a16="http://schemas.microsoft.com/office/drawing/2014/main" id="{3D9C5FAD-EF60-45A1-B25A-8766567967EB}"/>
              </a:ext>
            </a:extLst>
          </p:cNvPr>
          <p:cNvSpPr txBox="1"/>
          <p:nvPr/>
        </p:nvSpPr>
        <p:spPr>
          <a:xfrm>
            <a:off x="762000" y="5791200"/>
            <a:ext cx="5334000" cy="800100"/>
          </a:xfrm>
        </p:spPr>
        <p:txBody>
          <a:bodyPr wrap="square" rtlCol="0" lIns="0" tIns="0" rIns="0" bIns="0" anchor="t"/>
          <a:lstStyle/>
          <a:p>
            <a:pPr algn="l">
              <a:lnSpc>
                <a:spcPct val="118000"/>
              </a:lnSpc>
            </a:pPr>
            <a:r>
              <a:rPr sz="1200" i="1">
                <a:solidFill>
                  <a:srgbClr val="8FA6C2"/>
                </a:solidFill>
                <a:latin typeface="Segoe UI"/>
                <a:ea typeface="Segoe UI"/>
              </a:rPr>
              <a:t>The point is not the count. It is that the claims on these slides are the claims the build checks — every number here came out of a file in the repository, not out of a sentence.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4101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2D2B2DBA-4686-4C7F-A412-B10754F11B3C}"/>
              </a:ext>
            </a:extLst>
          </p:cNvPr>
          <p:cNvSpPr/>
          <p:nvPr/>
        </p:nvSpPr>
        <p:spPr>
          <a:xfrm>
            <a:off x="9525000" y="190500"/>
            <a:ext cx="1905000" cy="1905000"/>
          </a:xfrm>
          <a:prstGeom prst="ellipse">
            <a:avLst/>
          </a:prstGeom>
          <a:solidFill>
            <a:srgbClr val="000000">
              <a:alpha val="0"/>
            </a:srgbClr>
          </a:solidFill>
          <a:ln w="15240">
            <a:solidFill>
              <a:srgbClr val="143252"/>
            </a:solidFill>
          </a:ln>
        </p:spPr>
        <p:txBody>
          <a:bodyPr wrap="square" rtlCol="0"/>
          <a:lstStyle/>
          <a:p>
            <a:r>
              <a:rPr/>
              <a:t/>
            </a:r>
          </a:p>
        </p:txBody>
      </p:sp>
      <p:sp>
        <p:nvSpPr>
          <p:cNvPr id="4" name="Shape 4">
            <a:extLst>
              <a:ext uri="{FF2B5EF4-FFF2-40B4-BE49-F238E27FC236}">
                <a16:creationId xmlns:a16="http://schemas.microsoft.com/office/drawing/2014/main" id="{3FD9598E-BFC8-4C05-8514-E6715AD02CD7}"/>
              </a:ext>
            </a:extLst>
          </p:cNvPr>
          <p:cNvSpPr/>
          <p:nvPr/>
        </p:nvSpPr>
        <p:spPr>
          <a:xfrm>
            <a:off x="10001250" y="666750"/>
            <a:ext cx="952500" cy="952500"/>
          </a:xfrm>
          <a:prstGeom prst="ellipse">
            <a:avLst/>
          </a:prstGeom>
          <a:solidFill>
            <a:srgbClr val="000000">
              <a:alpha val="0"/>
            </a:srgbClr>
          </a:solidFill>
          <a:ln w="15240">
            <a:solidFill>
              <a:srgbClr val="1B426C"/>
            </a:solidFill>
          </a:ln>
        </p:spPr>
        <p:txBody>
          <a:bodyPr wrap="square" rtlCol="0"/>
          <a:lstStyle/>
          <a:p>
            <a:r>
              <a:rPr/>
              <a:t/>
            </a:r>
          </a:p>
        </p:txBody>
      </p:sp>
      <p:sp>
        <p:nvSpPr>
          <p:cNvPr id="5" name="Shape 5">
            <a:extLst>
              <a:ext uri="{FF2B5EF4-FFF2-40B4-BE49-F238E27FC236}">
                <a16:creationId xmlns:a16="http://schemas.microsoft.com/office/drawing/2014/main" id="{76601F15-F45F-43F4-B778-F06AF07D3640}"/>
              </a:ext>
            </a:extLst>
          </p:cNvPr>
          <p:cNvSpPr/>
          <p:nvPr/>
        </p:nvSpPr>
        <p:spPr>
          <a:xfrm>
            <a:off x="10382250" y="1047750"/>
            <a:ext cx="190500" cy="190500"/>
          </a:xfrm>
          <a:prstGeom prst="ellipse">
            <a:avLst/>
          </a:prstGeom>
          <a:solidFill>
            <a:srgbClr val="F2A93B"/>
          </a:solidFill>
        </p:spPr>
        <p:txBody>
          <a:bodyPr wrap="square" rtlCol="0"/>
          <a:lstStyle/>
          <a:p>
            <a:r>
              <a:rPr/>
              <a:t/>
            </a:r>
          </a:p>
        </p:txBody>
      </p:sp>
      <p:sp>
        <p:nvSpPr>
          <p:cNvPr id="6" name="TextBox 6">
            <a:extLst>
              <a:ext uri="{FF2B5EF4-FFF2-40B4-BE49-F238E27FC236}">
                <a16:creationId xmlns:a16="http://schemas.microsoft.com/office/drawing/2014/main" id="{33C1FC90-3890-4067-B508-B274E0ADD50E}"/>
              </a:ext>
            </a:extLst>
          </p:cNvPr>
          <p:cNvSpPr txBox="1"/>
          <p:nvPr/>
        </p:nvSpPr>
        <p:spPr>
          <a:xfrm>
            <a:off x="762000" y="571500"/>
            <a:ext cx="6667500" cy="228600"/>
          </a:xfrm>
        </p:spPr>
        <p:txBody>
          <a:bodyPr wrap="square" rtlCol="0" lIns="0" tIns="0" rIns="0" bIns="0" anchor="t"/>
          <a:lstStyle/>
          <a:p>
            <a:pPr algn="l"/>
            <a:r>
              <a:rPr sz="1150" b="1">
                <a:solidFill>
                  <a:srgbClr val="5F7899"/>
                </a:solidFill>
                <a:latin typeface="Segoe UI"/>
                <a:ea typeface="Segoe UI"/>
              </a:rPr>
              <a:t>WHERE THIS GOES  ·  AND WHAT WE ARE ASKING FOR</a:t>
            </a:r>
          </a:p>
        </p:txBody>
      </p:sp>
      <p:sp>
        <p:nvSpPr>
          <p:cNvPr id="7" name="TextBox 7">
            <a:extLst>
              <a:ext uri="{FF2B5EF4-FFF2-40B4-BE49-F238E27FC236}">
                <a16:creationId xmlns:a16="http://schemas.microsoft.com/office/drawing/2014/main" id="{4C738039-16B3-490B-AA80-8FCCA22DE2FE}"/>
              </a:ext>
            </a:extLst>
          </p:cNvPr>
          <p:cNvSpPr txBox="1"/>
          <p:nvPr/>
        </p:nvSpPr>
        <p:spPr>
          <a:xfrm>
            <a:off x="762000" y="895350"/>
            <a:ext cx="8382000" cy="990600"/>
          </a:xfrm>
        </p:spPr>
        <p:txBody>
          <a:bodyPr wrap="square" rtlCol="0" lIns="0" tIns="0" rIns="0" bIns="0" anchor="t"/>
          <a:lstStyle/>
          <a:p>
            <a:pPr algn="l">
              <a:lnSpc>
                <a:spcPct val="110000"/>
              </a:lnSpc>
            </a:pPr>
            <a:r>
              <a:rPr sz="2600" b="1">
                <a:solidFill>
                  <a:srgbClr val="EAF2FC"/>
                </a:solidFill>
                <a:latin typeface="Segoe UI"/>
                <a:ea typeface="Segoe UI"/>
              </a:rPr>
              <a:t>The next version has a name:</a:t>
            </a:r>
            <a:br/>
            <a:r>
              <a:rPr sz="2600" b="1">
                <a:solidFill>
                  <a:srgbClr val="EAF2FC"/>
                </a:solidFill>
                <a:latin typeface="Segoe UI"/>
                <a:ea typeface="Segoe UI"/>
              </a:rPr>
              <a:t>a cohort, not a checkpoint</a:t>
            </a:r>
          </a:p>
        </p:txBody>
      </p:sp>
      <p:cxnSp>
        <p:nvCxnSpPr>
          <p:cNvPr id="8" name="Straight Connector 8">
            <a:extLst>
              <a:ext uri="{FF2B5EF4-FFF2-40B4-BE49-F238E27FC236}">
                <a16:creationId xmlns:a16="http://schemas.microsoft.com/office/drawing/2014/main" id="{4D65792F-D96E-456D-9DEB-E49005D77C9D}"/>
              </a:ext>
            </a:extLst>
          </p:cNvPr>
          <p:cNvCxnSpPr/>
          <p:nvPr/>
        </p:nvCxnSpPr>
        <p:spPr>
          <a:xfrm>
            <a:off x="762000" y="2114550"/>
            <a:ext cx="10668000" cy="9525"/>
          </a:xfrm>
          <a:prstGeom prst="line">
            <a:avLst/>
          </a:prstGeom>
          <a:ln w="12700" cap="flat">
            <a:solidFill>
              <a:srgbClr val="24486F"/>
            </a:solidFill>
          </a:ln>
        </p:spPr>
      </p:cxnSp>
      <p:sp>
        <p:nvSpPr>
          <p:cNvPr id="9" name="TextBox 9">
            <a:extLst>
              <a:ext uri="{FF2B5EF4-FFF2-40B4-BE49-F238E27FC236}">
                <a16:creationId xmlns:a16="http://schemas.microsoft.com/office/drawing/2014/main" id="{C14D0AB1-A0A6-421A-8B7A-27829A8198DD}"/>
              </a:ext>
            </a:extLst>
          </p:cNvPr>
          <p:cNvSpPr txBox="1"/>
          <p:nvPr/>
        </p:nvSpPr>
        <p:spPr>
          <a:xfrm>
            <a:off x="762000" y="2362200"/>
            <a:ext cx="5143500" cy="285750"/>
          </a:xfrm>
        </p:spPr>
        <p:txBody>
          <a:bodyPr wrap="square" rtlCol="0" lIns="0" tIns="0" rIns="0" bIns="0" anchor="t"/>
          <a:lstStyle/>
          <a:p>
            <a:pPr algn="l"/>
            <a:r>
              <a:rPr sz="1600" b="1">
                <a:solidFill>
                  <a:srgbClr val="3E8BFF"/>
                </a:solidFill>
                <a:latin typeface="Segoe UI"/>
                <a:ea typeface="Segoe UI"/>
              </a:rPr>
              <a:t>What we build next</a:t>
            </a:r>
          </a:p>
        </p:txBody>
      </p:sp>
      <p:sp>
        <p:nvSpPr>
          <p:cNvPr id="10" name="TextBox 10">
            <a:extLst>
              <a:ext uri="{FF2B5EF4-FFF2-40B4-BE49-F238E27FC236}">
                <a16:creationId xmlns:a16="http://schemas.microsoft.com/office/drawing/2014/main" id="{0B39E60A-3995-407A-928E-CB2282DE821E}"/>
              </a:ext>
            </a:extLst>
          </p:cNvPr>
          <p:cNvSpPr txBox="1"/>
          <p:nvPr/>
        </p:nvSpPr>
        <p:spPr>
          <a:xfrm>
            <a:off x="762000" y="2705100"/>
            <a:ext cx="5143500" cy="2745232"/>
          </a:xfrm>
        </p:spPr>
        <p:txBody>
          <a:bodyPr wrap="square" rtlCol="0" lIns="0" tIns="0" rIns="0" bIns="0" anchor="t"/>
          <a:lstStyle/>
          <a:p>
            <a:pPr marL="228600" indent="-228600" algn="l">
              <a:lnSpc>
                <a:spcPct val="114000"/>
              </a:lnSpc>
              <a:spcAft>
                <a:spcPts val="1300"/>
              </a:spcAft>
              <a:buChar char="•"/>
            </a:pPr>
            <a:r>
              <a:rPr sz="1200">
                <a:solidFill>
                  <a:srgbClr val="EAF2FC"/>
                </a:solidFill>
                <a:latin typeface="Segoe UI"/>
                <a:ea typeface="Segoe UI"/>
              </a:rPr>
              <a:t>A real for-purpose Ghanaian cohort to replace the Ghana-prior simulators — the version ladder already names it.</a:t>
            </a:r>
          </a:p>
          <a:p>
            <a:pPr marL="228600" indent="-228600" algn="l">
              <a:lnSpc>
                <a:spcPct val="114000"/>
              </a:lnSpc>
              <a:spcAft>
                <a:spcPts val="1300"/>
              </a:spcAft>
              <a:buChar char="•"/>
            </a:pPr>
            <a:r>
              <a:rPr sz="1200">
                <a:solidFill>
                  <a:srgbClr val="EAF2FC"/>
                </a:solidFill>
                <a:latin typeface="Segoe UI"/>
                <a:ea typeface="Segoe UI"/>
              </a:rPr>
              <a:t>A recogniser that earns the microphone, and a closed set recorded by real speakers to calibrate refusal.</a:t>
            </a:r>
          </a:p>
          <a:p>
            <a:pPr marL="228600" indent="-228600" algn="l">
              <a:lnSpc>
                <a:spcPct val="114000"/>
              </a:lnSpc>
              <a:spcAft>
                <a:spcPts val="1300"/>
              </a:spcAft>
              <a:buChar char="•"/>
            </a:pPr>
            <a:r>
              <a:rPr sz="1200">
                <a:solidFill>
                  <a:srgbClr val="EAF2FC"/>
                </a:solidFill>
                <a:latin typeface="Segoe UI"/>
                <a:ea typeface="Segoe UI"/>
              </a:rPr>
              <a:t>Voices a native ear signs off, and a phone-sized ASR pack — the distillation route the 6 KB risk models took.</a:t>
            </a:r>
          </a:p>
          <a:p>
            <a:pPr marL="228600" indent="-228600" algn="l">
              <a:lnSpc>
                <a:spcPct val="114000"/>
              </a:lnSpc>
              <a:spcAft>
                <a:spcPts val="1300"/>
              </a:spcAft>
              <a:buChar char="•"/>
            </a:pPr>
            <a:r>
              <a:rPr sz="1200">
                <a:solidFill>
                  <a:srgbClr val="EAF2FC"/>
                </a:solidFill>
                <a:latin typeface="Segoe UI"/>
                <a:ea typeface="Segoe UI"/>
              </a:rPr>
              <a:t>The district half: real HTTP transport, the supervisor role scoped to its download, and a barrier pattern submitted as an escalation.</a:t>
            </a:r>
          </a:p>
          <a:p>
            <a:pPr marL="228600" indent="-228600" algn="l">
              <a:lnSpc>
                <a:spcPct val="114000"/>
              </a:lnSpc>
              <a:buChar char="•"/>
            </a:pPr>
            <a:r>
              <a:rPr sz="1200">
                <a:solidFill>
                  <a:srgbClr val="EAF2FC"/>
                </a:solidFill>
                <a:latin typeface="Segoe UI"/>
                <a:ea typeface="Segoe UI"/>
              </a:rPr>
              <a:t>A 90-day CHPS pilot in one sub-district: are answers collected, are asks for help acted on.</a:t>
            </a:r>
          </a:p>
        </p:txBody>
      </p:sp>
      <p:sp>
        <p:nvSpPr>
          <p:cNvPr id="11" name="TextBox 11">
            <a:extLst>
              <a:ext uri="{FF2B5EF4-FFF2-40B4-BE49-F238E27FC236}">
                <a16:creationId xmlns:a16="http://schemas.microsoft.com/office/drawing/2014/main" id="{90A78F95-9D0E-4A87-B1D3-1141E8C81106}"/>
              </a:ext>
            </a:extLst>
          </p:cNvPr>
          <p:cNvSpPr txBox="1"/>
          <p:nvPr/>
        </p:nvSpPr>
        <p:spPr>
          <a:xfrm>
            <a:off x="6286500" y="2362200"/>
            <a:ext cx="5143500" cy="285750"/>
          </a:xfrm>
        </p:spPr>
        <p:txBody>
          <a:bodyPr wrap="square" rtlCol="0" lIns="0" tIns="0" rIns="0" bIns="0" anchor="t"/>
          <a:lstStyle/>
          <a:p>
            <a:pPr algn="l"/>
            <a:r>
              <a:rPr sz="1600" b="1">
                <a:solidFill>
                  <a:srgbClr val="F2A93B"/>
                </a:solidFill>
                <a:latin typeface="Segoe UI"/>
                <a:ea typeface="Segoe UI"/>
              </a:rPr>
              <a:t>What we need from UNICEF</a:t>
            </a:r>
          </a:p>
        </p:txBody>
      </p:sp>
      <p:sp>
        <p:nvSpPr>
          <p:cNvPr id="12" name="TextBox 12">
            <a:extLst>
              <a:ext uri="{FF2B5EF4-FFF2-40B4-BE49-F238E27FC236}">
                <a16:creationId xmlns:a16="http://schemas.microsoft.com/office/drawing/2014/main" id="{14188D20-7312-41AB-BBAB-D11F010530A0}"/>
              </a:ext>
            </a:extLst>
          </p:cNvPr>
          <p:cNvSpPr txBox="1"/>
          <p:nvPr/>
        </p:nvSpPr>
        <p:spPr>
          <a:xfrm>
            <a:off x="6286500" y="2705100"/>
            <a:ext cx="5143500" cy="2724150"/>
          </a:xfrm>
        </p:spPr>
        <p:txBody>
          <a:bodyPr wrap="square" rtlCol="0" lIns="0" tIns="0" rIns="0" bIns="0" anchor="t"/>
          <a:lstStyle/>
          <a:p>
            <a:pPr marL="228600" indent="-228600" algn="l">
              <a:lnSpc>
                <a:spcPct val="114000"/>
              </a:lnSpc>
              <a:spcAft>
                <a:spcPts val="1300"/>
              </a:spcAft>
              <a:buChar char="•"/>
            </a:pPr>
            <a:r>
              <a:rPr sz="1200">
                <a:solidFill>
                  <a:srgbClr val="EAF2FC"/>
                </a:solidFill>
                <a:latin typeface="Segoe UI"/>
                <a:ea typeface="Segoe UI"/>
              </a:rPr>
              <a:t>A clinical champion to sign the guideline mapping against IMCI and Ghana Health Service practice.</a:t>
            </a:r>
          </a:p>
          <a:p>
            <a:pPr marL="228600" indent="-228600" algn="l">
              <a:lnSpc>
                <a:spcPct val="114000"/>
              </a:lnSpc>
              <a:spcAft>
                <a:spcPts val="1300"/>
              </a:spcAft>
              <a:buChar char="•"/>
            </a:pPr>
            <a:r>
              <a:rPr sz="1200">
                <a:solidFill>
                  <a:srgbClr val="EAF2FC"/>
                </a:solidFill>
                <a:latin typeface="Segoe UI"/>
                <a:ea typeface="Segoe UI"/>
              </a:rPr>
              <a:t>A data-use agreement and an ethics route to a Ghanaian maternal and neonatal cohort.</a:t>
            </a:r>
          </a:p>
          <a:p>
            <a:pPr marL="228600" indent="-228600" algn="l">
              <a:lnSpc>
                <a:spcPct val="114000"/>
              </a:lnSpc>
              <a:spcAft>
                <a:spcPts val="1300"/>
              </a:spcAft>
              <a:buChar char="•"/>
            </a:pPr>
            <a:r>
              <a:rPr sz="1200">
                <a:solidFill>
                  <a:srgbClr val="EAF2FC"/>
                </a:solidFill>
                <a:latin typeface="Segoe UI"/>
                <a:ea typeface="Segoe UI"/>
              </a:rPr>
              <a:t>One district to pilot in, and the CHPS compounds to walk it.</a:t>
            </a:r>
          </a:p>
          <a:p>
            <a:pPr marL="228600" indent="-228600" algn="l">
              <a:lnSpc>
                <a:spcPct val="114000"/>
              </a:lnSpc>
              <a:spcAft>
                <a:spcPts val="1300"/>
              </a:spcAft>
              <a:buChar char="•"/>
            </a:pPr>
            <a:r>
              <a:rPr sz="1200">
                <a:solidFill>
                  <a:srgbClr val="EAF2FC"/>
                </a:solidFill>
                <a:latin typeface="Segoe UI"/>
                <a:ea typeface="Segoe UI"/>
              </a:rPr>
              <a:t>A handset that is not a flagship — the constraint everything in this app was built against.</a:t>
            </a:r>
          </a:p>
          <a:p>
            <a:pPr marL="228600" indent="-228600" algn="l">
              <a:lnSpc>
                <a:spcPct val="114000"/>
              </a:lnSpc>
              <a:buChar char="•"/>
            </a:pPr>
            <a:r>
              <a:rPr sz="1200">
                <a:solidFill>
                  <a:srgbClr val="EAF2FC"/>
                </a:solidFill>
                <a:latin typeface="Segoe UI"/>
                <a:ea typeface="Segoe UI"/>
              </a:rPr>
              <a:t>Recording sessions with native Dagbani and Twi speakers, so the voice path can be signed off.</a:t>
            </a:r>
          </a:p>
        </p:txBody>
      </p:sp>
      <p:sp>
        <p:nvSpPr>
          <p:cNvPr id="13" name="Shape 13">
            <a:extLst>
              <a:ext uri="{FF2B5EF4-FFF2-40B4-BE49-F238E27FC236}">
                <a16:creationId xmlns:a16="http://schemas.microsoft.com/office/drawing/2014/main" id="{057AD0D5-FD1C-4505-8AD0-20D427669B66}"/>
              </a:ext>
            </a:extLst>
          </p:cNvPr>
          <p:cNvSpPr/>
          <p:nvPr/>
        </p:nvSpPr>
        <p:spPr>
          <a:xfrm>
            <a:off x="762000" y="5619750"/>
            <a:ext cx="10668000" cy="990600"/>
          </a:xfrm>
          <a:prstGeom prst="roundRect">
            <a:avLst/>
          </a:prstGeom>
          <a:solidFill>
            <a:srgbClr val="0B2138"/>
          </a:solidFill>
        </p:spPr>
        <p:txBody>
          <a:bodyPr wrap="square" rtlCol="0"/>
          <a:lstStyle/>
          <a:p>
            <a:r>
              <a:rPr/>
              <a:t/>
            </a:r>
          </a:p>
        </p:txBody>
      </p:sp>
      <p:sp>
        <p:nvSpPr>
          <p:cNvPr id="14" name="TextBox 14">
            <a:extLst>
              <a:ext uri="{FF2B5EF4-FFF2-40B4-BE49-F238E27FC236}">
                <a16:creationId xmlns:a16="http://schemas.microsoft.com/office/drawing/2014/main" id="{15CDA1F0-EE6D-425A-B514-10C7B8199EAD}"/>
              </a:ext>
            </a:extLst>
          </p:cNvPr>
          <p:cNvSpPr txBox="1"/>
          <p:nvPr/>
        </p:nvSpPr>
        <p:spPr>
          <a:xfrm>
            <a:off x="1066800" y="5791200"/>
            <a:ext cx="10058400" cy="666750"/>
          </a:xfrm>
        </p:spPr>
        <p:txBody>
          <a:bodyPr wrap="square" rtlCol="0" lIns="0" tIns="0" rIns="0" bIns="0" anchor="t"/>
          <a:lstStyle/>
          <a:p>
            <a:pPr algn="l">
              <a:lnSpc>
                <a:spcPct val="118000"/>
              </a:lnSpc>
            </a:pPr>
            <a:r>
              <a:rPr sz="1700">
                <a:solidFill>
                  <a:srgbClr val="C4D5E9"/>
                </a:solidFill>
                <a:latin typeface="Segoe UI"/>
                <a:ea typeface="Segoe UI"/>
              </a:rPr>
              <a:t>When the register stops saying </a:t>
            </a:r>
            <a:r>
              <a:rPr sz="1700" i="1">
                <a:solidFill>
                  <a:srgbClr val="8FA6C2"/>
                </a:solidFill>
                <a:latin typeface="Segoe UI"/>
                <a:ea typeface="Segoe UI"/>
              </a:rPr>
              <a:t>did not attend</a:t>
            </a:r>
            <a:r>
              <a:rPr sz="1700">
                <a:solidFill>
                  <a:srgbClr val="C4D5E9"/>
                </a:solidFill>
                <a:latin typeface="Segoe UI"/>
                <a:ea typeface="Segoe UI"/>
              </a:rPr>
              <a:t> and starts saying </a:t>
            </a:r>
            <a:r>
              <a:rPr sz="1700" b="1">
                <a:solidFill>
                  <a:srgbClr val="F2A93B"/>
                </a:solidFill>
                <a:latin typeface="Segoe UI"/>
                <a:ea typeface="Segoe UI"/>
              </a:rPr>
              <a:t>three households, closed facility, this month</a:t>
            </a:r>
            <a:r>
              <a:rPr sz="1700">
                <a:solidFill>
                  <a:srgbClr val="C4D5E9"/>
                </a:solidFill>
                <a:latin typeface="Segoe UI"/>
                <a:ea typeface="Segoe UI"/>
              </a:rPr>
              <a:t> — that is when the system can no longer look away.</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