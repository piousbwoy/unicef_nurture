
<file path=[Content_Types].xml><?xml version="1.0" encoding="utf-8"?>
<Types xmlns="http://schemas.openxmlformats.org/package/2006/content-types">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s/slide14.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theme/theme2.xml" ContentType="application/vnd.openxmlformats-officedocument.theme+xml"/>
  <Override PartName="/ppt/notesMasters/notesMaster1.xml" ContentType="application/vnd.openxmlformats-officedocument.presentationml.notesMaster+xml"/>
  <Override PartName="/ppt/slides/slide4.xml" ContentType="application/vnd.openxmlformats-officedocument.presentationml.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63" r:id="rId10"/>
    <p:sldId id="264" r:id="rId11"/>
    <p:sldId id="259" r:id="rId5"/>
    <p:sldId id="265" r:id="rId12"/>
    <p:sldId id="267" r:id="rId14"/>
    <p:sldId id="269" r:id="rId16"/>
  </p:sldIdLst>
  <p:sldSz cx="12192000" cy="6858000"/>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5" Type="http://schemas.openxmlformats.org/officeDocument/2006/relationships/slide" Target="slides/slide4.xml"/><Relationship Id="rId9" Type="http://schemas.openxmlformats.org/officeDocument/2006/relationships/notesMaster" Target="notesMasters/notesMaster1.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4" Type="http://schemas.openxmlformats.org/officeDocument/2006/relationships/slide" Target="slides/slide12.xml"/><Relationship Id="rId16"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0:20 — OPENER, as a scene not a claim. 'Picture the last page of a CHPS register. A missed referral. One column, and the word in it is did not attend. That word is the end of the record — and the end of the conversation, because nobody can fix a column. What we built is the thing that comes after that column.' Then: 'CareBridge AI. Offline-first decision support for a frontline health worker and the family she is responsible for. Same record, two apps, no network required.'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1:00 — 'This is where most digital tools quietly die: you issue a referral and never find out.' Four points, in this order: eight states, and arrival is not treatment — a child confirmed on a bench and untreated stays open. One atomic write per follow-up: the answer, the status it implies, the barrier, the next visit, a chained referral if the child got worse — one transaction or none. A facility verifier can confirm only what it witnessed and can never record a family-side refusal. And the reason becomes evidence: counted by households, not taps, over 30 days, three households being where coincidence stops, each pattern naming who owns the fix. If you can reach it live, show the barrier card on the referral desk.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0:50 — THE PROBLEM AND THE PEOPLE. 'The failure in community health is not that nobody assesses. It is that we keep throwing away the reason. A woman does not miss a referral because she does not care — the road was flooded, the facility closed at noon, there is no money for the lorry, the husband had not agreed. Twelve different reasons, one column that says did not attend.' Name the users explicitly: the CHPS worker holding a zone of a thousand-plus residents; the mother at home who reads little and speaks Dagbani, Twi or Hausa; and the supervisor who has to answer for both. Land the last line: a family can start its own record, but the repository refuses any household but theirs and no clinical field is writable with that permission.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0:55 — HOW IT WORKS. Walk the rail left to right, and put the phone in your other hand if you can. Register: several sessions open at once, roll call records absence rather than skipping it. Measure: the MUAC tape and the zone scale carry safety checks before any dose. Assess: IMCI classification and the reason for it. Refer: a case with eight states. Follow up: one atomic write — and this is where the barrier is captured, which is why this stop is amber. Route: the zone ranked by who is due, so a chase visit rides on a walk she is already making. Then the protective line: 16 guideline engines decide care, machine learning supports and never decides, and every research model carries clinical_use_allowed false.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0:50 — DATA PROTECTION. 'Compliance in most projects is a PDF somebody wrote once. Here the privacy register is data in the same language as the system, and the build reconciles it against the local schema, the server schema, the sync whitelist and the pull list — so the document cannot lie about the database. Add a table without declaring its purpose, lawful basis and retention rule and the build fails.' Then the census: 27 named controls, 15 in place, 8 in place with a stated limit, 4 belonging to the district — named as theirs rather than quietly dropped. Pick three enforcement points only: SQLCipher with a key the app refuses to use if it cannot read it back; permissions enforced in the repository, not the UI; and consent, access ledger and audit as append-only tables that are never cascaded from a patient row. Finish with the self-declared limit: web and desktop have no SQLCipher, so the posture card says not encrypted at rest.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1:00 — THE AI SYSTEM. Say the method before the numbers. Four int8 models, under six kilobytes each, because they run on the handset. Sepsis is the only one trained on real patient records — 964 Mbarara RRH neonatal admissions, AUC 0.90. The other three are distilled from Ghana-prior simulator cohorts built on published Northern Region studies, which is why pre-eclampsia reads 1.00 internally and 0.7365 on held-out UCI maternal data — and you show the 0.7365, because the 1.00 only measures how well the student copied the teacher. Every model carries Platt calibration, a Brier score, a chosen Youden threshold and per-feature drift detection. Then the honest bugs: a train/serve skew we found and fixed in v1.1, and a 78-percent-positive sepsis cohort that inflates specificity. Close on recommendation: the engine produces an ordered action list with a confidence, a worker can overrule it and the override is recorded, and nothing here may issue a clinical instruction.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0:55 — NLP AND THE ASK. 'Twi and Dagbani are not on any cloud speech list, so translation, voices and recognition all run on-device with pinned sources and licences.' Then the measurement, which is the whole point: held-out WaxalNLP clips give Twi 0.162 and Dagbani 0.420 median character error rate. The ceiling is 0.25 — so Twi gets the microphone and Dagbani does not. Say that deliberately: at one word in three wrong you cannot put a transcript in a clinical record, and a disabled button is the honest interface. Recognition is scored with an exact CTC forward algorithm over every spellable form, and answers stay verified false until a native ear signs them off. The packs are 355 and 876 megabytes and are not shipped. Then the ask — clinical champion, data-use agreement and ethics route, one district for 90 days, native-speaker recording sessions, a phone that is not a flagship — and close on the register line.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101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7640B913-2CC9-480F-90ED-95C69B804F6A}"/>
              </a:ext>
            </a:extLst>
          </p:cNvPr>
          <p:cNvSpPr/>
          <p:nvPr/>
        </p:nvSpPr>
        <p:spPr>
          <a:xfrm>
            <a:off x="7239000" y="914400"/>
            <a:ext cx="4381500" cy="4381500"/>
          </a:xfrm>
          <a:prstGeom prst="ellipse">
            <a:avLst/>
          </a:prstGeom>
          <a:solidFill>
            <a:srgbClr val="000000">
              <a:alpha val="0"/>
            </a:srgbClr>
          </a:solidFill>
          <a:ln w="15240">
            <a:solidFill>
              <a:srgbClr val="143252"/>
            </a:solidFill>
          </a:ln>
        </p:spPr>
        <p:txBody>
          <a:bodyPr wrap="square" rtlCol="0"/>
          <a:lstStyle/>
          <a:p>
            <a:r>
              <a:rPr/>
              <a:t/>
            </a:r>
          </a:p>
        </p:txBody>
      </p:sp>
      <p:sp>
        <p:nvSpPr>
          <p:cNvPr id="4" name="Shape 4">
            <a:extLst>
              <a:ext uri="{FF2B5EF4-FFF2-40B4-BE49-F238E27FC236}">
                <a16:creationId xmlns:a16="http://schemas.microsoft.com/office/drawing/2014/main" id="{C80C5114-7C58-4EAE-98E6-0F7BA4D96E65}"/>
              </a:ext>
            </a:extLst>
          </p:cNvPr>
          <p:cNvSpPr/>
          <p:nvPr/>
        </p:nvSpPr>
        <p:spPr>
          <a:xfrm>
            <a:off x="7810500" y="1485900"/>
            <a:ext cx="3238500" cy="3238500"/>
          </a:xfrm>
          <a:prstGeom prst="ellipse">
            <a:avLst/>
          </a:prstGeom>
          <a:solidFill>
            <a:srgbClr val="000000">
              <a:alpha val="0"/>
            </a:srgbClr>
          </a:solidFill>
          <a:ln w="15240">
            <a:solidFill>
              <a:srgbClr val="1B426C"/>
            </a:solidFill>
          </a:ln>
        </p:spPr>
        <p:txBody>
          <a:bodyPr wrap="square" rtlCol="0"/>
          <a:lstStyle/>
          <a:p>
            <a:r>
              <a:rPr/>
              <a:t/>
            </a:r>
          </a:p>
        </p:txBody>
      </p:sp>
      <p:sp>
        <p:nvSpPr>
          <p:cNvPr id="5" name="Shape 5">
            <a:extLst>
              <a:ext uri="{FF2B5EF4-FFF2-40B4-BE49-F238E27FC236}">
                <a16:creationId xmlns:a16="http://schemas.microsoft.com/office/drawing/2014/main" id="{40F2B569-2E73-4153-AE15-3EB8FC3B96AC}"/>
              </a:ext>
            </a:extLst>
          </p:cNvPr>
          <p:cNvSpPr/>
          <p:nvPr/>
        </p:nvSpPr>
        <p:spPr>
          <a:xfrm>
            <a:off x="8382000" y="2057400"/>
            <a:ext cx="2095500" cy="2095500"/>
          </a:xfrm>
          <a:prstGeom prst="ellipse">
            <a:avLst/>
          </a:prstGeom>
          <a:solidFill>
            <a:srgbClr val="000000">
              <a:alpha val="0"/>
            </a:srgbClr>
          </a:solidFill>
          <a:ln w="17780">
            <a:solidFill>
              <a:srgbClr val="2A6196"/>
            </a:solidFill>
          </a:ln>
        </p:spPr>
        <p:txBody>
          <a:bodyPr wrap="square" rtlCol="0"/>
          <a:lstStyle/>
          <a:p>
            <a:r>
              <a:rPr/>
              <a:t/>
            </a:r>
          </a:p>
        </p:txBody>
      </p:sp>
      <p:sp>
        <p:nvSpPr>
          <p:cNvPr id="6" name="Shape 6">
            <a:extLst>
              <a:ext uri="{FF2B5EF4-FFF2-40B4-BE49-F238E27FC236}">
                <a16:creationId xmlns:a16="http://schemas.microsoft.com/office/drawing/2014/main" id="{D8D79E48-5FAF-4D99-B87E-114C1F06438C}"/>
              </a:ext>
            </a:extLst>
          </p:cNvPr>
          <p:cNvSpPr/>
          <p:nvPr/>
        </p:nvSpPr>
        <p:spPr>
          <a:xfrm>
            <a:off x="9286875" y="2962275"/>
            <a:ext cx="285750" cy="285750"/>
          </a:xfrm>
          <a:prstGeom prst="ellipse">
            <a:avLst/>
          </a:prstGeom>
          <a:solidFill>
            <a:srgbClr val="F2A93B"/>
          </a:solidFill>
        </p:spPr>
        <p:txBody>
          <a:bodyPr wrap="square" rtlCol="0"/>
          <a:lstStyle/>
          <a:p>
            <a:r>
              <a:rPr/>
              <a:t/>
            </a:r>
          </a:p>
        </p:txBody>
      </p:sp>
      <p:sp>
        <p:nvSpPr>
          <p:cNvPr id="7" name="TextBox 7">
            <a:extLst>
              <a:ext uri="{FF2B5EF4-FFF2-40B4-BE49-F238E27FC236}">
                <a16:creationId xmlns:a16="http://schemas.microsoft.com/office/drawing/2014/main" id="{66A1F63E-D5DB-41DA-8BBB-102875F5BD87}"/>
              </a:ext>
            </a:extLst>
          </p:cNvPr>
          <p:cNvSpPr txBox="1"/>
          <p:nvPr/>
        </p:nvSpPr>
        <p:spPr>
          <a:xfrm>
            <a:off x="762000" y="990600"/>
            <a:ext cx="6096000" cy="247650"/>
          </a:xfrm>
        </p:spPr>
        <p:txBody>
          <a:bodyPr wrap="square" rtlCol="0" lIns="0" tIns="0" rIns="0" bIns="0" anchor="t"/>
          <a:lstStyle/>
          <a:p>
            <a:pPr algn="l"/>
            <a:r>
              <a:rPr sz="1200" b="1">
                <a:solidFill>
                  <a:srgbClr val="7F97B8"/>
                </a:solidFill>
                <a:latin typeface="Segoe UI"/>
                <a:ea typeface="Segoe UI"/>
              </a:rPr>
              <a:t>UNICEF STARTUP LAB  ·  AI FOR NURTURING CARE  ·  DAY 1</a:t>
            </a:r>
          </a:p>
        </p:txBody>
      </p:sp>
      <p:sp>
        <p:nvSpPr>
          <p:cNvPr id="8" name="TextBox 8">
            <a:extLst>
              <a:ext uri="{FF2B5EF4-FFF2-40B4-BE49-F238E27FC236}">
                <a16:creationId xmlns:a16="http://schemas.microsoft.com/office/drawing/2014/main" id="{D171FB9E-86B4-4B4A-A58C-0A1DEBADA458}"/>
              </a:ext>
            </a:extLst>
          </p:cNvPr>
          <p:cNvSpPr txBox="1"/>
          <p:nvPr/>
        </p:nvSpPr>
        <p:spPr>
          <a:xfrm>
            <a:off x="742950" y="1485900"/>
            <a:ext cx="6667500" cy="1143000"/>
          </a:xfrm>
        </p:spPr>
        <p:txBody>
          <a:bodyPr wrap="square" rtlCol="0" lIns="0" tIns="0" rIns="0" bIns="0" anchor="t"/>
          <a:lstStyle/>
          <a:p>
            <a:pPr algn="l">
              <a:lnSpc>
                <a:spcPct val="100000"/>
              </a:lnSpc>
            </a:pPr>
            <a:r>
              <a:rPr sz="6200" b="1">
                <a:solidFill>
                  <a:srgbClr val="EAF2FC"/>
                </a:solidFill>
                <a:latin typeface="Segoe UI"/>
                <a:ea typeface="Segoe UI"/>
              </a:rPr>
              <a:t>CareBridge AI</a:t>
            </a:r>
          </a:p>
        </p:txBody>
      </p:sp>
      <p:cxnSp>
        <p:nvCxnSpPr>
          <p:cNvPr id="9" name="Straight Connector 9">
            <a:extLst>
              <a:ext uri="{FF2B5EF4-FFF2-40B4-BE49-F238E27FC236}">
                <a16:creationId xmlns:a16="http://schemas.microsoft.com/office/drawing/2014/main" id="{82C08B69-6B7D-404A-A42A-99022C42B699}"/>
              </a:ext>
            </a:extLst>
          </p:cNvPr>
          <p:cNvCxnSpPr/>
          <p:nvPr/>
        </p:nvCxnSpPr>
        <p:spPr>
          <a:xfrm>
            <a:off x="762000" y="2819400"/>
            <a:ext cx="10668000" cy="9525"/>
          </a:xfrm>
          <a:prstGeom prst="line">
            <a:avLst/>
          </a:prstGeom>
          <a:ln w="12700" cap="flat">
            <a:solidFill>
              <a:srgbClr val="24486F"/>
            </a:solidFill>
          </a:ln>
        </p:spPr>
      </p:cxnSp>
      <p:sp>
        <p:nvSpPr>
          <p:cNvPr id="10" name="TextBox 10">
            <a:extLst>
              <a:ext uri="{FF2B5EF4-FFF2-40B4-BE49-F238E27FC236}">
                <a16:creationId xmlns:a16="http://schemas.microsoft.com/office/drawing/2014/main" id="{20729248-1601-403A-9699-F90A1C657EAF}"/>
              </a:ext>
            </a:extLst>
          </p:cNvPr>
          <p:cNvSpPr txBox="1"/>
          <p:nvPr/>
        </p:nvSpPr>
        <p:spPr>
          <a:xfrm>
            <a:off x="762000" y="3124200"/>
            <a:ext cx="5905500" cy="1219200"/>
          </a:xfrm>
        </p:spPr>
        <p:txBody>
          <a:bodyPr wrap="square" rtlCol="0" lIns="0" tIns="0" rIns="0" bIns="0" anchor="t"/>
          <a:lstStyle/>
          <a:p>
            <a:pPr algn="l">
              <a:lnSpc>
                <a:spcPct val="126000"/>
              </a:lnSpc>
            </a:pPr>
            <a:r>
              <a:rPr sz="2100" b="1">
                <a:solidFill>
                  <a:srgbClr val="C4D5E9"/>
                </a:solidFill>
                <a:latin typeface="Segoe UI"/>
                <a:ea typeface="Segoe UI"/>
              </a:rPr>
              <a:t>A CHPS compound with no signal — and a midwife who still knows which child is sick.</a:t>
            </a:r>
          </a:p>
        </p:txBody>
      </p:sp>
      <p:sp>
        <p:nvSpPr>
          <p:cNvPr id="11" name="TextBox 11">
            <a:extLst>
              <a:ext uri="{FF2B5EF4-FFF2-40B4-BE49-F238E27FC236}">
                <a16:creationId xmlns:a16="http://schemas.microsoft.com/office/drawing/2014/main" id="{D50AEEDD-DF2E-43D2-83EB-A678EB0C23DF}"/>
              </a:ext>
            </a:extLst>
          </p:cNvPr>
          <p:cNvSpPr txBox="1"/>
          <p:nvPr/>
        </p:nvSpPr>
        <p:spPr>
          <a:xfrm>
            <a:off x="762000" y="4476750"/>
            <a:ext cx="5905500" cy="914400"/>
          </a:xfrm>
        </p:spPr>
        <p:txBody>
          <a:bodyPr wrap="square" rtlCol="0" lIns="0" tIns="0" rIns="0" bIns="0" anchor="t"/>
          <a:lstStyle/>
          <a:p>
            <a:pPr algn="l">
              <a:lnSpc>
                <a:spcPct val="128000"/>
              </a:lnSpc>
            </a:pPr>
            <a:r>
              <a:rPr sz="1450">
                <a:solidFill>
                  <a:srgbClr val="8FA6C2"/>
                </a:solidFill>
                <a:latin typeface="Segoe UI"/>
                <a:ea typeface="Segoe UI"/>
              </a:rPr>
              <a:t>Offline-first decision support for frontline health workers and the families they serve. Maternal · newborn · under-five survival, Northern Ghana.</a:t>
            </a:r>
          </a:p>
        </p:txBody>
      </p:sp>
      <p:sp>
        <p:nvSpPr>
          <p:cNvPr id="12" name="TextBox 12">
            <a:extLst>
              <a:ext uri="{FF2B5EF4-FFF2-40B4-BE49-F238E27FC236}">
                <a16:creationId xmlns:a16="http://schemas.microsoft.com/office/drawing/2014/main" id="{725F1F2C-329A-417A-865F-CA75D632501C}"/>
              </a:ext>
            </a:extLst>
          </p:cNvPr>
          <p:cNvSpPr txBox="1"/>
          <p:nvPr/>
        </p:nvSpPr>
        <p:spPr>
          <a:xfrm>
            <a:off x="762000" y="5867400"/>
            <a:ext cx="10668000" cy="533400"/>
          </a:xfrm>
        </p:spPr>
        <p:txBody>
          <a:bodyPr wrap="square" rtlCol="0" lIns="0" tIns="0" rIns="0" bIns="0" anchor="t"/>
          <a:lstStyle/>
          <a:p>
            <a:pPr algn="l">
              <a:lnSpc>
                <a:spcPct val="124000"/>
              </a:lnSpc>
            </a:pPr>
            <a:r>
              <a:rPr sz="1250" b="1">
                <a:solidFill>
                  <a:srgbClr val="5F7899"/>
                </a:solidFill>
                <a:latin typeface="Segoe UI"/>
                <a:ea typeface="Segoe UI"/>
              </a:rPr>
              <a:t>One Flutter codebase — Android · iOS · Windows · Web    |    1,239 tests passing    |    27 security controls    |    21 October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376633C6-8A01-4EDF-AA08-29DAF7CAF90B}"/>
              </a:ext>
            </a:extLst>
          </p:cNvPr>
          <p:cNvSpPr txBox="1"/>
          <p:nvPr/>
        </p:nvSpPr>
        <p:spPr>
          <a:xfrm>
            <a:off x="762000" y="514350"/>
            <a:ext cx="9525000" cy="228600"/>
          </a:xfrm>
        </p:spPr>
        <p:txBody>
          <a:bodyPr wrap="square" rtlCol="0" lIns="0" tIns="0" rIns="0" bIns="0" anchor="t"/>
          <a:lstStyle/>
          <a:p>
            <a:pPr algn="l"/>
            <a:r>
              <a:rPr sz="1150" b="1">
                <a:solidFill>
                  <a:srgbClr val="7C8DA3"/>
                </a:solidFill>
                <a:latin typeface="Segoe UI"/>
                <a:ea typeface="Segoe UI"/>
              </a:rPr>
              <a:t>THE REFERRAL SYSTEM</a:t>
            </a:r>
          </a:p>
        </p:txBody>
      </p:sp>
      <p:sp>
        <p:nvSpPr>
          <p:cNvPr id="4" name="TextBox 4">
            <a:extLst>
              <a:ext uri="{FF2B5EF4-FFF2-40B4-BE49-F238E27FC236}">
                <a16:creationId xmlns:a16="http://schemas.microsoft.com/office/drawing/2014/main" id="{DCE1AC72-E25A-43A6-B187-9DFB6D82A707}"/>
              </a:ext>
            </a:extLst>
          </p:cNvPr>
          <p:cNvSpPr txBox="1"/>
          <p:nvPr/>
        </p:nvSpPr>
        <p:spPr>
          <a:xfrm>
            <a:off x="762000" y="819150"/>
            <a:ext cx="10668000" cy="855878"/>
          </a:xfrm>
        </p:spPr>
        <p:txBody>
          <a:bodyPr wrap="square" rtlCol="0" lIns="0" tIns="0" rIns="0" bIns="0" anchor="t"/>
          <a:lstStyle/>
          <a:p>
            <a:pPr algn="l">
              <a:lnSpc>
                <a:spcPct val="104000"/>
              </a:lnSpc>
            </a:pPr>
            <a:r>
              <a:rPr sz="2700" b="1">
                <a:solidFill>
                  <a:srgbClr val="0B1F38"/>
                </a:solidFill>
                <a:latin typeface="Segoe UI"/>
                <a:ea typeface="Segoe UI"/>
              </a:rPr>
              <a:t>A referral is a case with a state machine — and every answer leaves a trace</a:t>
            </a:r>
          </a:p>
        </p:txBody>
      </p:sp>
      <p:cxnSp>
        <p:nvCxnSpPr>
          <p:cNvPr id="5" name="Straight Connector 5">
            <a:extLst>
              <a:ext uri="{FF2B5EF4-FFF2-40B4-BE49-F238E27FC236}">
                <a16:creationId xmlns:a16="http://schemas.microsoft.com/office/drawing/2014/main" id="{F11CCE94-9DD9-42E4-908C-1395E6976579}"/>
              </a:ext>
            </a:extLst>
          </p:cNvPr>
          <p:cNvCxnSpPr/>
          <p:nvPr/>
        </p:nvCxnSpPr>
        <p:spPr>
          <a:xfrm>
            <a:off x="762000" y="1447800"/>
            <a:ext cx="10668000" cy="9525"/>
          </a:xfrm>
          <a:prstGeom prst="line">
            <a:avLst/>
          </a:prstGeom>
          <a:ln w="12700" cap="flat">
            <a:solidFill>
              <a:srgbClr val="DCE6F2"/>
            </a:solidFill>
          </a:ln>
        </p:spPr>
      </p:cxnSp>
      <p:sp>
        <p:nvSpPr>
          <p:cNvPr id="6" name="Shape 6">
            <a:extLst>
              <a:ext uri="{FF2B5EF4-FFF2-40B4-BE49-F238E27FC236}">
                <a16:creationId xmlns:a16="http://schemas.microsoft.com/office/drawing/2014/main" id="{21E96A39-54D7-4DC2-9C2A-70D4CFC29104}"/>
              </a:ext>
            </a:extLst>
          </p:cNvPr>
          <p:cNvSpPr/>
          <p:nvPr/>
        </p:nvSpPr>
        <p:spPr>
          <a:xfrm>
            <a:off x="762000" y="1695450"/>
            <a:ext cx="5200650" cy="2038350"/>
          </a:xfrm>
          <a:prstGeom prst="roundRect">
            <a:avLst/>
          </a:prstGeom>
          <a:solidFill>
            <a:srgbClr val="FFFFFF"/>
          </a:solidFill>
          <a:ln w="12700">
            <a:solidFill>
              <a:srgbClr val="DCE6F2"/>
            </a:solidFill>
          </a:ln>
        </p:spPr>
        <p:txBody>
          <a:bodyPr wrap="square" rtlCol="0"/>
          <a:lstStyle/>
          <a:p>
            <a:r>
              <a:rPr/>
              <a:t/>
            </a:r>
          </a:p>
        </p:txBody>
      </p:sp>
      <p:sp>
        <p:nvSpPr>
          <p:cNvPr id="7" name="TextBox 7">
            <a:extLst>
              <a:ext uri="{FF2B5EF4-FFF2-40B4-BE49-F238E27FC236}">
                <a16:creationId xmlns:a16="http://schemas.microsoft.com/office/drawing/2014/main" id="{C906B179-5F8F-4966-AB55-A410AC7AA93F}"/>
              </a:ext>
            </a:extLst>
          </p:cNvPr>
          <p:cNvSpPr txBox="1"/>
          <p:nvPr/>
        </p:nvSpPr>
        <p:spPr>
          <a:xfrm>
            <a:off x="1028700" y="1905000"/>
            <a:ext cx="4667250" cy="285750"/>
          </a:xfrm>
        </p:spPr>
        <p:txBody>
          <a:bodyPr wrap="square" rtlCol="0" lIns="0" tIns="0" rIns="0" bIns="0" anchor="t"/>
          <a:lstStyle/>
          <a:p>
            <a:pPr algn="l"/>
            <a:r>
              <a:rPr sz="1600" b="1">
                <a:solidFill>
                  <a:srgbClr val="1B5FD9"/>
                </a:solidFill>
                <a:latin typeface="Segoe UI"/>
                <a:ea typeface="Segoe UI"/>
              </a:rPr>
              <a:t>Eight states, and the two rules that matter</a:t>
            </a:r>
          </a:p>
        </p:txBody>
      </p:sp>
      <p:sp>
        <p:nvSpPr>
          <p:cNvPr id="8" name="TextBox 8">
            <a:extLst>
              <a:ext uri="{FF2B5EF4-FFF2-40B4-BE49-F238E27FC236}">
                <a16:creationId xmlns:a16="http://schemas.microsoft.com/office/drawing/2014/main" id="{B2FB191C-DC2F-4775-B432-96402001A90C}"/>
              </a:ext>
            </a:extLst>
          </p:cNvPr>
          <p:cNvSpPr txBox="1"/>
          <p:nvPr/>
        </p:nvSpPr>
        <p:spPr>
          <a:xfrm>
            <a:off x="1028700" y="2266950"/>
            <a:ext cx="4667250" cy="1371600"/>
          </a:xfrm>
        </p:spPr>
        <p:txBody>
          <a:bodyPr wrap="square" rtlCol="0" lIns="0" tIns="0" rIns="0" bIns="0" anchor="t"/>
          <a:lstStyle/>
          <a:p>
            <a:pPr algn="l">
              <a:lnSpc>
                <a:spcPct val="120000"/>
              </a:lnSpc>
              <a:spcAft>
                <a:spcPts val="900"/>
              </a:spcAft>
            </a:pPr>
            <a:r>
              <a:rPr sz="1250">
                <a:solidFill>
                  <a:srgbClr val="33495F"/>
                </a:solidFill>
                <a:latin typeface="Segoe UI"/>
                <a:ea typeface="Segoe UI"/>
              </a:rPr>
              <a:t>issued → travelling → arrived → treated; also didNotAttend, refused, cancelled, died.</a:t>
            </a:r>
          </a:p>
          <a:p>
            <a:pPr algn="l">
              <a:lnSpc>
                <a:spcPct val="120000"/>
              </a:lnSpc>
              <a:spcAft>
                <a:spcPts val="900"/>
              </a:spcAft>
            </a:pPr>
            <a:r>
              <a:rPr sz="1250">
                <a:solidFill>
                  <a:srgbClr val="33495F"/>
                </a:solidFill>
                <a:latin typeface="Segoe UI"/>
                <a:ea typeface="Segoe UI"/>
              </a:rPr>
              <a:t>Arrival is not treatment: a child seen and untreated stays on the chase list.</a:t>
            </a:r>
          </a:p>
          <a:p>
            <a:pPr algn="l">
              <a:lnSpc>
                <a:spcPct val="120000"/>
              </a:lnSpc>
            </a:pPr>
            <a:r>
              <a:rPr sz="1250" b="1">
                <a:solidFill>
                  <a:srgbClr val="0B1F38"/>
                </a:solidFill>
                <a:latin typeface="Segoe UI"/>
                <a:ea typeface="Segoe UI"/>
              </a:rPr>
              <a:t>Settled cases are never reopened.</a:t>
            </a:r>
          </a:p>
        </p:txBody>
      </p:sp>
      <p:sp>
        <p:nvSpPr>
          <p:cNvPr id="9" name="Shape 9">
            <a:extLst>
              <a:ext uri="{FF2B5EF4-FFF2-40B4-BE49-F238E27FC236}">
                <a16:creationId xmlns:a16="http://schemas.microsoft.com/office/drawing/2014/main" id="{FEDB7BE0-1A05-4B97-BAC5-4DCB9D7A39C8}"/>
              </a:ext>
            </a:extLst>
          </p:cNvPr>
          <p:cNvSpPr/>
          <p:nvPr/>
        </p:nvSpPr>
        <p:spPr>
          <a:xfrm>
            <a:off x="6229350" y="1695450"/>
            <a:ext cx="5200650" cy="2038350"/>
          </a:xfrm>
          <a:prstGeom prst="roundRect">
            <a:avLst/>
          </a:prstGeom>
          <a:solidFill>
            <a:srgbClr val="FFFFFF"/>
          </a:solidFill>
          <a:ln w="12700">
            <a:solidFill>
              <a:srgbClr val="DCE6F2"/>
            </a:solidFill>
          </a:ln>
        </p:spPr>
        <p:txBody>
          <a:bodyPr wrap="square" rtlCol="0"/>
          <a:lstStyle/>
          <a:p>
            <a:r>
              <a:rPr/>
              <a:t/>
            </a:r>
          </a:p>
        </p:txBody>
      </p:sp>
      <p:sp>
        <p:nvSpPr>
          <p:cNvPr id="10" name="TextBox 10">
            <a:extLst>
              <a:ext uri="{FF2B5EF4-FFF2-40B4-BE49-F238E27FC236}">
                <a16:creationId xmlns:a16="http://schemas.microsoft.com/office/drawing/2014/main" id="{64575502-43DE-43FC-AD7B-5F05EAD80E6D}"/>
              </a:ext>
            </a:extLst>
          </p:cNvPr>
          <p:cNvSpPr txBox="1"/>
          <p:nvPr/>
        </p:nvSpPr>
        <p:spPr>
          <a:xfrm>
            <a:off x="6496050" y="1905000"/>
            <a:ext cx="4667250" cy="285750"/>
          </a:xfrm>
        </p:spPr>
        <p:txBody>
          <a:bodyPr wrap="square" rtlCol="0" lIns="0" tIns="0" rIns="0" bIns="0" anchor="t"/>
          <a:lstStyle/>
          <a:p>
            <a:pPr algn="l"/>
            <a:r>
              <a:rPr sz="1600" b="1">
                <a:solidFill>
                  <a:srgbClr val="1B5FD9"/>
                </a:solidFill>
                <a:latin typeface="Segoe UI"/>
                <a:ea typeface="Segoe UI"/>
              </a:rPr>
              <a:t>One atomic write per follow-up</a:t>
            </a:r>
          </a:p>
        </p:txBody>
      </p:sp>
      <p:sp>
        <p:nvSpPr>
          <p:cNvPr id="11" name="TextBox 11">
            <a:extLst>
              <a:ext uri="{FF2B5EF4-FFF2-40B4-BE49-F238E27FC236}">
                <a16:creationId xmlns:a16="http://schemas.microsoft.com/office/drawing/2014/main" id="{89A76E3F-A3B3-4707-B98D-73AD28F74547}"/>
              </a:ext>
            </a:extLst>
          </p:cNvPr>
          <p:cNvSpPr txBox="1"/>
          <p:nvPr/>
        </p:nvSpPr>
        <p:spPr>
          <a:xfrm>
            <a:off x="6496050" y="2266950"/>
            <a:ext cx="4667250" cy="1295400"/>
          </a:xfrm>
        </p:spPr>
        <p:txBody>
          <a:bodyPr wrap="square" rtlCol="0" lIns="0" tIns="0" rIns="0" bIns="0" anchor="t"/>
          <a:lstStyle/>
          <a:p>
            <a:pPr algn="l">
              <a:lnSpc>
                <a:spcPct val="120000"/>
              </a:lnSpc>
              <a:spcAft>
                <a:spcPts val="900"/>
              </a:spcAft>
            </a:pPr>
            <a:r>
              <a:rPr sz="1250">
                <a:solidFill>
                  <a:srgbClr val="33495F"/>
                </a:solidFill>
                <a:latin typeface="Segoe UI"/>
                <a:ea typeface="Segoe UI"/>
              </a:rPr>
              <a:t>The answer, the status it implies, the barrier behind the failure, the next visit, and a chained referral for a worsening child — one transaction or none.</a:t>
            </a:r>
          </a:p>
          <a:p>
            <a:pPr algn="l">
              <a:lnSpc>
                <a:spcPct val="120000"/>
              </a:lnSpc>
            </a:pPr>
            <a:r>
              <a:rPr sz="1250" b="1">
                <a:solidFill>
                  <a:srgbClr val="0B1F38"/>
                </a:solidFill>
                <a:latin typeface="Segoe UI"/>
                <a:ea typeface="Segoe UI"/>
              </a:rPr>
              <a:t>A second tap cannot invent a second answer.</a:t>
            </a:r>
          </a:p>
        </p:txBody>
      </p:sp>
      <p:sp>
        <p:nvSpPr>
          <p:cNvPr id="12" name="Shape 12">
            <a:extLst>
              <a:ext uri="{FF2B5EF4-FFF2-40B4-BE49-F238E27FC236}">
                <a16:creationId xmlns:a16="http://schemas.microsoft.com/office/drawing/2014/main" id="{B79522D6-F2E9-4E69-B03B-850B5C429630}"/>
              </a:ext>
            </a:extLst>
          </p:cNvPr>
          <p:cNvSpPr/>
          <p:nvPr/>
        </p:nvSpPr>
        <p:spPr>
          <a:xfrm>
            <a:off x="762000" y="3905250"/>
            <a:ext cx="5200650" cy="2038350"/>
          </a:xfrm>
          <a:prstGeom prst="roundRect">
            <a:avLst/>
          </a:prstGeom>
          <a:solidFill>
            <a:srgbClr val="FFFFFF"/>
          </a:solidFill>
          <a:ln w="12700">
            <a:solidFill>
              <a:srgbClr val="DCE6F2"/>
            </a:solidFill>
          </a:ln>
        </p:spPr>
        <p:txBody>
          <a:bodyPr wrap="square" rtlCol="0"/>
          <a:lstStyle/>
          <a:p>
            <a:r>
              <a:rPr/>
              <a:t/>
            </a:r>
          </a:p>
        </p:txBody>
      </p:sp>
      <p:sp>
        <p:nvSpPr>
          <p:cNvPr id="13" name="TextBox 13">
            <a:extLst>
              <a:ext uri="{FF2B5EF4-FFF2-40B4-BE49-F238E27FC236}">
                <a16:creationId xmlns:a16="http://schemas.microsoft.com/office/drawing/2014/main" id="{C6F60A06-D4E6-449D-87FB-396CBD701B5E}"/>
              </a:ext>
            </a:extLst>
          </p:cNvPr>
          <p:cNvSpPr txBox="1"/>
          <p:nvPr/>
        </p:nvSpPr>
        <p:spPr>
          <a:xfrm>
            <a:off x="1028700" y="4114800"/>
            <a:ext cx="4667250" cy="285750"/>
          </a:xfrm>
        </p:spPr>
        <p:txBody>
          <a:bodyPr wrap="square" rtlCol="0" lIns="0" tIns="0" rIns="0" bIns="0" anchor="t"/>
          <a:lstStyle/>
          <a:p>
            <a:pPr algn="l"/>
            <a:r>
              <a:rPr sz="1600" b="1">
                <a:solidFill>
                  <a:srgbClr val="1B5FD9"/>
                </a:solidFill>
                <a:latin typeface="Segoe UI"/>
                <a:ea typeface="Segoe UI"/>
              </a:rPr>
              <a:t>Who is allowed to say what</a:t>
            </a:r>
          </a:p>
        </p:txBody>
      </p:sp>
      <p:sp>
        <p:nvSpPr>
          <p:cNvPr id="14" name="TextBox 14">
            <a:extLst>
              <a:ext uri="{FF2B5EF4-FFF2-40B4-BE49-F238E27FC236}">
                <a16:creationId xmlns:a16="http://schemas.microsoft.com/office/drawing/2014/main" id="{1205CE48-3CE8-45EB-B550-0D76200C1703}"/>
              </a:ext>
            </a:extLst>
          </p:cNvPr>
          <p:cNvSpPr txBox="1"/>
          <p:nvPr/>
        </p:nvSpPr>
        <p:spPr>
          <a:xfrm>
            <a:off x="1028700" y="4476750"/>
            <a:ext cx="4667250" cy="1295400"/>
          </a:xfrm>
        </p:spPr>
        <p:txBody>
          <a:bodyPr wrap="square" rtlCol="0" lIns="0" tIns="0" rIns="0" bIns="0" anchor="t"/>
          <a:lstStyle/>
          <a:p>
            <a:pPr algn="l">
              <a:lnSpc>
                <a:spcPct val="120000"/>
              </a:lnSpc>
              <a:spcAft>
                <a:spcPts val="900"/>
              </a:spcAft>
            </a:pPr>
            <a:r>
              <a:rPr sz="1250">
                <a:solidFill>
                  <a:srgbClr val="33495F"/>
                </a:solidFill>
                <a:latin typeface="Segoe UI"/>
                <a:ea typeface="Segoe UI"/>
              </a:rPr>
              <a:t>A facility verifier with a staff code confirms only what they witnessed: arrived, treated, died.</a:t>
            </a:r>
          </a:p>
          <a:p>
            <a:pPr algn="l">
              <a:lnSpc>
                <a:spcPct val="120000"/>
              </a:lnSpc>
              <a:spcAft>
                <a:spcPts val="900"/>
              </a:spcAft>
            </a:pPr>
            <a:r>
              <a:rPr sz="1250">
                <a:solidFill>
                  <a:srgbClr val="33495F"/>
                </a:solidFill>
                <a:latin typeface="Segoe UI"/>
                <a:ea typeface="Segoe UI"/>
              </a:rPr>
              <a:t>It can never record a family-side refusal.</a:t>
            </a:r>
          </a:p>
          <a:p>
            <a:pPr algn="l">
              <a:lnSpc>
                <a:spcPct val="120000"/>
              </a:lnSpc>
            </a:pPr>
            <a:r>
              <a:rPr sz="1250" b="1">
                <a:solidFill>
                  <a:srgbClr val="0B1F38"/>
                </a:solidFill>
                <a:latin typeface="Segoe UI"/>
                <a:ea typeface="Segoe UI"/>
              </a:rPr>
              <a:t>Two unanswered visits make it a trace, not a bad afternoon.</a:t>
            </a:r>
          </a:p>
        </p:txBody>
      </p:sp>
      <p:sp>
        <p:nvSpPr>
          <p:cNvPr id="15" name="Shape 15">
            <a:extLst>
              <a:ext uri="{FF2B5EF4-FFF2-40B4-BE49-F238E27FC236}">
                <a16:creationId xmlns:a16="http://schemas.microsoft.com/office/drawing/2014/main" id="{A9329DE7-9A18-4741-A32C-85F3E205A87F}"/>
              </a:ext>
            </a:extLst>
          </p:cNvPr>
          <p:cNvSpPr/>
          <p:nvPr/>
        </p:nvSpPr>
        <p:spPr>
          <a:xfrm>
            <a:off x="6229350" y="3905250"/>
            <a:ext cx="5200650" cy="2038350"/>
          </a:xfrm>
          <a:prstGeom prst="roundRect">
            <a:avLst/>
          </a:prstGeom>
          <a:solidFill>
            <a:srgbClr val="0B1F38"/>
          </a:solidFill>
        </p:spPr>
        <p:txBody>
          <a:bodyPr wrap="square" rtlCol="0"/>
          <a:lstStyle/>
          <a:p>
            <a:r>
              <a:rPr/>
              <a:t/>
            </a:r>
          </a:p>
        </p:txBody>
      </p:sp>
      <p:sp>
        <p:nvSpPr>
          <p:cNvPr id="16" name="TextBox 16">
            <a:extLst>
              <a:ext uri="{FF2B5EF4-FFF2-40B4-BE49-F238E27FC236}">
                <a16:creationId xmlns:a16="http://schemas.microsoft.com/office/drawing/2014/main" id="{234790CB-2EE8-4CFD-91D0-532BF328ACF2}"/>
              </a:ext>
            </a:extLst>
          </p:cNvPr>
          <p:cNvSpPr txBox="1"/>
          <p:nvPr/>
        </p:nvSpPr>
        <p:spPr>
          <a:xfrm>
            <a:off x="6496050" y="4114800"/>
            <a:ext cx="4667250" cy="285750"/>
          </a:xfrm>
        </p:spPr>
        <p:txBody>
          <a:bodyPr wrap="square" rtlCol="0" lIns="0" tIns="0" rIns="0" bIns="0" anchor="t"/>
          <a:lstStyle/>
          <a:p>
            <a:pPr algn="l"/>
            <a:r>
              <a:rPr sz="1600" b="1">
                <a:solidFill>
                  <a:srgbClr val="F2A93B"/>
                </a:solidFill>
                <a:latin typeface="Segoe UI"/>
                <a:ea typeface="Segoe UI"/>
              </a:rPr>
              <a:t>The reason becomes evidence</a:t>
            </a:r>
          </a:p>
        </p:txBody>
      </p:sp>
      <p:sp>
        <p:nvSpPr>
          <p:cNvPr id="17" name="TextBox 17">
            <a:extLst>
              <a:ext uri="{FF2B5EF4-FFF2-40B4-BE49-F238E27FC236}">
                <a16:creationId xmlns:a16="http://schemas.microsoft.com/office/drawing/2014/main" id="{6311EED6-901A-47DF-802A-8C2F669BE092}"/>
              </a:ext>
            </a:extLst>
          </p:cNvPr>
          <p:cNvSpPr txBox="1"/>
          <p:nvPr/>
        </p:nvSpPr>
        <p:spPr>
          <a:xfrm>
            <a:off x="6496050" y="4476750"/>
            <a:ext cx="4667250" cy="1295400"/>
          </a:xfrm>
        </p:spPr>
        <p:txBody>
          <a:bodyPr wrap="square" rtlCol="0" lIns="0" tIns="0" rIns="0" bIns="0" anchor="t"/>
          <a:lstStyle/>
          <a:p>
            <a:pPr algn="l">
              <a:lnSpc>
                <a:spcPct val="120000"/>
              </a:lnSpc>
              <a:spcAft>
                <a:spcPts val="900"/>
              </a:spcAft>
            </a:pPr>
            <a:r>
              <a:rPr sz="1250">
                <a:solidFill>
                  <a:srgbClr val="DCE6F2"/>
                </a:solidFill>
                <a:latin typeface="Segoe UI"/>
                <a:ea typeface="Segoe UI"/>
              </a:rPr>
              <a:t>Counted by distinct households, not by taps, over a 30-day window — because a sub-district reports monthly.</a:t>
            </a:r>
          </a:p>
          <a:p>
            <a:pPr algn="l">
              <a:lnSpc>
                <a:spcPct val="120000"/>
              </a:lnSpc>
            </a:pPr>
            <a:r>
              <a:rPr sz="1250" b="1">
                <a:solidFill>
                  <a:srgbClr val="FFFFFF"/>
                </a:solidFill>
                <a:latin typeface="Segoe UI"/>
                <a:ea typeface="Segoe UI"/>
              </a:rPr>
              <a:t>Three households is where coincidence stops. Each pattern names who owns the fix: household, community, facility, system, or season.</a:t>
            </a:r>
          </a:p>
        </p:txBody>
      </p:sp>
      <p:sp>
        <p:nvSpPr>
          <p:cNvPr id="18" name="TextBox 18">
            <a:extLst>
              <a:ext uri="{FF2B5EF4-FFF2-40B4-BE49-F238E27FC236}">
                <a16:creationId xmlns:a16="http://schemas.microsoft.com/office/drawing/2014/main" id="{E5408B2E-A648-4218-B672-C762F5C916B9}"/>
              </a:ext>
            </a:extLst>
          </p:cNvPr>
          <p:cNvSpPr txBox="1"/>
          <p:nvPr/>
        </p:nvSpPr>
        <p:spPr>
          <a:xfrm>
            <a:off x="762000" y="6153150"/>
            <a:ext cx="10668000" cy="457200"/>
          </a:xfrm>
        </p:spPr>
        <p:txBody>
          <a:bodyPr wrap="square" rtlCol="0" lIns="0" tIns="0" rIns="0" bIns="0" anchor="t"/>
          <a:lstStyle/>
          <a:p>
            <a:pPr algn="l">
              <a:lnSpc>
                <a:spcPct val="122000"/>
              </a:lnSpc>
            </a:pPr>
            <a:r>
              <a:rPr sz="1250">
                <a:solidFill>
                  <a:srgbClr val="7C8DA3"/>
                </a:solidFill>
                <a:latin typeface="Segoe UI"/>
                <a:ea typeface="Segoe UI"/>
              </a:rPr>
              <a:t>SBAR handover is generated from the same record, and the evidence count re-reads the moment a follow-up is answered.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3B787F05-7814-4728-8BA2-E0A3AF287A88}"/>
              </a:ext>
            </a:extLst>
          </p:cNvPr>
          <p:cNvSpPr txBox="1"/>
          <p:nvPr/>
        </p:nvSpPr>
        <p:spPr>
          <a:xfrm>
            <a:off x="762000" y="514350"/>
            <a:ext cx="9525000" cy="228600"/>
          </a:xfrm>
        </p:spPr>
        <p:txBody>
          <a:bodyPr wrap="square" rtlCol="0" lIns="0" tIns="0" rIns="0" bIns="0" anchor="t"/>
          <a:lstStyle/>
          <a:p>
            <a:pPr algn="l"/>
            <a:r>
              <a:rPr sz="1150" b="1">
                <a:solidFill>
                  <a:srgbClr val="7C8DA3"/>
                </a:solidFill>
                <a:latin typeface="Segoe UI"/>
                <a:ea typeface="Segoe UI"/>
              </a:rPr>
              <a:t>PROBLEM STATEMENT  ·  TARGET USERS</a:t>
            </a:r>
          </a:p>
        </p:txBody>
      </p:sp>
      <p:sp>
        <p:nvSpPr>
          <p:cNvPr id="4" name="TextBox 4">
            <a:extLst>
              <a:ext uri="{FF2B5EF4-FFF2-40B4-BE49-F238E27FC236}">
                <a16:creationId xmlns:a16="http://schemas.microsoft.com/office/drawing/2014/main" id="{7395E926-AA6D-47A8-B03C-B3215A53DF0E}"/>
              </a:ext>
            </a:extLst>
          </p:cNvPr>
          <p:cNvSpPr txBox="1"/>
          <p:nvPr/>
        </p:nvSpPr>
        <p:spPr>
          <a:xfrm>
            <a:off x="762000" y="819150"/>
            <a:ext cx="10668000" cy="495300"/>
          </a:xfrm>
        </p:spPr>
        <p:txBody>
          <a:bodyPr wrap="square" rtlCol="0" lIns="0" tIns="0" rIns="0" bIns="0" anchor="t"/>
          <a:lstStyle/>
          <a:p>
            <a:pPr algn="l">
              <a:lnSpc>
                <a:spcPct val="104000"/>
              </a:lnSpc>
            </a:pPr>
            <a:r>
              <a:rPr sz="2800" b="1">
                <a:solidFill>
                  <a:srgbClr val="0B1F38"/>
                </a:solidFill>
                <a:latin typeface="Segoe UI"/>
                <a:ea typeface="Segoe UI"/>
              </a:rPr>
              <a:t>A missed referral has one column. The reason has twelve.</a:t>
            </a:r>
          </a:p>
        </p:txBody>
      </p:sp>
      <p:cxnSp>
        <p:nvCxnSpPr>
          <p:cNvPr id="5" name="Straight Connector 5">
            <a:extLst>
              <a:ext uri="{FF2B5EF4-FFF2-40B4-BE49-F238E27FC236}">
                <a16:creationId xmlns:a16="http://schemas.microsoft.com/office/drawing/2014/main" id="{A263AF11-169F-4DBA-B8B1-8FCD1A3AD56D}"/>
              </a:ext>
            </a:extLst>
          </p:cNvPr>
          <p:cNvCxnSpPr/>
          <p:nvPr/>
        </p:nvCxnSpPr>
        <p:spPr>
          <a:xfrm>
            <a:off x="762000" y="1447800"/>
            <a:ext cx="10668000" cy="9525"/>
          </a:xfrm>
          <a:prstGeom prst="line">
            <a:avLst/>
          </a:prstGeom>
          <a:ln w="12700" cap="flat">
            <a:solidFill>
              <a:srgbClr val="DCE6F2"/>
            </a:solidFill>
          </a:ln>
        </p:spPr>
      </p:cxnSp>
      <p:sp>
        <p:nvSpPr>
          <p:cNvPr id="6" name="Shape 6">
            <a:extLst>
              <a:ext uri="{FF2B5EF4-FFF2-40B4-BE49-F238E27FC236}">
                <a16:creationId xmlns:a16="http://schemas.microsoft.com/office/drawing/2014/main" id="{943EF143-B222-4655-AECA-A517D6A68122}"/>
              </a:ext>
            </a:extLst>
          </p:cNvPr>
          <p:cNvSpPr/>
          <p:nvPr/>
        </p:nvSpPr>
        <p:spPr>
          <a:xfrm>
            <a:off x="762000" y="1695450"/>
            <a:ext cx="4953000" cy="3048000"/>
          </a:xfrm>
          <a:prstGeom prst="roundRect">
            <a:avLst/>
          </a:prstGeom>
          <a:solidFill>
            <a:srgbClr val="FFFFFF"/>
          </a:solidFill>
          <a:ln w="12700">
            <a:solidFill>
              <a:srgbClr val="DCE6F2"/>
            </a:solidFill>
          </a:ln>
        </p:spPr>
        <p:txBody>
          <a:bodyPr wrap="square" rtlCol="0"/>
          <a:lstStyle/>
          <a:p>
            <a:r>
              <a:rPr/>
              <a:t/>
            </a:r>
          </a:p>
        </p:txBody>
      </p:sp>
      <p:sp>
        <p:nvSpPr>
          <p:cNvPr id="7" name="TextBox 7">
            <a:extLst>
              <a:ext uri="{FF2B5EF4-FFF2-40B4-BE49-F238E27FC236}">
                <a16:creationId xmlns:a16="http://schemas.microsoft.com/office/drawing/2014/main" id="{26CB5963-1F3B-4C37-B048-40B0F53AC6C1}"/>
              </a:ext>
            </a:extLst>
          </p:cNvPr>
          <p:cNvSpPr txBox="1"/>
          <p:nvPr/>
        </p:nvSpPr>
        <p:spPr>
          <a:xfrm>
            <a:off x="1028700" y="1924050"/>
            <a:ext cx="4419600" cy="285750"/>
          </a:xfrm>
        </p:spPr>
        <p:txBody>
          <a:bodyPr wrap="square" rtlCol="0" lIns="0" tIns="0" rIns="0" bIns="0" anchor="t"/>
          <a:lstStyle/>
          <a:p>
            <a:pPr algn="l"/>
            <a:r>
              <a:rPr sz="1600" b="1">
                <a:solidFill>
                  <a:srgbClr val="1B5FD9"/>
                </a:solidFill>
                <a:latin typeface="Segoe UI"/>
                <a:ea typeface="Segoe UI"/>
              </a:rPr>
              <a:t>The problem</a:t>
            </a:r>
          </a:p>
        </p:txBody>
      </p:sp>
      <p:sp>
        <p:nvSpPr>
          <p:cNvPr id="8" name="TextBox 8">
            <a:extLst>
              <a:ext uri="{FF2B5EF4-FFF2-40B4-BE49-F238E27FC236}">
                <a16:creationId xmlns:a16="http://schemas.microsoft.com/office/drawing/2014/main" id="{0C632D79-078E-4957-8BEB-FDFA3BF08672}"/>
              </a:ext>
            </a:extLst>
          </p:cNvPr>
          <p:cNvSpPr txBox="1"/>
          <p:nvPr/>
        </p:nvSpPr>
        <p:spPr>
          <a:xfrm>
            <a:off x="1028700" y="2286000"/>
            <a:ext cx="4419600" cy="2857500"/>
          </a:xfrm>
        </p:spPr>
        <p:txBody>
          <a:bodyPr wrap="square" rtlCol="0" lIns="0" tIns="0" rIns="0" bIns="0" anchor="t"/>
          <a:lstStyle/>
          <a:p>
            <a:pPr marL="228600" indent="-228600" algn="l">
              <a:lnSpc>
                <a:spcPct val="118000"/>
              </a:lnSpc>
              <a:spcAft>
                <a:spcPts val="1200"/>
              </a:spcAft>
              <a:buChar char="•"/>
            </a:pPr>
            <a:r>
              <a:rPr sz="1250">
                <a:solidFill>
                  <a:srgbClr val="0B1F38"/>
                </a:solidFill>
                <a:latin typeface="Segoe UI"/>
                <a:ea typeface="Segoe UI"/>
              </a:rPr>
              <a:t>The register records that a referral was missed, not why. Twelve different reasons, one column.</a:t>
            </a:r>
          </a:p>
          <a:p>
            <a:pPr marL="228600" indent="-228600" algn="l">
              <a:lnSpc>
                <a:spcPct val="118000"/>
              </a:lnSpc>
              <a:spcAft>
                <a:spcPts val="1200"/>
              </a:spcAft>
              <a:buChar char="•"/>
            </a:pPr>
            <a:r>
              <a:rPr sz="1250">
                <a:solidFill>
                  <a:srgbClr val="33495F"/>
                </a:solidFill>
                <a:latin typeface="Segoe UI"/>
                <a:ea typeface="Segoe UI"/>
              </a:rPr>
              <a:t>No network is the operating condition, not an edge case — work happens on foot, on ninety seconds of EDGE.</a:t>
            </a:r>
          </a:p>
          <a:p>
            <a:pPr marL="228600" indent="-228600" algn="l">
              <a:lnSpc>
                <a:spcPct val="118000"/>
              </a:lnSpc>
              <a:spcAft>
                <a:spcPts val="1200"/>
              </a:spcAft>
              <a:buChar char="•"/>
            </a:pPr>
            <a:r>
              <a:rPr sz="1250">
                <a:solidFill>
                  <a:srgbClr val="33495F"/>
                </a:solidFill>
                <a:latin typeface="Segoe UI"/>
                <a:ea typeface="Segoe UI"/>
              </a:rPr>
              <a:t>Care is delivered twice: once by the worker with the child, once by the family at home.</a:t>
            </a:r>
          </a:p>
          <a:p>
            <a:pPr marL="228600" indent="-228600" algn="l">
              <a:lnSpc>
                <a:spcPct val="118000"/>
              </a:lnSpc>
              <a:spcAft>
                <a:spcPts val="1200"/>
              </a:spcAft>
              <a:buChar char="•"/>
            </a:pPr>
            <a:r>
              <a:rPr sz="1250">
                <a:solidFill>
                  <a:srgbClr val="33495F"/>
                </a:solidFill>
                <a:latin typeface="Segoe UI"/>
                <a:ea typeface="Segoe UI"/>
              </a:rPr>
              <a:t>And at home the language is Dagbani, Twi or Hausa far more often than English.</a:t>
            </a:r>
          </a:p>
          <a:p>
            <a:pPr marL="228600" indent="-228600" algn="l">
              <a:lnSpc>
                <a:spcPct val="118000"/>
              </a:lnSpc>
              <a:buChar char="•"/>
            </a:pPr>
            <a:r>
              <a:rPr sz="1250">
                <a:solidFill>
                  <a:srgbClr val="33495F"/>
                </a:solidFill>
                <a:latin typeface="Segoe UI"/>
                <a:ea typeface="Segoe UI"/>
              </a:rPr>
              <a:t>A zone of a thousand-plus residents per worker means the follow-up is the intervention, not the clinic visit.</a:t>
            </a:r>
          </a:p>
        </p:txBody>
      </p:sp>
      <p:sp>
        <p:nvSpPr>
          <p:cNvPr id="9" name="Shape 9">
            <a:extLst>
              <a:ext uri="{FF2B5EF4-FFF2-40B4-BE49-F238E27FC236}">
                <a16:creationId xmlns:a16="http://schemas.microsoft.com/office/drawing/2014/main" id="{D48F1402-CC17-4C6A-B2FD-6B6A639F6C82}"/>
              </a:ext>
            </a:extLst>
          </p:cNvPr>
          <p:cNvSpPr/>
          <p:nvPr/>
        </p:nvSpPr>
        <p:spPr>
          <a:xfrm>
            <a:off x="6057900" y="1695450"/>
            <a:ext cx="5372100" cy="3048000"/>
          </a:xfrm>
          <a:prstGeom prst="roundRect">
            <a:avLst/>
          </a:prstGeom>
          <a:solidFill>
            <a:srgbClr val="FFFFFF"/>
          </a:solidFill>
          <a:ln w="12700">
            <a:solidFill>
              <a:srgbClr val="DCE6F2"/>
            </a:solidFill>
          </a:ln>
        </p:spPr>
        <p:txBody>
          <a:bodyPr wrap="square" rtlCol="0"/>
          <a:lstStyle/>
          <a:p>
            <a:r>
              <a:rPr/>
              <a:t/>
            </a:r>
          </a:p>
        </p:txBody>
      </p:sp>
      <p:sp>
        <p:nvSpPr>
          <p:cNvPr id="10" name="TextBox 10">
            <a:extLst>
              <a:ext uri="{FF2B5EF4-FFF2-40B4-BE49-F238E27FC236}">
                <a16:creationId xmlns:a16="http://schemas.microsoft.com/office/drawing/2014/main" id="{7D38FC83-6352-4561-AF6B-D1AE8CBC93F7}"/>
              </a:ext>
            </a:extLst>
          </p:cNvPr>
          <p:cNvSpPr txBox="1"/>
          <p:nvPr/>
        </p:nvSpPr>
        <p:spPr>
          <a:xfrm>
            <a:off x="6324600" y="1924050"/>
            <a:ext cx="4838700" cy="285750"/>
          </a:xfrm>
        </p:spPr>
        <p:txBody>
          <a:bodyPr wrap="square" rtlCol="0" lIns="0" tIns="0" rIns="0" bIns="0" anchor="t"/>
          <a:lstStyle/>
          <a:p>
            <a:pPr algn="l"/>
            <a:r>
              <a:rPr sz="1600" b="1">
                <a:solidFill>
                  <a:srgbClr val="1B5FD9"/>
                </a:solidFill>
                <a:latin typeface="Segoe UI"/>
                <a:ea typeface="Segoe UI"/>
              </a:rPr>
              <a:t>The people it is built for</a:t>
            </a:r>
          </a:p>
        </p:txBody>
      </p:sp>
      <p:sp>
        <p:nvSpPr>
          <p:cNvPr id="11" name="TextBox 11">
            <a:extLst>
              <a:ext uri="{FF2B5EF4-FFF2-40B4-BE49-F238E27FC236}">
                <a16:creationId xmlns:a16="http://schemas.microsoft.com/office/drawing/2014/main" id="{52CEA596-201E-4C0A-915F-2280B9984C6D}"/>
              </a:ext>
            </a:extLst>
          </p:cNvPr>
          <p:cNvSpPr txBox="1"/>
          <p:nvPr/>
        </p:nvSpPr>
        <p:spPr>
          <a:xfrm>
            <a:off x="6324600" y="2286000"/>
            <a:ext cx="4838700" cy="247650"/>
          </a:xfrm>
        </p:spPr>
        <p:txBody>
          <a:bodyPr wrap="square" rtlCol="0" lIns="0" tIns="0" rIns="0" bIns="0" anchor="t"/>
          <a:lstStyle/>
          <a:p>
            <a:pPr algn="l"/>
            <a:r>
              <a:rPr sz="1350" b="1">
                <a:solidFill>
                  <a:srgbClr val="0B1F38"/>
                </a:solidFill>
                <a:latin typeface="Segoe UI"/>
                <a:ea typeface="Segoe UI"/>
              </a:rPr>
              <a:t>Frontline health worker / CHPS nurse</a:t>
            </a:r>
          </a:p>
        </p:txBody>
      </p:sp>
      <p:sp>
        <p:nvSpPr>
          <p:cNvPr id="12" name="TextBox 12">
            <a:extLst>
              <a:ext uri="{FF2B5EF4-FFF2-40B4-BE49-F238E27FC236}">
                <a16:creationId xmlns:a16="http://schemas.microsoft.com/office/drawing/2014/main" id="{23F1634D-5725-4633-ABBE-80F6273B9844}"/>
              </a:ext>
            </a:extLst>
          </p:cNvPr>
          <p:cNvSpPr txBox="1"/>
          <p:nvPr/>
        </p:nvSpPr>
        <p:spPr>
          <a:xfrm>
            <a:off x="6324600" y="2533650"/>
            <a:ext cx="4838700" cy="438150"/>
          </a:xfrm>
        </p:spPr>
        <p:txBody>
          <a:bodyPr wrap="square" rtlCol="0" lIns="0" tIns="0" rIns="0" bIns="0" anchor="t"/>
          <a:lstStyle/>
          <a:p>
            <a:pPr algn="l">
              <a:lnSpc>
                <a:spcPct val="116000"/>
              </a:lnSpc>
            </a:pPr>
            <a:r>
              <a:rPr sz="1200">
                <a:solidFill>
                  <a:srgbClr val="33495F"/>
                </a:solidFill>
                <a:latin typeface="Segoe UI"/>
                <a:ea typeface="Segoe UI"/>
              </a:rPr>
              <a:t>Roll call, vitals, IMCI assessment, one verdict with weight-based doses, referral, follow-up desk, ranked visit route.</a:t>
            </a:r>
          </a:p>
        </p:txBody>
      </p:sp>
      <p:sp>
        <p:nvSpPr>
          <p:cNvPr id="13" name="TextBox 13">
            <a:extLst>
              <a:ext uri="{FF2B5EF4-FFF2-40B4-BE49-F238E27FC236}">
                <a16:creationId xmlns:a16="http://schemas.microsoft.com/office/drawing/2014/main" id="{3C88FC17-0EFB-49F3-849A-EE09D993CB81}"/>
              </a:ext>
            </a:extLst>
          </p:cNvPr>
          <p:cNvSpPr txBox="1"/>
          <p:nvPr/>
        </p:nvSpPr>
        <p:spPr>
          <a:xfrm>
            <a:off x="6324600" y="3048000"/>
            <a:ext cx="4838700" cy="247650"/>
          </a:xfrm>
        </p:spPr>
        <p:txBody>
          <a:bodyPr wrap="square" rtlCol="0" lIns="0" tIns="0" rIns="0" bIns="0" anchor="t"/>
          <a:lstStyle/>
          <a:p>
            <a:pPr algn="l"/>
            <a:r>
              <a:rPr sz="1350" b="1">
                <a:solidFill>
                  <a:srgbClr val="0B1F38"/>
                </a:solidFill>
                <a:latin typeface="Segoe UI"/>
                <a:ea typeface="Segoe UI"/>
              </a:rPr>
              <a:t>Caregiver and family</a:t>
            </a:r>
          </a:p>
        </p:txBody>
      </p:sp>
      <p:sp>
        <p:nvSpPr>
          <p:cNvPr id="14" name="TextBox 14">
            <a:extLst>
              <a:ext uri="{FF2B5EF4-FFF2-40B4-BE49-F238E27FC236}">
                <a16:creationId xmlns:a16="http://schemas.microsoft.com/office/drawing/2014/main" id="{5136B242-0703-46E0-9A11-F5EE1EA7AE95}"/>
              </a:ext>
            </a:extLst>
          </p:cNvPr>
          <p:cNvSpPr txBox="1"/>
          <p:nvPr/>
        </p:nvSpPr>
        <p:spPr>
          <a:xfrm>
            <a:off x="6324600" y="3295650"/>
            <a:ext cx="4838700" cy="438150"/>
          </a:xfrm>
        </p:spPr>
        <p:txBody>
          <a:bodyPr wrap="square" rtlCol="0" lIns="0" tIns="0" rIns="0" bIns="0" anchor="t"/>
          <a:lstStyle/>
          <a:p>
            <a:pPr algn="l">
              <a:lnSpc>
                <a:spcPct val="116000"/>
              </a:lnSpc>
            </a:pPr>
            <a:r>
              <a:rPr sz="1200">
                <a:solidFill>
                  <a:srgbClr val="33495F"/>
                </a:solidFill>
                <a:latin typeface="Segoe UI"/>
                <a:ea typeface="Segoe UI"/>
              </a:rPr>
              <a:t>A danger-sign check at home in her own language, every answer read back, a care plan, and ask-for-help.</a:t>
            </a:r>
          </a:p>
        </p:txBody>
      </p:sp>
      <p:sp>
        <p:nvSpPr>
          <p:cNvPr id="15" name="TextBox 15">
            <a:extLst>
              <a:ext uri="{FF2B5EF4-FFF2-40B4-BE49-F238E27FC236}">
                <a16:creationId xmlns:a16="http://schemas.microsoft.com/office/drawing/2014/main" id="{21776ED9-564D-45A8-ACB2-C521B5AF0350}"/>
              </a:ext>
            </a:extLst>
          </p:cNvPr>
          <p:cNvSpPr txBox="1"/>
          <p:nvPr/>
        </p:nvSpPr>
        <p:spPr>
          <a:xfrm>
            <a:off x="6324600" y="3810000"/>
            <a:ext cx="4838700" cy="247650"/>
          </a:xfrm>
        </p:spPr>
        <p:txBody>
          <a:bodyPr wrap="square" rtlCol="0" lIns="0" tIns="0" rIns="0" bIns="0" anchor="t"/>
          <a:lstStyle/>
          <a:p>
            <a:pPr algn="l"/>
            <a:r>
              <a:rPr sz="1350" b="1">
                <a:solidFill>
                  <a:srgbClr val="0B1F38"/>
                </a:solidFill>
                <a:latin typeface="Segoe UI"/>
                <a:ea typeface="Segoe UI"/>
              </a:rPr>
              <a:t>Supervisor and district</a:t>
            </a:r>
          </a:p>
        </p:txBody>
      </p:sp>
      <p:sp>
        <p:nvSpPr>
          <p:cNvPr id="16" name="TextBox 16">
            <a:extLst>
              <a:ext uri="{FF2B5EF4-FFF2-40B4-BE49-F238E27FC236}">
                <a16:creationId xmlns:a16="http://schemas.microsoft.com/office/drawing/2014/main" id="{D54055A8-AAB5-4560-9E19-53C49E44C618}"/>
              </a:ext>
            </a:extLst>
          </p:cNvPr>
          <p:cNvSpPr txBox="1"/>
          <p:nvPr/>
        </p:nvSpPr>
        <p:spPr>
          <a:xfrm>
            <a:off x="6324600" y="4057650"/>
            <a:ext cx="4838700" cy="571500"/>
          </a:xfrm>
        </p:spPr>
        <p:txBody>
          <a:bodyPr wrap="square" rtlCol="0" lIns="0" tIns="0" rIns="0" bIns="0" anchor="t"/>
          <a:lstStyle/>
          <a:p>
            <a:pPr algn="l">
              <a:lnSpc>
                <a:spcPct val="116000"/>
              </a:lnSpc>
            </a:pPr>
            <a:r>
              <a:rPr sz="1200">
                <a:solidFill>
                  <a:srgbClr val="33495F"/>
                </a:solidFill>
                <a:latin typeface="Segoe UI"/>
                <a:ea typeface="Segoe UI"/>
              </a:rPr>
              <a:t>Consent, access and review queues, read audit and pattern monitoring — with the coverage limit printed on the screen rather than implied.</a:t>
            </a:r>
          </a:p>
        </p:txBody>
      </p:sp>
      <p:sp>
        <p:nvSpPr>
          <p:cNvPr id="17" name="Shape 17">
            <a:extLst>
              <a:ext uri="{FF2B5EF4-FFF2-40B4-BE49-F238E27FC236}">
                <a16:creationId xmlns:a16="http://schemas.microsoft.com/office/drawing/2014/main" id="{61EA5E12-3F5B-4E8C-8E1D-15D64C7FE17D}"/>
              </a:ext>
            </a:extLst>
          </p:cNvPr>
          <p:cNvSpPr/>
          <p:nvPr/>
        </p:nvSpPr>
        <p:spPr>
          <a:xfrm>
            <a:off x="762000" y="4914900"/>
            <a:ext cx="10668000" cy="914400"/>
          </a:xfrm>
          <a:prstGeom prst="roundRect">
            <a:avLst/>
          </a:prstGeom>
          <a:solidFill>
            <a:srgbClr val="0B1F38"/>
          </a:solidFill>
        </p:spPr>
        <p:txBody>
          <a:bodyPr wrap="square" rtlCol="0"/>
          <a:lstStyle/>
          <a:p>
            <a:r>
              <a:rPr/>
              <a:t/>
            </a:r>
          </a:p>
        </p:txBody>
      </p:sp>
      <p:sp>
        <p:nvSpPr>
          <p:cNvPr id="18" name="TextBox 18">
            <a:extLst>
              <a:ext uri="{FF2B5EF4-FFF2-40B4-BE49-F238E27FC236}">
                <a16:creationId xmlns:a16="http://schemas.microsoft.com/office/drawing/2014/main" id="{7DB512CD-6024-4DE9-8351-42C640EB907C}"/>
              </a:ext>
            </a:extLst>
          </p:cNvPr>
          <p:cNvSpPr txBox="1"/>
          <p:nvPr/>
        </p:nvSpPr>
        <p:spPr>
          <a:xfrm>
            <a:off x="1104900" y="5086350"/>
            <a:ext cx="9982200" cy="609600"/>
          </a:xfrm>
        </p:spPr>
        <p:txBody>
          <a:bodyPr wrap="square" rtlCol="0" lIns="0" tIns="0" rIns="0" bIns="0" anchor="t"/>
          <a:lstStyle/>
          <a:p>
            <a:pPr algn="l">
              <a:lnSpc>
                <a:spcPct val="122000"/>
              </a:lnSpc>
            </a:pPr>
            <a:r>
              <a:rPr sz="1450" b="1">
                <a:solidFill>
                  <a:srgbClr val="FFFFFF"/>
                </a:solidFill>
                <a:latin typeface="Segoe UI"/>
                <a:ea typeface="Segoe UI"/>
              </a:rPr>
              <a:t>Two apps, one record, zero required network. </a:t>
            </a:r>
            <a:r>
              <a:rPr sz="1450">
                <a:solidFill>
                  <a:srgbClr val="DCE6F2"/>
                </a:solidFill>
                <a:latin typeface="Segoe UI"/>
                <a:ea typeface="Segoe UI"/>
              </a:rPr>
              <a:t>Android, iOS, Windows and Web from one codebase — 234 Dart files, 1,239 tests passing.</a:t>
            </a:r>
          </a:p>
        </p:txBody>
      </p:sp>
      <p:sp>
        <p:nvSpPr>
          <p:cNvPr id="19" name="TextBox 19">
            <a:extLst>
              <a:ext uri="{FF2B5EF4-FFF2-40B4-BE49-F238E27FC236}">
                <a16:creationId xmlns:a16="http://schemas.microsoft.com/office/drawing/2014/main" id="{E29B978E-5E89-439F-A028-506224649D49}"/>
              </a:ext>
            </a:extLst>
          </p:cNvPr>
          <p:cNvSpPr txBox="1"/>
          <p:nvPr/>
        </p:nvSpPr>
        <p:spPr>
          <a:xfrm>
            <a:off x="762000" y="5981700"/>
            <a:ext cx="10668000" cy="533400"/>
          </a:xfrm>
        </p:spPr>
        <p:txBody>
          <a:bodyPr wrap="square" rtlCol="0" lIns="0" tIns="0" rIns="0" bIns="0" anchor="t"/>
          <a:lstStyle/>
          <a:p>
            <a:pPr algn="l">
              <a:lnSpc>
                <a:spcPct val="122000"/>
              </a:lnSpc>
            </a:pPr>
            <a:r>
              <a:rPr sz="1250">
                <a:solidFill>
                  <a:srgbClr val="7C8DA3"/>
                </a:solidFill>
                <a:latin typeface="Segoe UI"/>
                <a:ea typeface="Segoe UI"/>
              </a:rPr>
              <a:t>A family can start its own record before a worker ever reaches it — the repository refuses any household but theirs, and no clinical field is writable with that permission.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A31"/>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F5A26B40-8508-46E9-9F93-0DBCE6F63944}"/>
              </a:ext>
            </a:extLst>
          </p:cNvPr>
          <p:cNvSpPr txBox="1"/>
          <p:nvPr/>
        </p:nvSpPr>
        <p:spPr>
          <a:xfrm>
            <a:off x="762000" y="514350"/>
            <a:ext cx="9525000" cy="228600"/>
          </a:xfrm>
        </p:spPr>
        <p:txBody>
          <a:bodyPr wrap="square" rtlCol="0" lIns="0" tIns="0" rIns="0" bIns="0" anchor="t"/>
          <a:lstStyle/>
          <a:p>
            <a:pPr algn="l"/>
            <a:r>
              <a:rPr sz="1150" b="1">
                <a:solidFill>
                  <a:srgbClr val="5F7899"/>
                </a:solidFill>
                <a:latin typeface="Segoe UI"/>
                <a:ea typeface="Segoe UI"/>
              </a:rPr>
              <a:t>HOW THE SYSTEM WORKS</a:t>
            </a:r>
          </a:p>
        </p:txBody>
      </p:sp>
      <p:sp>
        <p:nvSpPr>
          <p:cNvPr id="4" name="TextBox 4">
            <a:extLst>
              <a:ext uri="{FF2B5EF4-FFF2-40B4-BE49-F238E27FC236}">
                <a16:creationId xmlns:a16="http://schemas.microsoft.com/office/drawing/2014/main" id="{6CD15B8C-9876-44F5-8364-7F92699D6144}"/>
              </a:ext>
            </a:extLst>
          </p:cNvPr>
          <p:cNvSpPr txBox="1"/>
          <p:nvPr/>
        </p:nvSpPr>
        <p:spPr>
          <a:xfrm>
            <a:off x="762000" y="819150"/>
            <a:ext cx="10668000" cy="495300"/>
          </a:xfrm>
        </p:spPr>
        <p:txBody>
          <a:bodyPr wrap="square" rtlCol="0" lIns="0" tIns="0" rIns="0" bIns="0" anchor="t"/>
          <a:lstStyle/>
          <a:p>
            <a:pPr algn="l">
              <a:lnSpc>
                <a:spcPct val="104000"/>
              </a:lnSpc>
            </a:pPr>
            <a:r>
              <a:rPr sz="2800" b="1">
                <a:solidFill>
                  <a:srgbClr val="EAF2FC"/>
                </a:solidFill>
                <a:latin typeface="Segoe UI"/>
                <a:ea typeface="Segoe UI"/>
              </a:rPr>
              <a:t>One loop, and the reason that comes out of it</a:t>
            </a:r>
          </a:p>
        </p:txBody>
      </p:sp>
      <p:cxnSp>
        <p:nvCxnSpPr>
          <p:cNvPr id="5" name="Straight Connector 5">
            <a:extLst>
              <a:ext uri="{FF2B5EF4-FFF2-40B4-BE49-F238E27FC236}">
                <a16:creationId xmlns:a16="http://schemas.microsoft.com/office/drawing/2014/main" id="{7D7C3526-06B3-40F0-ACCF-440E8A4E13BF}"/>
              </a:ext>
            </a:extLst>
          </p:cNvPr>
          <p:cNvCxnSpPr/>
          <p:nvPr/>
        </p:nvCxnSpPr>
        <p:spPr>
          <a:xfrm>
            <a:off x="762000" y="1447800"/>
            <a:ext cx="10668000" cy="9525"/>
          </a:xfrm>
          <a:prstGeom prst="line">
            <a:avLst/>
          </a:prstGeom>
          <a:ln w="12700" cap="flat">
            <a:solidFill>
              <a:srgbClr val="24486F"/>
            </a:solidFill>
          </a:ln>
        </p:spPr>
      </p:cxnSp>
      <p:sp>
        <p:nvSpPr>
          <p:cNvPr id="6" name="TextBox 6">
            <a:extLst>
              <a:ext uri="{FF2B5EF4-FFF2-40B4-BE49-F238E27FC236}">
                <a16:creationId xmlns:a16="http://schemas.microsoft.com/office/drawing/2014/main" id="{CA6ADB22-2CC7-467F-9D5F-D33A2E31ED1F}"/>
              </a:ext>
            </a:extLst>
          </p:cNvPr>
          <p:cNvSpPr txBox="1"/>
          <p:nvPr/>
        </p:nvSpPr>
        <p:spPr>
          <a:xfrm>
            <a:off x="762000" y="1676400"/>
            <a:ext cx="1619250" cy="533400"/>
          </a:xfrm>
        </p:spPr>
        <p:txBody>
          <a:bodyPr wrap="square" rtlCol="0" lIns="0" tIns="0" rIns="0" bIns="0" anchor="t"/>
          <a:lstStyle/>
          <a:p>
            <a:pPr algn="l">
              <a:lnSpc>
                <a:spcPct val="112000"/>
              </a:lnSpc>
            </a:pPr>
            <a:r>
              <a:rPr sz="1400" b="1">
                <a:solidFill>
                  <a:srgbClr val="EAF2FC"/>
                </a:solidFill>
                <a:latin typeface="Segoe UI"/>
                <a:ea typeface="Segoe UI"/>
              </a:rPr>
              <a:t>1  Register</a:t>
            </a:r>
          </a:p>
        </p:txBody>
      </p:sp>
      <p:sp>
        <p:nvSpPr>
          <p:cNvPr id="7" name="TextBox 7">
            <a:extLst>
              <a:ext uri="{FF2B5EF4-FFF2-40B4-BE49-F238E27FC236}">
                <a16:creationId xmlns:a16="http://schemas.microsoft.com/office/drawing/2014/main" id="{89BF0F18-C78E-43A1-9646-29607A0C575A}"/>
              </a:ext>
            </a:extLst>
          </p:cNvPr>
          <p:cNvSpPr txBox="1"/>
          <p:nvPr/>
        </p:nvSpPr>
        <p:spPr>
          <a:xfrm>
            <a:off x="2571750" y="1676400"/>
            <a:ext cx="1619250" cy="533400"/>
          </a:xfrm>
        </p:spPr>
        <p:txBody>
          <a:bodyPr wrap="square" rtlCol="0" lIns="0" tIns="0" rIns="0" bIns="0" anchor="t"/>
          <a:lstStyle/>
          <a:p>
            <a:pPr algn="l">
              <a:lnSpc>
                <a:spcPct val="112000"/>
              </a:lnSpc>
            </a:pPr>
            <a:r>
              <a:rPr sz="1400" b="1">
                <a:solidFill>
                  <a:srgbClr val="EAF2FC"/>
                </a:solidFill>
                <a:latin typeface="Segoe UI"/>
                <a:ea typeface="Segoe UI"/>
              </a:rPr>
              <a:t>2  Measure</a:t>
            </a:r>
          </a:p>
        </p:txBody>
      </p:sp>
      <p:sp>
        <p:nvSpPr>
          <p:cNvPr id="8" name="TextBox 8">
            <a:extLst>
              <a:ext uri="{FF2B5EF4-FFF2-40B4-BE49-F238E27FC236}">
                <a16:creationId xmlns:a16="http://schemas.microsoft.com/office/drawing/2014/main" id="{1F202B5A-22A3-4CD0-9FAC-067ACAD916CF}"/>
              </a:ext>
            </a:extLst>
          </p:cNvPr>
          <p:cNvSpPr txBox="1"/>
          <p:nvPr/>
        </p:nvSpPr>
        <p:spPr>
          <a:xfrm>
            <a:off x="4381500" y="1676400"/>
            <a:ext cx="1619250" cy="533400"/>
          </a:xfrm>
        </p:spPr>
        <p:txBody>
          <a:bodyPr wrap="square" rtlCol="0" lIns="0" tIns="0" rIns="0" bIns="0" anchor="t"/>
          <a:lstStyle/>
          <a:p>
            <a:pPr algn="l">
              <a:lnSpc>
                <a:spcPct val="112000"/>
              </a:lnSpc>
            </a:pPr>
            <a:r>
              <a:rPr sz="1400" b="1">
                <a:solidFill>
                  <a:srgbClr val="EAF2FC"/>
                </a:solidFill>
                <a:latin typeface="Segoe UI"/>
                <a:ea typeface="Segoe UI"/>
              </a:rPr>
              <a:t>3  Assess</a:t>
            </a:r>
          </a:p>
        </p:txBody>
      </p:sp>
      <p:sp>
        <p:nvSpPr>
          <p:cNvPr id="9" name="TextBox 9">
            <a:extLst>
              <a:ext uri="{FF2B5EF4-FFF2-40B4-BE49-F238E27FC236}">
                <a16:creationId xmlns:a16="http://schemas.microsoft.com/office/drawing/2014/main" id="{BA15B4B3-0D43-44F8-9E78-E07549874A21}"/>
              </a:ext>
            </a:extLst>
          </p:cNvPr>
          <p:cNvSpPr txBox="1"/>
          <p:nvPr/>
        </p:nvSpPr>
        <p:spPr>
          <a:xfrm>
            <a:off x="6191250" y="1676400"/>
            <a:ext cx="1619250" cy="533400"/>
          </a:xfrm>
        </p:spPr>
        <p:txBody>
          <a:bodyPr wrap="square" rtlCol="0" lIns="0" tIns="0" rIns="0" bIns="0" anchor="t"/>
          <a:lstStyle/>
          <a:p>
            <a:pPr algn="l">
              <a:lnSpc>
                <a:spcPct val="112000"/>
              </a:lnSpc>
            </a:pPr>
            <a:r>
              <a:rPr sz="1400" b="1">
                <a:solidFill>
                  <a:srgbClr val="EAF2FC"/>
                </a:solidFill>
                <a:latin typeface="Segoe UI"/>
                <a:ea typeface="Segoe UI"/>
              </a:rPr>
              <a:t>4  Refer</a:t>
            </a:r>
          </a:p>
        </p:txBody>
      </p:sp>
      <p:sp>
        <p:nvSpPr>
          <p:cNvPr id="10" name="TextBox 10">
            <a:extLst>
              <a:ext uri="{FF2B5EF4-FFF2-40B4-BE49-F238E27FC236}">
                <a16:creationId xmlns:a16="http://schemas.microsoft.com/office/drawing/2014/main" id="{EB9A7D10-206C-4BEB-A04B-A1617A56A745}"/>
              </a:ext>
            </a:extLst>
          </p:cNvPr>
          <p:cNvSpPr txBox="1"/>
          <p:nvPr/>
        </p:nvSpPr>
        <p:spPr>
          <a:xfrm>
            <a:off x="8001000" y="1676400"/>
            <a:ext cx="1619250" cy="533400"/>
          </a:xfrm>
        </p:spPr>
        <p:txBody>
          <a:bodyPr wrap="square" rtlCol="0" lIns="0" tIns="0" rIns="0" bIns="0" anchor="t"/>
          <a:lstStyle/>
          <a:p>
            <a:pPr algn="l">
              <a:lnSpc>
                <a:spcPct val="112000"/>
              </a:lnSpc>
            </a:pPr>
            <a:r>
              <a:rPr sz="1400" b="1">
                <a:solidFill>
                  <a:srgbClr val="EAF2FC"/>
                </a:solidFill>
                <a:latin typeface="Segoe UI"/>
                <a:ea typeface="Segoe UI"/>
              </a:rPr>
              <a:t>5  Follow up</a:t>
            </a:r>
          </a:p>
        </p:txBody>
      </p:sp>
      <p:sp>
        <p:nvSpPr>
          <p:cNvPr id="11" name="TextBox 11">
            <a:extLst>
              <a:ext uri="{FF2B5EF4-FFF2-40B4-BE49-F238E27FC236}">
                <a16:creationId xmlns:a16="http://schemas.microsoft.com/office/drawing/2014/main" id="{8674FDE7-F817-4019-8A16-F7A1D2C648C9}"/>
              </a:ext>
            </a:extLst>
          </p:cNvPr>
          <p:cNvSpPr txBox="1"/>
          <p:nvPr/>
        </p:nvSpPr>
        <p:spPr>
          <a:xfrm>
            <a:off x="9810750" y="1676400"/>
            <a:ext cx="1619250" cy="533400"/>
          </a:xfrm>
        </p:spPr>
        <p:txBody>
          <a:bodyPr wrap="square" rtlCol="0" lIns="0" tIns="0" rIns="0" bIns="0" anchor="t"/>
          <a:lstStyle/>
          <a:p>
            <a:pPr algn="l">
              <a:lnSpc>
                <a:spcPct val="112000"/>
              </a:lnSpc>
            </a:pPr>
            <a:r>
              <a:rPr sz="1400" b="1">
                <a:solidFill>
                  <a:srgbClr val="EAF2FC"/>
                </a:solidFill>
                <a:latin typeface="Segoe UI"/>
                <a:ea typeface="Segoe UI"/>
              </a:rPr>
              <a:t>6  Route</a:t>
            </a:r>
          </a:p>
        </p:txBody>
      </p:sp>
      <p:cxnSp>
        <p:nvCxnSpPr>
          <p:cNvPr id="12" name="Straight Connector 12">
            <a:extLst>
              <a:ext uri="{FF2B5EF4-FFF2-40B4-BE49-F238E27FC236}">
                <a16:creationId xmlns:a16="http://schemas.microsoft.com/office/drawing/2014/main" id="{D2F94272-939F-4798-BC7D-27A2D8914D61}"/>
              </a:ext>
            </a:extLst>
          </p:cNvPr>
          <p:cNvCxnSpPr/>
          <p:nvPr/>
        </p:nvCxnSpPr>
        <p:spPr>
          <a:xfrm>
            <a:off x="762000" y="2933700"/>
            <a:ext cx="10668000" cy="9525"/>
          </a:xfrm>
          <a:prstGeom prst="line">
            <a:avLst/>
          </a:prstGeom>
          <a:ln w="12700" cap="flat">
            <a:solidFill>
              <a:srgbClr val="1B3A5E"/>
            </a:solidFill>
          </a:ln>
        </p:spPr>
      </p:cxnSp>
      <p:sp>
        <p:nvSpPr>
          <p:cNvPr id="13" name="Shape 13">
            <a:extLst>
              <a:ext uri="{FF2B5EF4-FFF2-40B4-BE49-F238E27FC236}">
                <a16:creationId xmlns:a16="http://schemas.microsoft.com/office/drawing/2014/main" id="{FEE975AF-0E0A-4C43-A1AF-D4AB7D515D2B}"/>
              </a:ext>
            </a:extLst>
          </p:cNvPr>
          <p:cNvSpPr/>
          <p:nvPr/>
        </p:nvSpPr>
        <p:spPr>
          <a:xfrm>
            <a:off x="1381125" y="2743200"/>
            <a:ext cx="381000" cy="381000"/>
          </a:xfrm>
          <a:prstGeom prst="ellipse">
            <a:avLst/>
          </a:prstGeom>
          <a:solidFill>
            <a:srgbClr val="3E8BFF"/>
          </a:solidFill>
        </p:spPr>
        <p:txBody>
          <a:bodyPr wrap="square" rtlCol="0"/>
          <a:lstStyle/>
          <a:p>
            <a:r>
              <a:rPr/>
              <a:t/>
            </a:r>
          </a:p>
        </p:txBody>
      </p:sp>
      <p:sp>
        <p:nvSpPr>
          <p:cNvPr id="14" name="Shape 14">
            <a:extLst>
              <a:ext uri="{FF2B5EF4-FFF2-40B4-BE49-F238E27FC236}">
                <a16:creationId xmlns:a16="http://schemas.microsoft.com/office/drawing/2014/main" id="{E5E1113A-E712-4263-A958-5677ABFDA278}"/>
              </a:ext>
            </a:extLst>
          </p:cNvPr>
          <p:cNvSpPr/>
          <p:nvPr/>
        </p:nvSpPr>
        <p:spPr>
          <a:xfrm>
            <a:off x="3190875" y="2743200"/>
            <a:ext cx="381000" cy="381000"/>
          </a:xfrm>
          <a:prstGeom prst="ellipse">
            <a:avLst/>
          </a:prstGeom>
          <a:solidFill>
            <a:srgbClr val="3E8BFF"/>
          </a:solidFill>
        </p:spPr>
        <p:txBody>
          <a:bodyPr wrap="square" rtlCol="0"/>
          <a:lstStyle/>
          <a:p>
            <a:r>
              <a:rPr/>
              <a:t/>
            </a:r>
          </a:p>
        </p:txBody>
      </p:sp>
      <p:sp>
        <p:nvSpPr>
          <p:cNvPr id="15" name="Shape 15">
            <a:extLst>
              <a:ext uri="{FF2B5EF4-FFF2-40B4-BE49-F238E27FC236}">
                <a16:creationId xmlns:a16="http://schemas.microsoft.com/office/drawing/2014/main" id="{B69ECBFF-0F83-40A4-926B-C0A426B70DD8}"/>
              </a:ext>
            </a:extLst>
          </p:cNvPr>
          <p:cNvSpPr/>
          <p:nvPr/>
        </p:nvSpPr>
        <p:spPr>
          <a:xfrm>
            <a:off x="5000625" y="2743200"/>
            <a:ext cx="381000" cy="381000"/>
          </a:xfrm>
          <a:prstGeom prst="ellipse">
            <a:avLst/>
          </a:prstGeom>
          <a:solidFill>
            <a:srgbClr val="3E8BFF"/>
          </a:solidFill>
        </p:spPr>
        <p:txBody>
          <a:bodyPr wrap="square" rtlCol="0"/>
          <a:lstStyle/>
          <a:p>
            <a:r>
              <a:rPr/>
              <a:t/>
            </a:r>
          </a:p>
        </p:txBody>
      </p:sp>
      <p:sp>
        <p:nvSpPr>
          <p:cNvPr id="16" name="Shape 16">
            <a:extLst>
              <a:ext uri="{FF2B5EF4-FFF2-40B4-BE49-F238E27FC236}">
                <a16:creationId xmlns:a16="http://schemas.microsoft.com/office/drawing/2014/main" id="{5ED8C41F-B7B3-4E06-9BE4-5A58B8956564}"/>
              </a:ext>
            </a:extLst>
          </p:cNvPr>
          <p:cNvSpPr/>
          <p:nvPr/>
        </p:nvSpPr>
        <p:spPr>
          <a:xfrm>
            <a:off x="6810375" y="2743200"/>
            <a:ext cx="381000" cy="381000"/>
          </a:xfrm>
          <a:prstGeom prst="ellipse">
            <a:avLst/>
          </a:prstGeom>
          <a:solidFill>
            <a:srgbClr val="3E8BFF"/>
          </a:solidFill>
        </p:spPr>
        <p:txBody>
          <a:bodyPr wrap="square" rtlCol="0"/>
          <a:lstStyle/>
          <a:p>
            <a:r>
              <a:rPr/>
              <a:t/>
            </a:r>
          </a:p>
        </p:txBody>
      </p:sp>
      <p:sp>
        <p:nvSpPr>
          <p:cNvPr id="17" name="Shape 17">
            <a:extLst>
              <a:ext uri="{FF2B5EF4-FFF2-40B4-BE49-F238E27FC236}">
                <a16:creationId xmlns:a16="http://schemas.microsoft.com/office/drawing/2014/main" id="{E3EFB91D-3D6F-4541-B4D0-57F1C074E2B8}"/>
              </a:ext>
            </a:extLst>
          </p:cNvPr>
          <p:cNvSpPr/>
          <p:nvPr/>
        </p:nvSpPr>
        <p:spPr>
          <a:xfrm>
            <a:off x="8620125" y="2743200"/>
            <a:ext cx="381000" cy="381000"/>
          </a:xfrm>
          <a:prstGeom prst="ellipse">
            <a:avLst/>
          </a:prstGeom>
          <a:solidFill>
            <a:srgbClr val="F2A93B"/>
          </a:solidFill>
        </p:spPr>
        <p:txBody>
          <a:bodyPr wrap="square" rtlCol="0"/>
          <a:lstStyle/>
          <a:p>
            <a:r>
              <a:rPr/>
              <a:t/>
            </a:r>
          </a:p>
        </p:txBody>
      </p:sp>
      <p:sp>
        <p:nvSpPr>
          <p:cNvPr id="18" name="Shape 18">
            <a:extLst>
              <a:ext uri="{FF2B5EF4-FFF2-40B4-BE49-F238E27FC236}">
                <a16:creationId xmlns:a16="http://schemas.microsoft.com/office/drawing/2014/main" id="{EE01B619-F084-4ED0-ADB5-1762F7E1DEA9}"/>
              </a:ext>
            </a:extLst>
          </p:cNvPr>
          <p:cNvSpPr/>
          <p:nvPr/>
        </p:nvSpPr>
        <p:spPr>
          <a:xfrm>
            <a:off x="10429875" y="2743200"/>
            <a:ext cx="381000" cy="381000"/>
          </a:xfrm>
          <a:prstGeom prst="ellipse">
            <a:avLst/>
          </a:prstGeom>
          <a:solidFill>
            <a:srgbClr val="3E8BFF"/>
          </a:solidFill>
        </p:spPr>
        <p:txBody>
          <a:bodyPr wrap="square" rtlCol="0"/>
          <a:lstStyle/>
          <a:p>
            <a:r>
              <a:rPr/>
              <a:t/>
            </a:r>
          </a:p>
        </p:txBody>
      </p:sp>
      <p:sp>
        <p:nvSpPr>
          <p:cNvPr id="19" name="TextBox 19">
            <a:extLst>
              <a:ext uri="{FF2B5EF4-FFF2-40B4-BE49-F238E27FC236}">
                <a16:creationId xmlns:a16="http://schemas.microsoft.com/office/drawing/2014/main" id="{1C6D17F8-5ADC-475C-8D62-5D7B040EC8AB}"/>
              </a:ext>
            </a:extLst>
          </p:cNvPr>
          <p:cNvSpPr txBox="1"/>
          <p:nvPr/>
        </p:nvSpPr>
        <p:spPr>
          <a:xfrm>
            <a:off x="762000" y="3276600"/>
            <a:ext cx="1619250" cy="1333500"/>
          </a:xfrm>
        </p:spPr>
        <p:txBody>
          <a:bodyPr wrap="square" rtlCol="0" lIns="0" tIns="0" rIns="0" bIns="0" anchor="t"/>
          <a:lstStyle/>
          <a:p>
            <a:pPr algn="l">
              <a:lnSpc>
                <a:spcPct val="118000"/>
              </a:lnSpc>
            </a:pPr>
            <a:r>
              <a:rPr sz="1150">
                <a:solidFill>
                  <a:srgbClr val="9FB4CE"/>
                </a:solidFill>
                <a:latin typeface="Segoe UI"/>
                <a:ea typeface="Segoe UI"/>
              </a:rPr>
              <a:t>Household, roll call, several open sessions at once.</a:t>
            </a:r>
          </a:p>
        </p:txBody>
      </p:sp>
      <p:sp>
        <p:nvSpPr>
          <p:cNvPr id="20" name="TextBox 20">
            <a:extLst>
              <a:ext uri="{FF2B5EF4-FFF2-40B4-BE49-F238E27FC236}">
                <a16:creationId xmlns:a16="http://schemas.microsoft.com/office/drawing/2014/main" id="{990A150B-F082-48E7-A13B-03473DF49093}"/>
              </a:ext>
            </a:extLst>
          </p:cNvPr>
          <p:cNvSpPr txBox="1"/>
          <p:nvPr/>
        </p:nvSpPr>
        <p:spPr>
          <a:xfrm>
            <a:off x="2571750" y="3276600"/>
            <a:ext cx="1619250" cy="1333500"/>
          </a:xfrm>
        </p:spPr>
        <p:txBody>
          <a:bodyPr wrap="square" rtlCol="0" lIns="0" tIns="0" rIns="0" bIns="0" anchor="t"/>
          <a:lstStyle/>
          <a:p>
            <a:pPr algn="l">
              <a:lnSpc>
                <a:spcPct val="118000"/>
              </a:lnSpc>
            </a:pPr>
            <a:r>
              <a:rPr sz="1150">
                <a:solidFill>
                  <a:srgbClr val="9FB4CE"/>
                </a:solidFill>
                <a:latin typeface="Segoe UI"/>
                <a:ea typeface="Segoe UI"/>
              </a:rPr>
              <a:t>MUAC, weight, vitals — safety-checked before any dose.</a:t>
            </a:r>
          </a:p>
        </p:txBody>
      </p:sp>
      <p:sp>
        <p:nvSpPr>
          <p:cNvPr id="21" name="TextBox 21">
            <a:extLst>
              <a:ext uri="{FF2B5EF4-FFF2-40B4-BE49-F238E27FC236}">
                <a16:creationId xmlns:a16="http://schemas.microsoft.com/office/drawing/2014/main" id="{BBA4A523-3496-4033-B001-8A19A17EA178}"/>
              </a:ext>
            </a:extLst>
          </p:cNvPr>
          <p:cNvSpPr txBox="1"/>
          <p:nvPr/>
        </p:nvSpPr>
        <p:spPr>
          <a:xfrm>
            <a:off x="4381500" y="3276600"/>
            <a:ext cx="1619250" cy="1333500"/>
          </a:xfrm>
        </p:spPr>
        <p:txBody>
          <a:bodyPr wrap="square" rtlCol="0" lIns="0" tIns="0" rIns="0" bIns="0" anchor="t"/>
          <a:lstStyle/>
          <a:p>
            <a:pPr algn="l">
              <a:lnSpc>
                <a:spcPct val="118000"/>
              </a:lnSpc>
            </a:pPr>
            <a:r>
              <a:rPr sz="1150">
                <a:solidFill>
                  <a:srgbClr val="9FB4CE"/>
                </a:solidFill>
                <a:latin typeface="Segoe UI"/>
                <a:ea typeface="Segoe UI"/>
              </a:rPr>
              <a:t>IMCI classification, the reason, the actions.</a:t>
            </a:r>
          </a:p>
        </p:txBody>
      </p:sp>
      <p:sp>
        <p:nvSpPr>
          <p:cNvPr id="22" name="TextBox 22">
            <a:extLst>
              <a:ext uri="{FF2B5EF4-FFF2-40B4-BE49-F238E27FC236}">
                <a16:creationId xmlns:a16="http://schemas.microsoft.com/office/drawing/2014/main" id="{BCB70132-0D74-4D3D-AD13-F3E2FDBDC943}"/>
              </a:ext>
            </a:extLst>
          </p:cNvPr>
          <p:cNvSpPr txBox="1"/>
          <p:nvPr/>
        </p:nvSpPr>
        <p:spPr>
          <a:xfrm>
            <a:off x="6191250" y="3276600"/>
            <a:ext cx="1619250" cy="1333500"/>
          </a:xfrm>
        </p:spPr>
        <p:txBody>
          <a:bodyPr wrap="square" rtlCol="0" lIns="0" tIns="0" rIns="0" bIns="0" anchor="t"/>
          <a:lstStyle/>
          <a:p>
            <a:pPr algn="l">
              <a:lnSpc>
                <a:spcPct val="118000"/>
              </a:lnSpc>
            </a:pPr>
            <a:r>
              <a:rPr sz="1150">
                <a:solidFill>
                  <a:srgbClr val="9FB4CE"/>
                </a:solidFill>
                <a:latin typeface="Segoe UI"/>
                <a:ea typeface="Segoe UI"/>
              </a:rPr>
              <a:t>A case with eight states, not a printed slip.</a:t>
            </a:r>
          </a:p>
        </p:txBody>
      </p:sp>
      <p:sp>
        <p:nvSpPr>
          <p:cNvPr id="23" name="TextBox 23">
            <a:extLst>
              <a:ext uri="{FF2B5EF4-FFF2-40B4-BE49-F238E27FC236}">
                <a16:creationId xmlns:a16="http://schemas.microsoft.com/office/drawing/2014/main" id="{67242DDA-1A66-4F35-A577-9B2ED391A3D3}"/>
              </a:ext>
            </a:extLst>
          </p:cNvPr>
          <p:cNvSpPr txBox="1"/>
          <p:nvPr/>
        </p:nvSpPr>
        <p:spPr>
          <a:xfrm>
            <a:off x="8001000" y="3276600"/>
            <a:ext cx="1619250" cy="1333500"/>
          </a:xfrm>
        </p:spPr>
        <p:txBody>
          <a:bodyPr wrap="square" rtlCol="0" lIns="0" tIns="0" rIns="0" bIns="0" anchor="t"/>
          <a:lstStyle/>
          <a:p>
            <a:pPr algn="l">
              <a:lnSpc>
                <a:spcPct val="118000"/>
              </a:lnSpc>
            </a:pPr>
            <a:r>
              <a:rPr sz="1150">
                <a:solidFill>
                  <a:srgbClr val="F2A93B"/>
                </a:solidFill>
                <a:latin typeface="Segoe UI"/>
                <a:ea typeface="Segoe UI"/>
              </a:rPr>
              <a:t>The answer, the barrier, the next visit — one write.</a:t>
            </a:r>
          </a:p>
        </p:txBody>
      </p:sp>
      <p:sp>
        <p:nvSpPr>
          <p:cNvPr id="24" name="TextBox 24">
            <a:extLst>
              <a:ext uri="{FF2B5EF4-FFF2-40B4-BE49-F238E27FC236}">
                <a16:creationId xmlns:a16="http://schemas.microsoft.com/office/drawing/2014/main" id="{07DF1E22-D158-4CC1-99CA-CC644B2ED009}"/>
              </a:ext>
            </a:extLst>
          </p:cNvPr>
          <p:cNvSpPr txBox="1"/>
          <p:nvPr/>
        </p:nvSpPr>
        <p:spPr>
          <a:xfrm>
            <a:off x="9810750" y="3276600"/>
            <a:ext cx="1619250" cy="1333500"/>
          </a:xfrm>
        </p:spPr>
        <p:txBody>
          <a:bodyPr wrap="square" rtlCol="0" lIns="0" tIns="0" rIns="0" bIns="0" anchor="t"/>
          <a:lstStyle/>
          <a:p>
            <a:pPr algn="l">
              <a:lnSpc>
                <a:spcPct val="118000"/>
              </a:lnSpc>
            </a:pPr>
            <a:r>
              <a:rPr sz="1150">
                <a:solidFill>
                  <a:srgbClr val="9FB4CE"/>
                </a:solidFill>
                <a:latin typeface="Segoe UI"/>
                <a:ea typeface="Segoe UI"/>
              </a:rPr>
              <a:t>The zone ranked by who is due, walk it in order.</a:t>
            </a:r>
          </a:p>
        </p:txBody>
      </p:sp>
      <p:sp>
        <p:nvSpPr>
          <p:cNvPr id="25" name="Shape 25">
            <a:extLst>
              <a:ext uri="{FF2B5EF4-FFF2-40B4-BE49-F238E27FC236}">
                <a16:creationId xmlns:a16="http://schemas.microsoft.com/office/drawing/2014/main" id="{8D36E8A5-4298-4920-AEAB-9C338A485D94}"/>
              </a:ext>
            </a:extLst>
          </p:cNvPr>
          <p:cNvSpPr/>
          <p:nvPr/>
        </p:nvSpPr>
        <p:spPr>
          <a:xfrm>
            <a:off x="762000" y="4781550"/>
            <a:ext cx="10668000" cy="952500"/>
          </a:xfrm>
          <a:prstGeom prst="roundRect">
            <a:avLst/>
          </a:prstGeom>
          <a:solidFill>
            <a:srgbClr val="0B2138"/>
          </a:solidFill>
        </p:spPr>
        <p:txBody>
          <a:bodyPr wrap="square" rtlCol="0"/>
          <a:lstStyle/>
          <a:p>
            <a:r>
              <a:rPr/>
              <a:t/>
            </a:r>
          </a:p>
        </p:txBody>
      </p:sp>
      <p:sp>
        <p:nvSpPr>
          <p:cNvPr id="26" name="TextBox 26">
            <a:extLst>
              <a:ext uri="{FF2B5EF4-FFF2-40B4-BE49-F238E27FC236}">
                <a16:creationId xmlns:a16="http://schemas.microsoft.com/office/drawing/2014/main" id="{12F3EE13-F40E-4081-8C7E-90E032EC9009}"/>
              </a:ext>
            </a:extLst>
          </p:cNvPr>
          <p:cNvSpPr txBox="1"/>
          <p:nvPr/>
        </p:nvSpPr>
        <p:spPr>
          <a:xfrm>
            <a:off x="1104900" y="4933950"/>
            <a:ext cx="9982200" cy="808787"/>
          </a:xfrm>
        </p:spPr>
        <p:txBody>
          <a:bodyPr wrap="square" rtlCol="0" lIns="0" tIns="0" rIns="0" bIns="0" anchor="t"/>
          <a:lstStyle/>
          <a:p>
            <a:pPr algn="l">
              <a:lnSpc>
                <a:spcPct val="122000"/>
              </a:lnSpc>
            </a:pPr>
            <a:r>
              <a:rPr sz="1450" b="1">
                <a:solidFill>
                  <a:srgbClr val="3E8BFF"/>
                </a:solidFill>
                <a:latin typeface="Segoe UI"/>
                <a:ea typeface="Segoe UI"/>
              </a:rPr>
              <a:t>16 guideline engines</a:t>
            </a:r>
            <a:r>
              <a:rPr sz="1450">
                <a:solidFill>
                  <a:srgbClr val="C4D5E9"/>
                </a:solidFill>
                <a:latin typeface="Segoe UI"/>
                <a:ea typeface="Segoe UI"/>
              </a:rPr>
              <a:t> plus the stabilisation and dispensing protocols decide care — cited to WHO IMCI 2014 and Ghana Health Service practice, with 31 IMCI references in the engine code. Machine learning supports that decision and never makes it: every research model carries </a:t>
            </a:r>
            <a:r>
              <a:rPr sz="1450" b="1">
                <a:solidFill>
                  <a:srgbClr val="F2A93B"/>
                </a:solidFill>
                <a:latin typeface="Segoe UI"/>
                <a:ea typeface="Segoe UI"/>
              </a:rPr>
              <a:t>clinical_use_allowed: false</a:t>
            </a:r>
            <a:r>
              <a:rPr sz="1450">
                <a:solidFill>
                  <a:srgbClr val="C4D5E9"/>
                </a:solidFill>
                <a:latin typeface="Segoe UI"/>
                <a:ea typeface="Segoe UI"/>
              </a:rPr>
              <a:t>, enforced in the runtime.</a:t>
            </a:r>
          </a:p>
        </p:txBody>
      </p:sp>
      <p:sp>
        <p:nvSpPr>
          <p:cNvPr id="27" name="TextBox 27">
            <a:extLst>
              <a:ext uri="{FF2B5EF4-FFF2-40B4-BE49-F238E27FC236}">
                <a16:creationId xmlns:a16="http://schemas.microsoft.com/office/drawing/2014/main" id="{1B5ABA87-759F-4C0A-8C10-61FD354A5B69}"/>
              </a:ext>
            </a:extLst>
          </p:cNvPr>
          <p:cNvSpPr txBox="1"/>
          <p:nvPr/>
        </p:nvSpPr>
        <p:spPr>
          <a:xfrm>
            <a:off x="762000" y="5924550"/>
            <a:ext cx="10668000" cy="571500"/>
          </a:xfrm>
        </p:spPr>
        <p:txBody>
          <a:bodyPr wrap="square" rtlCol="0" lIns="0" tIns="0" rIns="0" bIns="0" anchor="t"/>
          <a:lstStyle/>
          <a:p>
            <a:pPr algn="l">
              <a:lnSpc>
                <a:spcPct val="122000"/>
              </a:lnSpc>
            </a:pPr>
            <a:r>
              <a:rPr sz="1250">
                <a:solidFill>
                  <a:srgbClr val="8FA6C2"/>
                </a:solidFill>
                <a:latin typeface="Segoe UI"/>
                <a:ea typeface="Segoe UI"/>
              </a:rPr>
              <a:t>Local-first: one SQLCipher file, schema v12, 26 tables. Sync runs in 25-row batches that never block a screen — and there is no live district server yet, so the pipeline is demonstrated on loopback.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1A31"/>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31357497-A571-473A-A258-2B4EFC25A760}"/>
              </a:ext>
            </a:extLst>
          </p:cNvPr>
          <p:cNvSpPr txBox="1"/>
          <p:nvPr/>
        </p:nvSpPr>
        <p:spPr>
          <a:xfrm>
            <a:off x="762000" y="514350"/>
            <a:ext cx="9525000" cy="228600"/>
          </a:xfrm>
        </p:spPr>
        <p:txBody>
          <a:bodyPr wrap="square" rtlCol="0" lIns="0" tIns="0" rIns="0" bIns="0" anchor="t"/>
          <a:lstStyle/>
          <a:p>
            <a:pPr algn="l"/>
            <a:r>
              <a:rPr sz="1150" b="1">
                <a:solidFill>
                  <a:srgbClr val="5F7899"/>
                </a:solidFill>
                <a:latin typeface="Segoe UI"/>
                <a:ea typeface="Segoe UI"/>
              </a:rPr>
              <a:t>DATA PROTECTION  ·  SECURITY AND COMPLIANCE</a:t>
            </a:r>
          </a:p>
        </p:txBody>
      </p:sp>
      <p:sp>
        <p:nvSpPr>
          <p:cNvPr id="4" name="TextBox 4">
            <a:extLst>
              <a:ext uri="{FF2B5EF4-FFF2-40B4-BE49-F238E27FC236}">
                <a16:creationId xmlns:a16="http://schemas.microsoft.com/office/drawing/2014/main" id="{61757368-CF74-408C-8A53-EFED997A1125}"/>
              </a:ext>
            </a:extLst>
          </p:cNvPr>
          <p:cNvSpPr txBox="1"/>
          <p:nvPr/>
        </p:nvSpPr>
        <p:spPr>
          <a:xfrm>
            <a:off x="762000" y="819150"/>
            <a:ext cx="10668000" cy="495300"/>
          </a:xfrm>
        </p:spPr>
        <p:txBody>
          <a:bodyPr wrap="square" rtlCol="0" lIns="0" tIns="0" rIns="0" bIns="0" anchor="t"/>
          <a:lstStyle/>
          <a:p>
            <a:pPr algn="l">
              <a:lnSpc>
                <a:spcPct val="104000"/>
              </a:lnSpc>
            </a:pPr>
            <a:r>
              <a:rPr sz="2900" b="1">
                <a:solidFill>
                  <a:srgbClr val="EAF2FC"/>
                </a:solidFill>
                <a:latin typeface="Segoe UI"/>
                <a:ea typeface="Segoe UI"/>
              </a:rPr>
              <a:t>A privacy register that cannot drift from the database</a:t>
            </a:r>
          </a:p>
        </p:txBody>
      </p:sp>
      <p:cxnSp>
        <p:nvCxnSpPr>
          <p:cNvPr id="5" name="Straight Connector 5">
            <a:extLst>
              <a:ext uri="{FF2B5EF4-FFF2-40B4-BE49-F238E27FC236}">
                <a16:creationId xmlns:a16="http://schemas.microsoft.com/office/drawing/2014/main" id="{17AF70BE-C4E3-457F-9A56-88E7DAA436E5}"/>
              </a:ext>
            </a:extLst>
          </p:cNvPr>
          <p:cNvCxnSpPr/>
          <p:nvPr/>
        </p:nvCxnSpPr>
        <p:spPr>
          <a:xfrm>
            <a:off x="762000" y="1485900"/>
            <a:ext cx="10668000" cy="9525"/>
          </a:xfrm>
          <a:prstGeom prst="line">
            <a:avLst/>
          </a:prstGeom>
          <a:ln w="12700" cap="flat">
            <a:solidFill>
              <a:srgbClr val="24486F"/>
            </a:solidFill>
          </a:ln>
        </p:spPr>
      </p:cxnSp>
      <p:sp>
        <p:nvSpPr>
          <p:cNvPr id="6" name="TextBox 6">
            <a:extLst>
              <a:ext uri="{FF2B5EF4-FFF2-40B4-BE49-F238E27FC236}">
                <a16:creationId xmlns:a16="http://schemas.microsoft.com/office/drawing/2014/main" id="{30A0AD54-DE04-46E9-A837-18FD87EED46B}"/>
              </a:ext>
            </a:extLst>
          </p:cNvPr>
          <p:cNvSpPr txBox="1"/>
          <p:nvPr/>
        </p:nvSpPr>
        <p:spPr>
          <a:xfrm>
            <a:off x="762000" y="1866900"/>
            <a:ext cx="3810000" cy="1170432"/>
          </a:xfrm>
        </p:spPr>
        <p:txBody>
          <a:bodyPr wrap="square" rtlCol="0" lIns="0" tIns="0" rIns="0" bIns="0" anchor="t"/>
          <a:lstStyle/>
          <a:p>
            <a:pPr algn="l">
              <a:lnSpc>
                <a:spcPct val="96000"/>
              </a:lnSpc>
            </a:pPr>
            <a:r>
              <a:rPr sz="8000" b="1">
                <a:solidFill>
                  <a:srgbClr val="3E8BFF"/>
                </a:solidFill>
                <a:latin typeface="Segoe UI"/>
                <a:ea typeface="Segoe UI"/>
              </a:rPr>
              <a:t>27</a:t>
            </a:r>
          </a:p>
        </p:txBody>
      </p:sp>
      <p:sp>
        <p:nvSpPr>
          <p:cNvPr id="7" name="TextBox 7">
            <a:extLst>
              <a:ext uri="{FF2B5EF4-FFF2-40B4-BE49-F238E27FC236}">
                <a16:creationId xmlns:a16="http://schemas.microsoft.com/office/drawing/2014/main" id="{3471F9F2-DABD-41CD-AE17-9845FF2986F6}"/>
              </a:ext>
            </a:extLst>
          </p:cNvPr>
          <p:cNvSpPr txBox="1"/>
          <p:nvPr/>
        </p:nvSpPr>
        <p:spPr>
          <a:xfrm>
            <a:off x="762000" y="2971800"/>
            <a:ext cx="3810000" cy="571500"/>
          </a:xfrm>
        </p:spPr>
        <p:txBody>
          <a:bodyPr wrap="square" rtlCol="0" lIns="0" tIns="0" rIns="0" bIns="0" anchor="t"/>
          <a:lstStyle/>
          <a:p>
            <a:pPr algn="l">
              <a:lnSpc>
                <a:spcPct val="118000"/>
              </a:lnSpc>
            </a:pPr>
            <a:r>
              <a:rPr sz="1600" b="1">
                <a:solidFill>
                  <a:srgbClr val="EAF2FC"/>
                </a:solidFill>
                <a:latin typeface="Segoe UI"/>
                <a:ea typeface="Segoe UI"/>
              </a:rPr>
              <a:t>named security controls, each one naming a real file</a:t>
            </a:r>
          </a:p>
        </p:txBody>
      </p:sp>
      <p:sp>
        <p:nvSpPr>
          <p:cNvPr id="8" name="TextBox 8">
            <a:extLst>
              <a:ext uri="{FF2B5EF4-FFF2-40B4-BE49-F238E27FC236}">
                <a16:creationId xmlns:a16="http://schemas.microsoft.com/office/drawing/2014/main" id="{1A565323-1E23-4B02-9DE8-CFE8B06DB24E}"/>
              </a:ext>
            </a:extLst>
          </p:cNvPr>
          <p:cNvSpPr txBox="1"/>
          <p:nvPr/>
        </p:nvSpPr>
        <p:spPr>
          <a:xfrm>
            <a:off x="762000" y="3619500"/>
            <a:ext cx="3810000" cy="2053742"/>
          </a:xfrm>
        </p:spPr>
        <p:txBody>
          <a:bodyPr wrap="square" rtlCol="0" lIns="0" tIns="0" rIns="0" bIns="0" anchor="t"/>
          <a:lstStyle/>
          <a:p>
            <a:pPr algn="l">
              <a:lnSpc>
                <a:spcPct val="116000"/>
              </a:lnSpc>
              <a:spcAft>
                <a:spcPts val="1400"/>
              </a:spcAft>
            </a:pPr>
            <a:r>
              <a:rPr sz="2000" b="1">
                <a:solidFill>
                  <a:srgbClr val="3E8BFF"/>
                </a:solidFill>
                <a:latin typeface="Segoe UI"/>
                <a:ea typeface="Segoe UI"/>
              </a:rPr>
              <a:t>15  </a:t>
            </a:r>
            <a:r>
              <a:rPr sz="1300">
                <a:solidFill>
                  <a:srgbClr val="C4D5E9"/>
                </a:solidFill>
                <a:latin typeface="Segoe UI"/>
                <a:ea typeface="Segoe UI"/>
              </a:rPr>
              <a:t>in place</a:t>
            </a:r>
          </a:p>
          <a:p>
            <a:pPr algn="l">
              <a:lnSpc>
                <a:spcPct val="116000"/>
              </a:lnSpc>
              <a:spcAft>
                <a:spcPts val="1400"/>
              </a:spcAft>
            </a:pPr>
            <a:r>
              <a:rPr sz="2000" b="1">
                <a:solidFill>
                  <a:srgbClr val="3E8BFF"/>
                </a:solidFill>
                <a:latin typeface="Segoe UI"/>
                <a:ea typeface="Segoe UI"/>
              </a:rPr>
              <a:t>8  </a:t>
            </a:r>
            <a:r>
              <a:rPr sz="1300">
                <a:solidFill>
                  <a:srgbClr val="C4D5E9"/>
                </a:solidFill>
                <a:latin typeface="Segoe UI"/>
                <a:ea typeface="Segoe UI"/>
              </a:rPr>
              <a:t>in place, with a stated limit</a:t>
            </a:r>
          </a:p>
          <a:p>
            <a:pPr algn="l">
              <a:lnSpc>
                <a:spcPct val="116000"/>
              </a:lnSpc>
              <a:spcAft>
                <a:spcPts val="1400"/>
              </a:spcAft>
            </a:pPr>
            <a:r>
              <a:rPr sz="2000" b="1">
                <a:solidFill>
                  <a:srgbClr val="F2A93B"/>
                </a:solidFill>
                <a:latin typeface="Segoe UI"/>
                <a:ea typeface="Segoe UI"/>
              </a:rPr>
              <a:t>4  </a:t>
            </a:r>
            <a:r>
              <a:rPr sz="1300">
                <a:solidFill>
                  <a:srgbClr val="C4D5E9"/>
                </a:solidFill>
                <a:latin typeface="Segoe UI"/>
                <a:ea typeface="Segoe UI"/>
              </a:rPr>
              <a:t>owned by the district, not by this software — named as theirs rather than quietly dropped</a:t>
            </a:r>
          </a:p>
          <a:p>
            <a:pPr algn="l">
              <a:lnSpc>
                <a:spcPct val="116000"/>
              </a:lnSpc>
            </a:pPr>
            <a:r>
              <a:rPr sz="1300" b="1">
                <a:solidFill>
                  <a:srgbClr val="EAF2FC"/>
                </a:solidFill>
                <a:latin typeface="Segoe UI"/>
                <a:ea typeface="Segoe UI"/>
              </a:rPr>
              <a:t>20 of the 27 name a test file that proves them.</a:t>
            </a:r>
          </a:p>
        </p:txBody>
      </p:sp>
      <p:sp>
        <p:nvSpPr>
          <p:cNvPr id="9" name="TextBox 9">
            <a:extLst>
              <a:ext uri="{FF2B5EF4-FFF2-40B4-BE49-F238E27FC236}">
                <a16:creationId xmlns:a16="http://schemas.microsoft.com/office/drawing/2014/main" id="{C8A799CA-5FD6-4CA8-A138-57E5383A5C7F}"/>
              </a:ext>
            </a:extLst>
          </p:cNvPr>
          <p:cNvSpPr txBox="1"/>
          <p:nvPr/>
        </p:nvSpPr>
        <p:spPr>
          <a:xfrm>
            <a:off x="4953000" y="1866900"/>
            <a:ext cx="6477000" cy="285750"/>
          </a:xfrm>
        </p:spPr>
        <p:txBody>
          <a:bodyPr wrap="square" rtlCol="0" lIns="0" tIns="0" rIns="0" bIns="0" anchor="t"/>
          <a:lstStyle/>
          <a:p>
            <a:pPr algn="l"/>
            <a:r>
              <a:rPr sz="1600" b="1">
                <a:solidFill>
                  <a:srgbClr val="EAF2FC"/>
                </a:solidFill>
                <a:latin typeface="Segoe UI"/>
                <a:ea typeface="Segoe UI"/>
              </a:rPr>
              <a:t>The register is data, in the language of the system it describes</a:t>
            </a:r>
          </a:p>
        </p:txBody>
      </p:sp>
      <p:sp>
        <p:nvSpPr>
          <p:cNvPr id="10" name="TextBox 10">
            <a:extLst>
              <a:ext uri="{FF2B5EF4-FFF2-40B4-BE49-F238E27FC236}">
                <a16:creationId xmlns:a16="http://schemas.microsoft.com/office/drawing/2014/main" id="{78B734BE-29E1-4C0C-B436-FEADDC7DCA94}"/>
              </a:ext>
            </a:extLst>
          </p:cNvPr>
          <p:cNvSpPr txBox="1"/>
          <p:nvPr/>
        </p:nvSpPr>
        <p:spPr>
          <a:xfrm>
            <a:off x="4953000" y="2190750"/>
            <a:ext cx="6477000" cy="914400"/>
          </a:xfrm>
        </p:spPr>
        <p:txBody>
          <a:bodyPr wrap="square" rtlCol="0" lIns="0" tIns="0" rIns="0" bIns="0" anchor="t"/>
          <a:lstStyle/>
          <a:p>
            <a:pPr algn="l">
              <a:lnSpc>
                <a:spcPct val="122000"/>
              </a:lnSpc>
            </a:pPr>
            <a:r>
              <a:rPr sz="1200">
                <a:solidFill>
                  <a:srgbClr val="9FB4CE"/>
                </a:solidFill>
                <a:latin typeface="Segoe UI"/>
                <a:ea typeface="Segoe UI"/>
              </a:rPr>
              <a:t>Every table declares its purpose, lawful basis, retention rule and place in the access matrix. CI reconciles that declaration against four artefacts that are not opinions: the local schema, server/schema.sql, the sync whitelist and the pull list. Add a table without declaring it and the build fails.</a:t>
            </a:r>
          </a:p>
        </p:txBody>
      </p:sp>
      <p:sp>
        <p:nvSpPr>
          <p:cNvPr id="11" name="TextBox 11">
            <a:extLst>
              <a:ext uri="{FF2B5EF4-FFF2-40B4-BE49-F238E27FC236}">
                <a16:creationId xmlns:a16="http://schemas.microsoft.com/office/drawing/2014/main" id="{82EF8748-7313-41AA-B87B-D6DD1FEE5399}"/>
              </a:ext>
            </a:extLst>
          </p:cNvPr>
          <p:cNvSpPr txBox="1"/>
          <p:nvPr/>
        </p:nvSpPr>
        <p:spPr>
          <a:xfrm>
            <a:off x="4953000" y="3200400"/>
            <a:ext cx="6477000" cy="285750"/>
          </a:xfrm>
        </p:spPr>
        <p:txBody>
          <a:bodyPr wrap="square" rtlCol="0" lIns="0" tIns="0" rIns="0" bIns="0" anchor="t"/>
          <a:lstStyle/>
          <a:p>
            <a:pPr algn="l"/>
            <a:r>
              <a:rPr sz="1600" b="1">
                <a:solidFill>
                  <a:srgbClr val="EAF2FC"/>
                </a:solidFill>
                <a:latin typeface="Segoe UI"/>
                <a:ea typeface="Segoe UI"/>
              </a:rPr>
              <a:t>What is enforced, in one line each</a:t>
            </a:r>
          </a:p>
        </p:txBody>
      </p:sp>
      <p:sp>
        <p:nvSpPr>
          <p:cNvPr id="12" name="TextBox 12">
            <a:extLst>
              <a:ext uri="{FF2B5EF4-FFF2-40B4-BE49-F238E27FC236}">
                <a16:creationId xmlns:a16="http://schemas.microsoft.com/office/drawing/2014/main" id="{2B1DED43-29D6-4861-BE01-198D0F34C729}"/>
              </a:ext>
            </a:extLst>
          </p:cNvPr>
          <p:cNvSpPr txBox="1"/>
          <p:nvPr/>
        </p:nvSpPr>
        <p:spPr>
          <a:xfrm>
            <a:off x="4953000" y="3524250"/>
            <a:ext cx="6477000" cy="2420112"/>
          </a:xfrm>
        </p:spPr>
        <p:txBody>
          <a:bodyPr wrap="square" rtlCol="0" lIns="0" tIns="0" rIns="0" bIns="0" anchor="t"/>
          <a:lstStyle/>
          <a:p>
            <a:pPr marL="228600" indent="-228600" algn="l">
              <a:lnSpc>
                <a:spcPct val="112000"/>
              </a:lnSpc>
              <a:spcAft>
                <a:spcPts val="900"/>
              </a:spcAft>
              <a:buChar char="•"/>
            </a:pPr>
            <a:r>
              <a:rPr sz="1150">
                <a:solidFill>
                  <a:srgbClr val="C4D5E9"/>
                </a:solidFill>
                <a:latin typeface="Segoe UI"/>
                <a:ea typeface="Segoe UI"/>
              </a:rPr>
              <a:t>SQLCipher with a per-installation 256-bit key — and an install refuses to encrypt with a key it cannot read back.</a:t>
            </a:r>
          </a:p>
          <a:p>
            <a:pPr marL="228600" indent="-228600" algn="l">
              <a:lnSpc>
                <a:spcPct val="112000"/>
              </a:lnSpc>
              <a:spcAft>
                <a:spcPts val="900"/>
              </a:spcAft>
              <a:buChar char="•"/>
            </a:pPr>
            <a:r>
              <a:rPr sz="1150">
                <a:solidFill>
                  <a:srgbClr val="C4D5E9"/>
                </a:solidFill>
                <a:latin typeface="Segoe UI"/>
                <a:ea typeface="Segoe UI"/>
              </a:rPr>
              <a:t>Pre-encryption installs migrate by copy-verify-swap; every table counted on both sides before the original is renamed over. secure_delete on at every open.</a:t>
            </a:r>
          </a:p>
          <a:p>
            <a:pPr marL="228600" indent="-228600" algn="l">
              <a:lnSpc>
                <a:spcPct val="112000"/>
              </a:lnSpc>
              <a:spcAft>
                <a:spcPts val="900"/>
              </a:spcAft>
              <a:buChar char="•"/>
            </a:pPr>
            <a:r>
              <a:rPr sz="1150">
                <a:solidFill>
                  <a:srgbClr val="C4D5E9"/>
                </a:solidFill>
                <a:latin typeface="Segoe UI"/>
                <a:ea typeface="Segoe UI"/>
              </a:rPr>
              <a:t>Permissions enforced in the repository, not the UI; sensitive-record class, break-glass, inactivity lock, screen-capture block.</a:t>
            </a:r>
          </a:p>
          <a:p>
            <a:pPr marL="228600" indent="-228600" algn="l">
              <a:lnSpc>
                <a:spcPct val="112000"/>
              </a:lnSpc>
              <a:spcAft>
                <a:spcPts val="900"/>
              </a:spcAft>
              <a:buChar char="•"/>
            </a:pPr>
            <a:r>
              <a:rPr sz="1150">
                <a:solidFill>
                  <a:srgbClr val="C4D5E9"/>
                </a:solidFill>
                <a:latin typeface="Segoe UI"/>
                <a:ea typeface="Segoe UI"/>
              </a:rPr>
              <a:t>Consent as history, an access ledger of who read what, tamper-evident trail, chain anchoring, district-side read audit and pattern monitoring.</a:t>
            </a:r>
          </a:p>
          <a:p>
            <a:pPr marL="228600" indent="-228600" algn="l">
              <a:lnSpc>
                <a:spcPct val="112000"/>
              </a:lnSpc>
              <a:buChar char="•"/>
            </a:pPr>
            <a:r>
              <a:rPr sz="1150">
                <a:solidFill>
                  <a:srgbClr val="C4D5E9"/>
                </a:solidFill>
                <a:latin typeface="Segoe UI"/>
                <a:ea typeface="Segoe UI"/>
              </a:rPr>
              <a:t>The PIN derivation is pushed but never stored locally — the thing that authenticates a record does not sit beside it.</a:t>
            </a:r>
          </a:p>
        </p:txBody>
      </p:sp>
      <p:sp>
        <p:nvSpPr>
          <p:cNvPr id="13" name="Shape 13">
            <a:extLst>
              <a:ext uri="{FF2B5EF4-FFF2-40B4-BE49-F238E27FC236}">
                <a16:creationId xmlns:a16="http://schemas.microsoft.com/office/drawing/2014/main" id="{AEB9E36B-DBE8-41C4-B090-8BDC1E7F45C2}"/>
              </a:ext>
            </a:extLst>
          </p:cNvPr>
          <p:cNvSpPr/>
          <p:nvPr/>
        </p:nvSpPr>
        <p:spPr>
          <a:xfrm>
            <a:off x="762000" y="5715000"/>
            <a:ext cx="10668000" cy="895350"/>
          </a:xfrm>
          <a:prstGeom prst="roundRect">
            <a:avLst/>
          </a:prstGeom>
          <a:solidFill>
            <a:srgbClr val="123456"/>
          </a:solidFill>
        </p:spPr>
        <p:txBody>
          <a:bodyPr wrap="square" rtlCol="0"/>
          <a:lstStyle/>
          <a:p>
            <a:r>
              <a:rPr/>
              <a:t/>
            </a:r>
          </a:p>
        </p:txBody>
      </p:sp>
      <p:sp>
        <p:nvSpPr>
          <p:cNvPr id="14" name="TextBox 14">
            <a:extLst>
              <a:ext uri="{FF2B5EF4-FFF2-40B4-BE49-F238E27FC236}">
                <a16:creationId xmlns:a16="http://schemas.microsoft.com/office/drawing/2014/main" id="{BD40A170-B222-4FBE-BA77-C38600D5749B}"/>
              </a:ext>
            </a:extLst>
          </p:cNvPr>
          <p:cNvSpPr txBox="1"/>
          <p:nvPr/>
        </p:nvSpPr>
        <p:spPr>
          <a:xfrm>
            <a:off x="1066800" y="5848350"/>
            <a:ext cx="10058400" cy="1016000"/>
          </a:xfrm>
        </p:spPr>
        <p:txBody>
          <a:bodyPr wrap="square" rtlCol="0" lIns="0" tIns="0" rIns="0" bIns="0" anchor="t"/>
          <a:lstStyle/>
          <a:p>
            <a:pPr algn="l">
              <a:lnSpc>
                <a:spcPct val="120000"/>
              </a:lnSpc>
              <a:spcAft>
                <a:spcPts val="800"/>
              </a:spcAft>
            </a:pPr>
            <a:r>
              <a:rPr sz="1250" b="1">
                <a:solidFill>
                  <a:srgbClr val="F2A93B"/>
                </a:solidFill>
                <a:latin typeface="Segoe UI"/>
                <a:ea typeface="Segoe UI"/>
              </a:rPr>
              <a:t>It does not rate itself compliant. </a:t>
            </a:r>
            <a:r>
              <a:rPr sz="1250">
                <a:solidFill>
                  <a:srgbClr val="C4D5E9"/>
                </a:solidFill>
                <a:latin typeface="Segoe UI"/>
                <a:ea typeface="Segoe UI"/>
              </a:rPr>
              <a:t>Web and desktop builds have no SQLCipher engine, so the posture card on those platforms says "not encrypted at rest" instead of claiming a protection it does not have.</a:t>
            </a:r>
          </a:p>
          <a:p>
            <a:pPr algn="l">
              <a:lnSpc>
                <a:spcPct val="120000"/>
              </a:lnSpc>
            </a:pPr>
            <a:r>
              <a:rPr sz="1250">
                <a:solidFill>
                  <a:srgbClr val="8FA6C2"/>
                </a:solidFill>
                <a:latin typeface="Segoe UI"/>
                <a:ea typeface="Segoe UI"/>
              </a:rPr>
              <a:t>Mapped, not name-dropped: Ghana Data Protection Act 843 (s.26, s.27) · HIPAA 45 CFR 164.312 · OWASP MASVS STORAGE / PLATFORM / CRYPTO.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AB471575-9E1E-4FAD-BF4C-4BD2E7D53B7C}"/>
              </a:ext>
            </a:extLst>
          </p:cNvPr>
          <p:cNvSpPr txBox="1"/>
          <p:nvPr/>
        </p:nvSpPr>
        <p:spPr>
          <a:xfrm>
            <a:off x="762000" y="514350"/>
            <a:ext cx="9525000" cy="228600"/>
          </a:xfrm>
        </p:spPr>
        <p:txBody>
          <a:bodyPr wrap="square" rtlCol="0" lIns="0" tIns="0" rIns="0" bIns="0" anchor="t"/>
          <a:lstStyle/>
          <a:p>
            <a:pPr algn="l"/>
            <a:r>
              <a:rPr sz="1150" b="1">
                <a:solidFill>
                  <a:srgbClr val="7C8DA3"/>
                </a:solidFill>
                <a:latin typeface="Segoe UI"/>
                <a:ea typeface="Segoe UI"/>
              </a:rPr>
              <a:t>THE AI SYSTEM  ·  RECOMMENDATION</a:t>
            </a:r>
          </a:p>
        </p:txBody>
      </p:sp>
      <p:sp>
        <p:nvSpPr>
          <p:cNvPr id="4" name="TextBox 4">
            <a:extLst>
              <a:ext uri="{FF2B5EF4-FFF2-40B4-BE49-F238E27FC236}">
                <a16:creationId xmlns:a16="http://schemas.microsoft.com/office/drawing/2014/main" id="{DD4A4B4A-67CA-4597-82A4-F9478282A122}"/>
              </a:ext>
            </a:extLst>
          </p:cNvPr>
          <p:cNvSpPr txBox="1"/>
          <p:nvPr/>
        </p:nvSpPr>
        <p:spPr>
          <a:xfrm>
            <a:off x="762000" y="819150"/>
            <a:ext cx="10668000" cy="952500"/>
          </a:xfrm>
        </p:spPr>
        <p:txBody>
          <a:bodyPr wrap="square" rtlCol="0" lIns="0" tIns="0" rIns="0" bIns="0" anchor="t"/>
          <a:lstStyle/>
          <a:p>
            <a:pPr algn="l">
              <a:lnSpc>
                <a:spcPct val="112000"/>
              </a:lnSpc>
            </a:pPr>
            <a:r>
              <a:rPr sz="2600" b="1">
                <a:solidFill>
                  <a:srgbClr val="0B1F38"/>
                </a:solidFill>
                <a:latin typeface="Segoe UI"/>
                <a:ea typeface="Segoe UI"/>
              </a:rPr>
              <a:t>Four int8 models under 6 KB — and a recommendation</a:t>
            </a:r>
            <a:br/>
            <a:r>
              <a:rPr sz="2600" b="1">
                <a:solidFill>
                  <a:srgbClr val="0B1F38"/>
                </a:solidFill>
                <a:latin typeface="Segoe UI"/>
                <a:ea typeface="Segoe UI"/>
              </a:rPr>
              <a:t>engine that decides nothing on its own</a:t>
            </a:r>
          </a:p>
        </p:txBody>
      </p:sp>
      <p:cxnSp>
        <p:nvCxnSpPr>
          <p:cNvPr id="5" name="Straight Connector 5">
            <a:extLst>
              <a:ext uri="{FF2B5EF4-FFF2-40B4-BE49-F238E27FC236}">
                <a16:creationId xmlns:a16="http://schemas.microsoft.com/office/drawing/2014/main" id="{70B83414-A0D7-4F64-B041-4460A7978C42}"/>
              </a:ext>
            </a:extLst>
          </p:cNvPr>
          <p:cNvCxnSpPr/>
          <p:nvPr/>
        </p:nvCxnSpPr>
        <p:spPr>
          <a:xfrm>
            <a:off x="762000" y="1905000"/>
            <a:ext cx="10668000" cy="9525"/>
          </a:xfrm>
          <a:prstGeom prst="line">
            <a:avLst/>
          </a:prstGeom>
          <a:ln w="12700" cap="flat">
            <a:solidFill>
              <a:srgbClr val="DCE6F2"/>
            </a:solidFill>
          </a:ln>
        </p:spPr>
      </p:cxnSp>
      <p:sp>
        <p:nvSpPr>
          <p:cNvPr id="6" name="TextBox 6">
            <a:extLst>
              <a:ext uri="{FF2B5EF4-FFF2-40B4-BE49-F238E27FC236}">
                <a16:creationId xmlns:a16="http://schemas.microsoft.com/office/drawing/2014/main" id="{D476D1F2-FF58-4585-A7D1-B4D92A00C88C}"/>
              </a:ext>
            </a:extLst>
          </p:cNvPr>
          <p:cNvSpPr txBox="1"/>
          <p:nvPr/>
        </p:nvSpPr>
        <p:spPr>
          <a:xfrm>
            <a:off x="762000" y="2114550"/>
            <a:ext cx="3810000" cy="209550"/>
          </a:xfrm>
        </p:spPr>
        <p:txBody>
          <a:bodyPr wrap="square" rtlCol="0" lIns="0" tIns="0" rIns="0" bIns="0" anchor="t"/>
          <a:lstStyle/>
          <a:p>
            <a:pPr algn="l"/>
            <a:r>
              <a:rPr sz="1200" b="1">
                <a:solidFill>
                  <a:srgbClr val="0B1F38"/>
                </a:solidFill>
                <a:latin typeface="Segoe UI"/>
                <a:ea typeface="Segoe UI"/>
              </a:rPr>
              <a:t>Neonatal sepsis — 964 real Mbarara records</a:t>
            </a:r>
          </a:p>
        </p:txBody>
      </p:sp>
      <p:sp>
        <p:nvSpPr>
          <p:cNvPr id="7" name="Shape 7">
            <a:extLst>
              <a:ext uri="{FF2B5EF4-FFF2-40B4-BE49-F238E27FC236}">
                <a16:creationId xmlns:a16="http://schemas.microsoft.com/office/drawing/2014/main" id="{5C999A59-7522-4389-89A3-4E15A62A2381}"/>
              </a:ext>
            </a:extLst>
          </p:cNvPr>
          <p:cNvSpPr/>
          <p:nvPr/>
        </p:nvSpPr>
        <p:spPr>
          <a:xfrm>
            <a:off x="762000" y="2381250"/>
            <a:ext cx="3943350" cy="114300"/>
          </a:xfrm>
          <a:prstGeom prst="rect">
            <a:avLst/>
          </a:prstGeom>
          <a:solidFill>
            <a:srgbClr val="1B5FD9"/>
          </a:solidFill>
        </p:spPr>
        <p:txBody>
          <a:bodyPr wrap="square" rtlCol="0"/>
          <a:lstStyle/>
          <a:p>
            <a:r>
              <a:rPr/>
              <a:t/>
            </a:r>
          </a:p>
        </p:txBody>
      </p:sp>
      <p:sp>
        <p:nvSpPr>
          <p:cNvPr id="8" name="TextBox 8">
            <a:extLst>
              <a:ext uri="{FF2B5EF4-FFF2-40B4-BE49-F238E27FC236}">
                <a16:creationId xmlns:a16="http://schemas.microsoft.com/office/drawing/2014/main" id="{288CE9A4-EC77-402A-A9C6-3C886D845EEA}"/>
              </a:ext>
            </a:extLst>
          </p:cNvPr>
          <p:cNvSpPr txBox="1"/>
          <p:nvPr/>
        </p:nvSpPr>
        <p:spPr>
          <a:xfrm>
            <a:off x="4819650" y="2343150"/>
            <a:ext cx="1276350" cy="209550"/>
          </a:xfrm>
        </p:spPr>
        <p:txBody>
          <a:bodyPr wrap="square" rtlCol="0" lIns="0" tIns="0" rIns="0" bIns="0" anchor="t"/>
          <a:lstStyle/>
          <a:p>
            <a:pPr algn="l"/>
            <a:r>
              <a:rPr sz="1250" b="1">
                <a:solidFill>
                  <a:srgbClr val="0B1F38"/>
                </a:solidFill>
                <a:latin typeface="Segoe UI"/>
                <a:ea typeface="Segoe UI"/>
              </a:rPr>
              <a:t>AUC 0.90</a:t>
            </a:r>
          </a:p>
        </p:txBody>
      </p:sp>
      <p:sp>
        <p:nvSpPr>
          <p:cNvPr id="9" name="TextBox 9">
            <a:extLst>
              <a:ext uri="{FF2B5EF4-FFF2-40B4-BE49-F238E27FC236}">
                <a16:creationId xmlns:a16="http://schemas.microsoft.com/office/drawing/2014/main" id="{B38046CC-E10A-4BD6-B698-6322769947FB}"/>
              </a:ext>
            </a:extLst>
          </p:cNvPr>
          <p:cNvSpPr txBox="1"/>
          <p:nvPr/>
        </p:nvSpPr>
        <p:spPr>
          <a:xfrm>
            <a:off x="762000" y="2743200"/>
            <a:ext cx="3810000" cy="209550"/>
          </a:xfrm>
        </p:spPr>
        <p:txBody>
          <a:bodyPr wrap="square" rtlCol="0" lIns="0" tIns="0" rIns="0" bIns="0" anchor="t"/>
          <a:lstStyle/>
          <a:p>
            <a:pPr algn="l"/>
            <a:r>
              <a:rPr sz="1200" b="1">
                <a:solidFill>
                  <a:srgbClr val="0B1F38"/>
                </a:solidFill>
                <a:latin typeface="Segoe UI"/>
                <a:ea typeface="Segoe UI"/>
              </a:rPr>
              <a:t>Low birth weight / SGA — Ghana-prior cohort</a:t>
            </a:r>
          </a:p>
        </p:txBody>
      </p:sp>
      <p:sp>
        <p:nvSpPr>
          <p:cNvPr id="10" name="Shape 10">
            <a:extLst>
              <a:ext uri="{FF2B5EF4-FFF2-40B4-BE49-F238E27FC236}">
                <a16:creationId xmlns:a16="http://schemas.microsoft.com/office/drawing/2014/main" id="{6269863D-6FE4-4F51-9CFB-3F0282D7C683}"/>
              </a:ext>
            </a:extLst>
          </p:cNvPr>
          <p:cNvSpPr/>
          <p:nvPr/>
        </p:nvSpPr>
        <p:spPr>
          <a:xfrm>
            <a:off x="762000" y="3009900"/>
            <a:ext cx="4229100" cy="114300"/>
          </a:xfrm>
          <a:prstGeom prst="rect">
            <a:avLst/>
          </a:prstGeom>
          <a:solidFill>
            <a:srgbClr val="1B5FD9"/>
          </a:solidFill>
        </p:spPr>
        <p:txBody>
          <a:bodyPr wrap="square" rtlCol="0"/>
          <a:lstStyle/>
          <a:p>
            <a:r>
              <a:rPr/>
              <a:t/>
            </a:r>
          </a:p>
        </p:txBody>
      </p:sp>
      <p:sp>
        <p:nvSpPr>
          <p:cNvPr id="11" name="TextBox 11">
            <a:extLst>
              <a:ext uri="{FF2B5EF4-FFF2-40B4-BE49-F238E27FC236}">
                <a16:creationId xmlns:a16="http://schemas.microsoft.com/office/drawing/2014/main" id="{6FB8234F-3B4D-49FB-A18C-14DC5A3B5137}"/>
              </a:ext>
            </a:extLst>
          </p:cNvPr>
          <p:cNvSpPr txBox="1"/>
          <p:nvPr/>
        </p:nvSpPr>
        <p:spPr>
          <a:xfrm>
            <a:off x="5105400" y="2971800"/>
            <a:ext cx="1276350" cy="209550"/>
          </a:xfrm>
        </p:spPr>
        <p:txBody>
          <a:bodyPr wrap="square" rtlCol="0" lIns="0" tIns="0" rIns="0" bIns="0" anchor="t"/>
          <a:lstStyle/>
          <a:p>
            <a:pPr algn="l"/>
            <a:r>
              <a:rPr sz="1250" b="1">
                <a:solidFill>
                  <a:srgbClr val="0B1F38"/>
                </a:solidFill>
                <a:latin typeface="Segoe UI"/>
                <a:ea typeface="Segoe UI"/>
              </a:rPr>
              <a:t>AUC 0.96</a:t>
            </a:r>
          </a:p>
        </p:txBody>
      </p:sp>
      <p:sp>
        <p:nvSpPr>
          <p:cNvPr id="12" name="TextBox 12">
            <a:extLst>
              <a:ext uri="{FF2B5EF4-FFF2-40B4-BE49-F238E27FC236}">
                <a16:creationId xmlns:a16="http://schemas.microsoft.com/office/drawing/2014/main" id="{C3D71DE8-0B0F-40D0-8B96-15C825E1EB7E}"/>
              </a:ext>
            </a:extLst>
          </p:cNvPr>
          <p:cNvSpPr txBox="1"/>
          <p:nvPr/>
        </p:nvSpPr>
        <p:spPr>
          <a:xfrm>
            <a:off x="762000" y="3371850"/>
            <a:ext cx="3810000" cy="209550"/>
          </a:xfrm>
        </p:spPr>
        <p:txBody>
          <a:bodyPr wrap="square" rtlCol="0" lIns="0" tIns="0" rIns="0" bIns="0" anchor="t"/>
          <a:lstStyle/>
          <a:p>
            <a:pPr algn="l"/>
            <a:r>
              <a:rPr sz="1200" b="1">
                <a:solidFill>
                  <a:srgbClr val="0B1F38"/>
                </a:solidFill>
                <a:latin typeface="Segoe UI"/>
                <a:ea typeface="Segoe UI"/>
              </a:rPr>
              <a:t>Child pneumonia — IMCI 2014 + CHO fix</a:t>
            </a:r>
          </a:p>
        </p:txBody>
      </p:sp>
      <p:sp>
        <p:nvSpPr>
          <p:cNvPr id="13" name="Shape 13">
            <a:extLst>
              <a:ext uri="{FF2B5EF4-FFF2-40B4-BE49-F238E27FC236}">
                <a16:creationId xmlns:a16="http://schemas.microsoft.com/office/drawing/2014/main" id="{9F4B7E97-4CE2-4480-8448-B9FEFBAE8AC5}"/>
              </a:ext>
            </a:extLst>
          </p:cNvPr>
          <p:cNvSpPr/>
          <p:nvPr/>
        </p:nvSpPr>
        <p:spPr>
          <a:xfrm>
            <a:off x="762000" y="3638550"/>
            <a:ext cx="3257550" cy="114300"/>
          </a:xfrm>
          <a:prstGeom prst="rect">
            <a:avLst/>
          </a:prstGeom>
          <a:solidFill>
            <a:srgbClr val="1B5FD9"/>
          </a:solidFill>
        </p:spPr>
        <p:txBody>
          <a:bodyPr wrap="square" rtlCol="0"/>
          <a:lstStyle/>
          <a:p>
            <a:r>
              <a:rPr/>
              <a:t/>
            </a:r>
          </a:p>
        </p:txBody>
      </p:sp>
      <p:sp>
        <p:nvSpPr>
          <p:cNvPr id="14" name="TextBox 14">
            <a:extLst>
              <a:ext uri="{FF2B5EF4-FFF2-40B4-BE49-F238E27FC236}">
                <a16:creationId xmlns:a16="http://schemas.microsoft.com/office/drawing/2014/main" id="{123596D9-8FAD-4AC7-9C83-FCB7D8463161}"/>
              </a:ext>
            </a:extLst>
          </p:cNvPr>
          <p:cNvSpPr txBox="1"/>
          <p:nvPr/>
        </p:nvSpPr>
        <p:spPr>
          <a:xfrm>
            <a:off x="4133850" y="3600450"/>
            <a:ext cx="1276350" cy="209550"/>
          </a:xfrm>
        </p:spPr>
        <p:txBody>
          <a:bodyPr wrap="square" rtlCol="0" lIns="0" tIns="0" rIns="0" bIns="0" anchor="t"/>
          <a:lstStyle/>
          <a:p>
            <a:pPr algn="l"/>
            <a:r>
              <a:rPr sz="1250" b="1">
                <a:solidFill>
                  <a:srgbClr val="0B1F38"/>
                </a:solidFill>
                <a:latin typeface="Segoe UI"/>
                <a:ea typeface="Segoe UI"/>
              </a:rPr>
              <a:t>AUC 0.74</a:t>
            </a:r>
          </a:p>
        </p:txBody>
      </p:sp>
      <p:sp>
        <p:nvSpPr>
          <p:cNvPr id="15" name="TextBox 15">
            <a:extLst>
              <a:ext uri="{FF2B5EF4-FFF2-40B4-BE49-F238E27FC236}">
                <a16:creationId xmlns:a16="http://schemas.microsoft.com/office/drawing/2014/main" id="{080058C6-5FA9-4765-82B0-3A26208C3E91}"/>
              </a:ext>
            </a:extLst>
          </p:cNvPr>
          <p:cNvSpPr txBox="1"/>
          <p:nvPr/>
        </p:nvSpPr>
        <p:spPr>
          <a:xfrm>
            <a:off x="762000" y="4000500"/>
            <a:ext cx="3810000" cy="209550"/>
          </a:xfrm>
        </p:spPr>
        <p:txBody>
          <a:bodyPr wrap="square" rtlCol="0" lIns="0" tIns="0" rIns="0" bIns="0" anchor="t"/>
          <a:lstStyle/>
          <a:p>
            <a:pPr algn="l"/>
            <a:r>
              <a:rPr sz="1200" b="1">
                <a:solidFill>
                  <a:srgbClr val="0B1F38"/>
                </a:solidFill>
                <a:latin typeface="Segoe UI"/>
                <a:ea typeface="Segoe UI"/>
              </a:rPr>
              <a:t>Pre-eclampsia — held-out UCI maternal data</a:t>
            </a:r>
          </a:p>
        </p:txBody>
      </p:sp>
      <p:sp>
        <p:nvSpPr>
          <p:cNvPr id="16" name="Shape 16">
            <a:extLst>
              <a:ext uri="{FF2B5EF4-FFF2-40B4-BE49-F238E27FC236}">
                <a16:creationId xmlns:a16="http://schemas.microsoft.com/office/drawing/2014/main" id="{8935A762-7C13-45B6-9241-2E7B87E3DA4B}"/>
              </a:ext>
            </a:extLst>
          </p:cNvPr>
          <p:cNvSpPr/>
          <p:nvPr/>
        </p:nvSpPr>
        <p:spPr>
          <a:xfrm>
            <a:off x="762000" y="4267200"/>
            <a:ext cx="3219450" cy="114300"/>
          </a:xfrm>
          <a:prstGeom prst="rect">
            <a:avLst/>
          </a:prstGeom>
          <a:solidFill>
            <a:srgbClr val="A05A0C"/>
          </a:solidFill>
        </p:spPr>
        <p:txBody>
          <a:bodyPr wrap="square" rtlCol="0"/>
          <a:lstStyle/>
          <a:p>
            <a:r>
              <a:rPr/>
              <a:t/>
            </a:r>
          </a:p>
        </p:txBody>
      </p:sp>
      <p:sp>
        <p:nvSpPr>
          <p:cNvPr id="17" name="TextBox 17">
            <a:extLst>
              <a:ext uri="{FF2B5EF4-FFF2-40B4-BE49-F238E27FC236}">
                <a16:creationId xmlns:a16="http://schemas.microsoft.com/office/drawing/2014/main" id="{367EAB11-BC2B-4896-B017-21DB2603D849}"/>
              </a:ext>
            </a:extLst>
          </p:cNvPr>
          <p:cNvSpPr txBox="1"/>
          <p:nvPr/>
        </p:nvSpPr>
        <p:spPr>
          <a:xfrm>
            <a:off x="4095750" y="4229100"/>
            <a:ext cx="1524000" cy="209550"/>
          </a:xfrm>
        </p:spPr>
        <p:txBody>
          <a:bodyPr wrap="square" rtlCol="0" lIns="0" tIns="0" rIns="0" bIns="0" anchor="t"/>
          <a:lstStyle/>
          <a:p>
            <a:pPr algn="l"/>
            <a:r>
              <a:rPr sz="1250" b="1">
                <a:solidFill>
                  <a:srgbClr val="A05A0C"/>
                </a:solidFill>
                <a:latin typeface="Segoe UI"/>
                <a:ea typeface="Segoe UI"/>
              </a:rPr>
              <a:t>AUC 0.7365</a:t>
            </a:r>
          </a:p>
        </p:txBody>
      </p:sp>
      <p:sp>
        <p:nvSpPr>
          <p:cNvPr id="18" name="TextBox 18">
            <a:extLst>
              <a:ext uri="{FF2B5EF4-FFF2-40B4-BE49-F238E27FC236}">
                <a16:creationId xmlns:a16="http://schemas.microsoft.com/office/drawing/2014/main" id="{3772361C-7799-4837-AA12-2E17A4534D1E}"/>
              </a:ext>
            </a:extLst>
          </p:cNvPr>
          <p:cNvSpPr txBox="1"/>
          <p:nvPr/>
        </p:nvSpPr>
        <p:spPr>
          <a:xfrm>
            <a:off x="762000" y="4572000"/>
            <a:ext cx="5334000" cy="571500"/>
          </a:xfrm>
        </p:spPr>
        <p:txBody>
          <a:bodyPr wrap="square" rtlCol="0" lIns="0" tIns="0" rIns="0" bIns="0" anchor="t"/>
          <a:lstStyle/>
          <a:p>
            <a:pPr algn="l">
              <a:lnSpc>
                <a:spcPct val="118000"/>
              </a:lnSpc>
            </a:pPr>
            <a:r>
              <a:rPr sz="1150" i="1">
                <a:solidFill>
                  <a:srgbClr val="7C8DA3"/>
                </a:solidFill>
                <a:latin typeface="Segoe UI"/>
                <a:ea typeface="Segoe UI"/>
              </a:rPr>
              <a:t>Bars are held-out discrimination, not accuracy. The simulator number measures how well the student copies the teacher — the external one is the evidence.</a:t>
            </a:r>
          </a:p>
        </p:txBody>
      </p:sp>
      <p:sp>
        <p:nvSpPr>
          <p:cNvPr id="19" name="TextBox 19">
            <a:extLst>
              <a:ext uri="{FF2B5EF4-FFF2-40B4-BE49-F238E27FC236}">
                <a16:creationId xmlns:a16="http://schemas.microsoft.com/office/drawing/2014/main" id="{89B49F0F-65B4-4111-B125-E5EA2A835988}"/>
              </a:ext>
            </a:extLst>
          </p:cNvPr>
          <p:cNvSpPr txBox="1"/>
          <p:nvPr/>
        </p:nvSpPr>
        <p:spPr>
          <a:xfrm>
            <a:off x="6477000" y="2114550"/>
            <a:ext cx="4953000" cy="266700"/>
          </a:xfrm>
        </p:spPr>
        <p:txBody>
          <a:bodyPr wrap="square" rtlCol="0" lIns="0" tIns="0" rIns="0" bIns="0" anchor="t"/>
          <a:lstStyle/>
          <a:p>
            <a:pPr algn="l"/>
            <a:r>
              <a:rPr sz="1600" b="1">
                <a:solidFill>
                  <a:srgbClr val="0B1F38"/>
                </a:solidFill>
                <a:latin typeface="Segoe UI"/>
                <a:ea typeface="Segoe UI"/>
              </a:rPr>
              <a:t>How they are made</a:t>
            </a:r>
          </a:p>
        </p:txBody>
      </p:sp>
      <p:sp>
        <p:nvSpPr>
          <p:cNvPr id="20" name="TextBox 20">
            <a:extLst>
              <a:ext uri="{FF2B5EF4-FFF2-40B4-BE49-F238E27FC236}">
                <a16:creationId xmlns:a16="http://schemas.microsoft.com/office/drawing/2014/main" id="{F3DEA808-A16A-44E6-952E-67240EE63ED5}"/>
              </a:ext>
            </a:extLst>
          </p:cNvPr>
          <p:cNvSpPr txBox="1"/>
          <p:nvPr/>
        </p:nvSpPr>
        <p:spPr>
          <a:xfrm>
            <a:off x="6477000" y="2419350"/>
            <a:ext cx="4953000" cy="1066800"/>
          </a:xfrm>
        </p:spPr>
        <p:txBody>
          <a:bodyPr wrap="square" rtlCol="0" lIns="0" tIns="0" rIns="0" bIns="0" anchor="t"/>
          <a:lstStyle/>
          <a:p>
            <a:pPr algn="l">
              <a:lnSpc>
                <a:spcPct val="122000"/>
              </a:lnSpc>
            </a:pPr>
            <a:r>
              <a:rPr sz="1200">
                <a:solidFill>
                  <a:srgbClr val="33495F"/>
                </a:solidFill>
                <a:latin typeface="Segoe UI"/>
                <a:ea typeface="Segoe UI"/>
              </a:rPr>
              <a:t>Published Northern Region prevalence and risk priors build the cohort; a teacher is fit on it; a small dense network is distilled onto the exact [0,1] tensor the app feeds at inference; then post-training int8 quantisation — scale 0.003922, zero point −128.</a:t>
            </a:r>
          </a:p>
        </p:txBody>
      </p:sp>
      <p:sp>
        <p:nvSpPr>
          <p:cNvPr id="21" name="TextBox 21">
            <a:extLst>
              <a:ext uri="{FF2B5EF4-FFF2-40B4-BE49-F238E27FC236}">
                <a16:creationId xmlns:a16="http://schemas.microsoft.com/office/drawing/2014/main" id="{8508C5B4-EECB-4EE3-93BA-92E020A777B8}"/>
              </a:ext>
            </a:extLst>
          </p:cNvPr>
          <p:cNvSpPr txBox="1"/>
          <p:nvPr/>
        </p:nvSpPr>
        <p:spPr>
          <a:xfrm>
            <a:off x="6477000" y="3619500"/>
            <a:ext cx="4953000" cy="266700"/>
          </a:xfrm>
        </p:spPr>
        <p:txBody>
          <a:bodyPr wrap="square" rtlCol="0" lIns="0" tIns="0" rIns="0" bIns="0" anchor="t"/>
          <a:lstStyle/>
          <a:p>
            <a:pPr algn="l"/>
            <a:r>
              <a:rPr sz="1600" b="1">
                <a:solidFill>
                  <a:srgbClr val="0B1F38"/>
                </a:solidFill>
                <a:latin typeface="Segoe UI"/>
                <a:ea typeface="Segoe UI"/>
              </a:rPr>
              <a:t>How they are measured</a:t>
            </a:r>
          </a:p>
        </p:txBody>
      </p:sp>
      <p:sp>
        <p:nvSpPr>
          <p:cNvPr id="22" name="TextBox 22">
            <a:extLst>
              <a:ext uri="{FF2B5EF4-FFF2-40B4-BE49-F238E27FC236}">
                <a16:creationId xmlns:a16="http://schemas.microsoft.com/office/drawing/2014/main" id="{8BE6423B-1338-49C8-8817-6ABC1635C9E4}"/>
              </a:ext>
            </a:extLst>
          </p:cNvPr>
          <p:cNvSpPr txBox="1"/>
          <p:nvPr/>
        </p:nvSpPr>
        <p:spPr>
          <a:xfrm>
            <a:off x="6477000" y="3924300"/>
            <a:ext cx="4953000" cy="1066800"/>
          </a:xfrm>
        </p:spPr>
        <p:txBody>
          <a:bodyPr wrap="square" rtlCol="0" lIns="0" tIns="0" rIns="0" bIns="0" anchor="t"/>
          <a:lstStyle/>
          <a:p>
            <a:pPr algn="l">
              <a:lnSpc>
                <a:spcPct val="122000"/>
              </a:lnSpc>
            </a:pPr>
            <a:r>
              <a:rPr sz="1200">
                <a:solidFill>
                  <a:srgbClr val="33495F"/>
                </a:solidFill>
                <a:latin typeface="Segoe UI"/>
                <a:ea typeface="Segoe UI"/>
              </a:rPr>
              <a:t>Held-out AUC, sensitivity and specificity at a chosen Youden threshold; Platt-scaling calibration with per-bin residual intervals and a Brier score; per-feature z-score drift detection — a 14-day-old is drift-flagged, and a test asserts it.</a:t>
            </a:r>
          </a:p>
        </p:txBody>
      </p:sp>
      <p:sp>
        <p:nvSpPr>
          <p:cNvPr id="23" name="TextBox 23">
            <a:extLst>
              <a:ext uri="{FF2B5EF4-FFF2-40B4-BE49-F238E27FC236}">
                <a16:creationId xmlns:a16="http://schemas.microsoft.com/office/drawing/2014/main" id="{2898ADCF-79CC-47EC-82E5-FB889F8C48B7}"/>
              </a:ext>
            </a:extLst>
          </p:cNvPr>
          <p:cNvSpPr txBox="1"/>
          <p:nvPr/>
        </p:nvSpPr>
        <p:spPr>
          <a:xfrm>
            <a:off x="6477000" y="5029200"/>
            <a:ext cx="4953000" cy="247650"/>
          </a:xfrm>
        </p:spPr>
        <p:txBody>
          <a:bodyPr wrap="square" rtlCol="0" lIns="0" tIns="0" rIns="0" bIns="0" anchor="t"/>
          <a:lstStyle/>
          <a:p>
            <a:pPr algn="l"/>
            <a:r>
              <a:rPr sz="1300" b="1">
                <a:solidFill>
                  <a:srgbClr val="A05A0C"/>
                </a:solidFill>
                <a:latin typeface="Segoe UI"/>
                <a:ea typeface="Segoe UI"/>
              </a:rPr>
              <a:t>clinical_use_allowed: false — enforced in the runtime</a:t>
            </a:r>
          </a:p>
        </p:txBody>
      </p:sp>
      <p:sp>
        <p:nvSpPr>
          <p:cNvPr id="24" name="Shape 24">
            <a:extLst>
              <a:ext uri="{FF2B5EF4-FFF2-40B4-BE49-F238E27FC236}">
                <a16:creationId xmlns:a16="http://schemas.microsoft.com/office/drawing/2014/main" id="{E2ED8077-3054-4A41-B314-2CF61A6E333F}"/>
              </a:ext>
            </a:extLst>
          </p:cNvPr>
          <p:cNvSpPr/>
          <p:nvPr/>
        </p:nvSpPr>
        <p:spPr>
          <a:xfrm>
            <a:off x="762000" y="5353050"/>
            <a:ext cx="10668000" cy="1257300"/>
          </a:xfrm>
          <a:prstGeom prst="roundRect">
            <a:avLst/>
          </a:prstGeom>
          <a:solidFill>
            <a:srgbClr val="0B1F38"/>
          </a:solidFill>
        </p:spPr>
        <p:txBody>
          <a:bodyPr wrap="square" rtlCol="0"/>
          <a:lstStyle/>
          <a:p>
            <a:r>
              <a:rPr/>
              <a:t/>
            </a:r>
          </a:p>
        </p:txBody>
      </p:sp>
      <p:sp>
        <p:nvSpPr>
          <p:cNvPr id="25" name="TextBox 25">
            <a:extLst>
              <a:ext uri="{FF2B5EF4-FFF2-40B4-BE49-F238E27FC236}">
                <a16:creationId xmlns:a16="http://schemas.microsoft.com/office/drawing/2014/main" id="{62F3EC75-BE6E-4009-9F8F-F61003984254}"/>
              </a:ext>
            </a:extLst>
          </p:cNvPr>
          <p:cNvSpPr txBox="1"/>
          <p:nvPr/>
        </p:nvSpPr>
        <p:spPr>
          <a:xfrm>
            <a:off x="1066800" y="5505450"/>
            <a:ext cx="10058400" cy="1394816"/>
          </a:xfrm>
        </p:spPr>
        <p:txBody>
          <a:bodyPr wrap="square" rtlCol="0" lIns="0" tIns="0" rIns="0" bIns="0" anchor="t"/>
          <a:lstStyle/>
          <a:p>
            <a:pPr algn="l">
              <a:lnSpc>
                <a:spcPct val="118000"/>
              </a:lnSpc>
              <a:spcAft>
                <a:spcPts val="1000"/>
              </a:spcAft>
            </a:pPr>
            <a:r>
              <a:rPr sz="1250" b="1">
                <a:solidFill>
                  <a:srgbClr val="FFFFFF"/>
                </a:solidFill>
                <a:latin typeface="Segoe UI"/>
                <a:ea typeface="Segoe UI"/>
              </a:rPr>
              <a:t>Recommendation. </a:t>
            </a:r>
            <a:r>
              <a:rPr sz="1250">
                <a:solidFill>
                  <a:srgbClr val="DCE6F2"/>
                </a:solidFill>
                <a:latin typeface="Segoe UI"/>
                <a:ea typeface="Segoe UI"/>
              </a:rPr>
              <a:t>The engine turns a verdict into an ordered action list with a confidence, narrated in the family's language. overrideAiRecommendation lets a worker overrule it and records the override, and a case outside a model's training window is drift-flagged rather than trusted.</a:t>
            </a:r>
          </a:p>
          <a:p>
            <a:pPr algn="l">
              <a:lnSpc>
                <a:spcPct val="118000"/>
              </a:lnSpc>
            </a:pPr>
            <a:r>
              <a:rPr sz="1100">
                <a:solidFill>
                  <a:srgbClr val="8FA6C2"/>
                </a:solidFill>
                <a:latin typeface="Segoe UI"/>
                <a:ea typeface="Segoe UI"/>
              </a:rPr>
              <a:t>Sources, pinned with sha256: github.com/Helenaden/Neonatal-Sepsis-Prediction (Mbarara RRH EMR) · UCI Maternal Health Risk, Ahmed M. 2018, n=1,006 held out · PhysioNet 2019 adult ICU, n=4,000 out-of-domain check, AUC 0.5112 — near chance, as it should be · Adokiya 2022 doi:10.1080/03630242.2022.2030450 (n=359, Northern Region) · full citation blocks in assets/models/*_metrics.json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4101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9BDD042A-414C-4DF7-8B14-97CBA38C0EA7}"/>
              </a:ext>
            </a:extLst>
          </p:cNvPr>
          <p:cNvSpPr/>
          <p:nvPr/>
        </p:nvSpPr>
        <p:spPr>
          <a:xfrm>
            <a:off x="9620250" y="228600"/>
            <a:ext cx="1809750" cy="1809750"/>
          </a:xfrm>
          <a:prstGeom prst="ellipse">
            <a:avLst/>
          </a:prstGeom>
          <a:solidFill>
            <a:srgbClr val="000000">
              <a:alpha val="0"/>
            </a:srgbClr>
          </a:solidFill>
          <a:ln w="15240">
            <a:solidFill>
              <a:srgbClr val="143252"/>
            </a:solidFill>
          </a:ln>
        </p:spPr>
        <p:txBody>
          <a:bodyPr wrap="square" rtlCol="0"/>
          <a:lstStyle/>
          <a:p>
            <a:r>
              <a:rPr/>
              <a:t/>
            </a:r>
          </a:p>
        </p:txBody>
      </p:sp>
      <p:sp>
        <p:nvSpPr>
          <p:cNvPr id="4" name="Shape 4">
            <a:extLst>
              <a:ext uri="{FF2B5EF4-FFF2-40B4-BE49-F238E27FC236}">
                <a16:creationId xmlns:a16="http://schemas.microsoft.com/office/drawing/2014/main" id="{8CB602E9-BF33-4C58-BD0C-0B397105B1C9}"/>
              </a:ext>
            </a:extLst>
          </p:cNvPr>
          <p:cNvSpPr/>
          <p:nvPr/>
        </p:nvSpPr>
        <p:spPr>
          <a:xfrm>
            <a:off x="10048875" y="657225"/>
            <a:ext cx="952500" cy="952500"/>
          </a:xfrm>
          <a:prstGeom prst="ellipse">
            <a:avLst/>
          </a:prstGeom>
          <a:solidFill>
            <a:srgbClr val="000000">
              <a:alpha val="0"/>
            </a:srgbClr>
          </a:solidFill>
          <a:ln w="15240">
            <a:solidFill>
              <a:srgbClr val="1B426C"/>
            </a:solidFill>
          </a:ln>
        </p:spPr>
        <p:txBody>
          <a:bodyPr wrap="square" rtlCol="0"/>
          <a:lstStyle/>
          <a:p>
            <a:r>
              <a:rPr/>
              <a:t/>
            </a:r>
          </a:p>
        </p:txBody>
      </p:sp>
      <p:sp>
        <p:nvSpPr>
          <p:cNvPr id="5" name="Shape 5">
            <a:extLst>
              <a:ext uri="{FF2B5EF4-FFF2-40B4-BE49-F238E27FC236}">
                <a16:creationId xmlns:a16="http://schemas.microsoft.com/office/drawing/2014/main" id="{A972ED8C-AD4B-49A0-A978-3446FF7F2041}"/>
              </a:ext>
            </a:extLst>
          </p:cNvPr>
          <p:cNvSpPr/>
          <p:nvPr/>
        </p:nvSpPr>
        <p:spPr>
          <a:xfrm>
            <a:off x="10429875" y="1038225"/>
            <a:ext cx="190500" cy="190500"/>
          </a:xfrm>
          <a:prstGeom prst="ellipse">
            <a:avLst/>
          </a:prstGeom>
          <a:solidFill>
            <a:srgbClr val="F2A93B"/>
          </a:solidFill>
        </p:spPr>
        <p:txBody>
          <a:bodyPr wrap="square" rtlCol="0"/>
          <a:lstStyle/>
          <a:p>
            <a:r>
              <a:rPr/>
              <a:t/>
            </a:r>
          </a:p>
        </p:txBody>
      </p:sp>
      <p:sp>
        <p:nvSpPr>
          <p:cNvPr id="6" name="TextBox 6">
            <a:extLst>
              <a:ext uri="{FF2B5EF4-FFF2-40B4-BE49-F238E27FC236}">
                <a16:creationId xmlns:a16="http://schemas.microsoft.com/office/drawing/2014/main" id="{0C2CC177-463A-4A52-8241-64E25E03AD92}"/>
              </a:ext>
            </a:extLst>
          </p:cNvPr>
          <p:cNvSpPr txBox="1"/>
          <p:nvPr/>
        </p:nvSpPr>
        <p:spPr>
          <a:xfrm>
            <a:off x="762000" y="514350"/>
            <a:ext cx="8572500" cy="228600"/>
          </a:xfrm>
        </p:spPr>
        <p:txBody>
          <a:bodyPr wrap="square" rtlCol="0" lIns="0" tIns="0" rIns="0" bIns="0" anchor="t"/>
          <a:lstStyle/>
          <a:p>
            <a:pPr algn="l"/>
            <a:r>
              <a:rPr sz="1150" b="1">
                <a:solidFill>
                  <a:srgbClr val="5F7899"/>
                </a:solidFill>
                <a:latin typeface="Segoe UI"/>
                <a:ea typeface="Segoe UI"/>
              </a:rPr>
              <a:t>THE LIGHTWEIGHT NLP SYSTEM  ·  WHAT WE ARE ASKING FOR</a:t>
            </a:r>
          </a:p>
        </p:txBody>
      </p:sp>
      <p:sp>
        <p:nvSpPr>
          <p:cNvPr id="7" name="TextBox 7">
            <a:extLst>
              <a:ext uri="{FF2B5EF4-FFF2-40B4-BE49-F238E27FC236}">
                <a16:creationId xmlns:a16="http://schemas.microsoft.com/office/drawing/2014/main" id="{45920F5B-3F0C-4959-B7B6-E2B427D156FE}"/>
              </a:ext>
            </a:extLst>
          </p:cNvPr>
          <p:cNvSpPr txBox="1"/>
          <p:nvPr/>
        </p:nvSpPr>
        <p:spPr>
          <a:xfrm>
            <a:off x="762000" y="819150"/>
            <a:ext cx="8382000" cy="952500"/>
          </a:xfrm>
        </p:spPr>
        <p:txBody>
          <a:bodyPr wrap="square" rtlCol="0" lIns="0" tIns="0" rIns="0" bIns="0" anchor="t"/>
          <a:lstStyle/>
          <a:p>
            <a:pPr algn="l">
              <a:lnSpc>
                <a:spcPct val="112000"/>
              </a:lnSpc>
            </a:pPr>
            <a:r>
              <a:rPr sz="2600" b="1">
                <a:solidFill>
                  <a:srgbClr val="EAF2FC"/>
                </a:solidFill>
                <a:latin typeface="Segoe UI"/>
                <a:ea typeface="Segoe UI"/>
              </a:rPr>
              <a:t>Twi and Dagbani are not on the cloud speech lists —</a:t>
            </a:r>
            <a:br/>
            <a:r>
              <a:rPr sz="2600" b="1">
                <a:solidFill>
                  <a:srgbClr val="EAF2FC"/>
                </a:solidFill>
                <a:latin typeface="Segoe UI"/>
                <a:ea typeface="Segoe UI"/>
              </a:rPr>
              <a:t>so the models run on the phone</a:t>
            </a:r>
          </a:p>
        </p:txBody>
      </p:sp>
      <p:cxnSp>
        <p:nvCxnSpPr>
          <p:cNvPr id="8" name="Straight Connector 8">
            <a:extLst>
              <a:ext uri="{FF2B5EF4-FFF2-40B4-BE49-F238E27FC236}">
                <a16:creationId xmlns:a16="http://schemas.microsoft.com/office/drawing/2014/main" id="{A2592A48-F6BD-405B-B874-DA075C40E4F9}"/>
              </a:ext>
            </a:extLst>
          </p:cNvPr>
          <p:cNvCxnSpPr/>
          <p:nvPr/>
        </p:nvCxnSpPr>
        <p:spPr>
          <a:xfrm>
            <a:off x="762000" y="1905000"/>
            <a:ext cx="10668000" cy="9525"/>
          </a:xfrm>
          <a:prstGeom prst="line">
            <a:avLst/>
          </a:prstGeom>
          <a:ln w="12700" cap="flat">
            <a:solidFill>
              <a:srgbClr val="24486F"/>
            </a:solidFill>
          </a:ln>
        </p:spPr>
      </p:cxnSp>
      <p:sp>
        <p:nvSpPr>
          <p:cNvPr id="9" name="TextBox 9">
            <a:extLst>
              <a:ext uri="{FF2B5EF4-FFF2-40B4-BE49-F238E27FC236}">
                <a16:creationId xmlns:a16="http://schemas.microsoft.com/office/drawing/2014/main" id="{6FFA6E00-E658-4A11-BF23-E0B19C9A035B}"/>
              </a:ext>
            </a:extLst>
          </p:cNvPr>
          <p:cNvSpPr txBox="1"/>
          <p:nvPr/>
        </p:nvSpPr>
        <p:spPr>
          <a:xfrm>
            <a:off x="762000" y="2114550"/>
            <a:ext cx="1143000" cy="457200"/>
          </a:xfrm>
        </p:spPr>
        <p:txBody>
          <a:bodyPr wrap="square" rtlCol="0" lIns="0" tIns="0" rIns="0" bIns="0" anchor="t"/>
          <a:lstStyle/>
          <a:p>
            <a:pPr algn="l">
              <a:lnSpc>
                <a:spcPct val="100000"/>
              </a:lnSpc>
            </a:pPr>
            <a:r>
              <a:rPr sz="2800" b="1">
                <a:solidFill>
                  <a:srgbClr val="3E8BFF"/>
                </a:solidFill>
                <a:latin typeface="Segoe UI"/>
                <a:ea typeface="Segoe UI"/>
              </a:rPr>
              <a:t>0.162</a:t>
            </a:r>
          </a:p>
        </p:txBody>
      </p:sp>
      <p:sp>
        <p:nvSpPr>
          <p:cNvPr id="10" name="TextBox 10">
            <a:extLst>
              <a:ext uri="{FF2B5EF4-FFF2-40B4-BE49-F238E27FC236}">
                <a16:creationId xmlns:a16="http://schemas.microsoft.com/office/drawing/2014/main" id="{64333DF7-D165-4679-93CF-C37517EB4E9D}"/>
              </a:ext>
            </a:extLst>
          </p:cNvPr>
          <p:cNvSpPr txBox="1"/>
          <p:nvPr/>
        </p:nvSpPr>
        <p:spPr>
          <a:xfrm>
            <a:off x="2019300" y="2171700"/>
            <a:ext cx="4076700" cy="571500"/>
          </a:xfrm>
        </p:spPr>
        <p:txBody>
          <a:bodyPr wrap="square" rtlCol="0" lIns="0" tIns="0" rIns="0" bIns="0" anchor="t"/>
          <a:lstStyle/>
          <a:p>
            <a:pPr algn="l">
              <a:lnSpc>
                <a:spcPct val="118000"/>
              </a:lnSpc>
            </a:pPr>
            <a:r>
              <a:rPr sz="1200">
                <a:solidFill>
                  <a:srgbClr val="C4D5E9"/>
                </a:solidFill>
                <a:latin typeface="Segoe UI"/>
                <a:ea typeface="Segoe UI"/>
              </a:rPr>
              <a:t>Twi recognition, median CER — clears the 0.25 dictation ceiling</a:t>
            </a:r>
          </a:p>
        </p:txBody>
      </p:sp>
      <p:sp>
        <p:nvSpPr>
          <p:cNvPr id="11" name="TextBox 11">
            <a:extLst>
              <a:ext uri="{FF2B5EF4-FFF2-40B4-BE49-F238E27FC236}">
                <a16:creationId xmlns:a16="http://schemas.microsoft.com/office/drawing/2014/main" id="{C70BA2DD-5F75-4888-93BA-FD8D887B497F}"/>
              </a:ext>
            </a:extLst>
          </p:cNvPr>
          <p:cNvSpPr txBox="1"/>
          <p:nvPr/>
        </p:nvSpPr>
        <p:spPr>
          <a:xfrm>
            <a:off x="762000" y="2781300"/>
            <a:ext cx="1143000" cy="457200"/>
          </a:xfrm>
        </p:spPr>
        <p:txBody>
          <a:bodyPr wrap="square" rtlCol="0" lIns="0" tIns="0" rIns="0" bIns="0" anchor="t"/>
          <a:lstStyle/>
          <a:p>
            <a:pPr algn="l">
              <a:lnSpc>
                <a:spcPct val="100000"/>
              </a:lnSpc>
            </a:pPr>
            <a:r>
              <a:rPr sz="2800" b="1">
                <a:solidFill>
                  <a:srgbClr val="F2A93B"/>
                </a:solidFill>
                <a:latin typeface="Segoe UI"/>
                <a:ea typeface="Segoe UI"/>
              </a:rPr>
              <a:t>0.420</a:t>
            </a:r>
          </a:p>
        </p:txBody>
      </p:sp>
      <p:sp>
        <p:nvSpPr>
          <p:cNvPr id="12" name="TextBox 12">
            <a:extLst>
              <a:ext uri="{FF2B5EF4-FFF2-40B4-BE49-F238E27FC236}">
                <a16:creationId xmlns:a16="http://schemas.microsoft.com/office/drawing/2014/main" id="{4384E76C-808A-4C22-B53E-7753564CC7EF}"/>
              </a:ext>
            </a:extLst>
          </p:cNvPr>
          <p:cNvSpPr txBox="1"/>
          <p:nvPr/>
        </p:nvSpPr>
        <p:spPr>
          <a:xfrm>
            <a:off x="2019300" y="2838450"/>
            <a:ext cx="4076700" cy="571500"/>
          </a:xfrm>
        </p:spPr>
        <p:txBody>
          <a:bodyPr wrap="square" rtlCol="0" lIns="0" tIns="0" rIns="0" bIns="0" anchor="t"/>
          <a:lstStyle/>
          <a:p>
            <a:pPr algn="l">
              <a:lnSpc>
                <a:spcPct val="118000"/>
              </a:lnSpc>
            </a:pPr>
            <a:r>
              <a:rPr sz="1200">
                <a:solidFill>
                  <a:srgbClr val="C4D5E9"/>
                </a:solidFill>
                <a:latin typeface="Segoe UI"/>
                <a:ea typeface="Segoe UI"/>
              </a:rPr>
              <a:t>Dagbani recognition, median CER — above it, so the app refuses the microphone</a:t>
            </a:r>
          </a:p>
        </p:txBody>
      </p:sp>
      <p:sp>
        <p:nvSpPr>
          <p:cNvPr id="13" name="TextBox 13">
            <a:extLst>
              <a:ext uri="{FF2B5EF4-FFF2-40B4-BE49-F238E27FC236}">
                <a16:creationId xmlns:a16="http://schemas.microsoft.com/office/drawing/2014/main" id="{B7CE54BA-2EAC-4635-B1DD-89EF4606F798}"/>
              </a:ext>
            </a:extLst>
          </p:cNvPr>
          <p:cNvSpPr txBox="1"/>
          <p:nvPr/>
        </p:nvSpPr>
        <p:spPr>
          <a:xfrm>
            <a:off x="762000" y="3448050"/>
            <a:ext cx="1143000" cy="457200"/>
          </a:xfrm>
        </p:spPr>
        <p:txBody>
          <a:bodyPr wrap="square" rtlCol="0" lIns="0" tIns="0" rIns="0" bIns="0" anchor="t"/>
          <a:lstStyle/>
          <a:p>
            <a:pPr algn="l">
              <a:lnSpc>
                <a:spcPct val="100000"/>
              </a:lnSpc>
            </a:pPr>
            <a:r>
              <a:rPr sz="2800" b="1">
                <a:solidFill>
                  <a:srgbClr val="3E8BFF"/>
                </a:solidFill>
                <a:latin typeface="Segoe UI"/>
                <a:ea typeface="Segoe UI"/>
              </a:rPr>
              <a:t>4</a:t>
            </a:r>
          </a:p>
        </p:txBody>
      </p:sp>
      <p:sp>
        <p:nvSpPr>
          <p:cNvPr id="14" name="TextBox 14">
            <a:extLst>
              <a:ext uri="{FF2B5EF4-FFF2-40B4-BE49-F238E27FC236}">
                <a16:creationId xmlns:a16="http://schemas.microsoft.com/office/drawing/2014/main" id="{66BAFE51-23E5-4B88-ACEF-B6A1476AE119}"/>
              </a:ext>
            </a:extLst>
          </p:cNvPr>
          <p:cNvSpPr txBox="1"/>
          <p:nvPr/>
        </p:nvSpPr>
        <p:spPr>
          <a:xfrm>
            <a:off x="2019300" y="3505200"/>
            <a:ext cx="4076700" cy="571500"/>
          </a:xfrm>
        </p:spPr>
        <p:txBody>
          <a:bodyPr wrap="square" rtlCol="0" lIns="0" tIns="0" rIns="0" bIns="0" anchor="t"/>
          <a:lstStyle/>
          <a:p>
            <a:pPr algn="l">
              <a:lnSpc>
                <a:spcPct val="118000"/>
              </a:lnSpc>
            </a:pPr>
            <a:r>
              <a:rPr sz="1200">
                <a:solidFill>
                  <a:srgbClr val="C4D5E9"/>
                </a:solidFill>
                <a:latin typeface="Segoe UI"/>
                <a:ea typeface="Segoe UI"/>
              </a:rPr>
              <a:t>offline Piper voices, 37–80 MB, licence and sha256 per pack</a:t>
            </a:r>
          </a:p>
        </p:txBody>
      </p:sp>
      <p:sp>
        <p:nvSpPr>
          <p:cNvPr id="15" name="TextBox 15">
            <a:extLst>
              <a:ext uri="{FF2B5EF4-FFF2-40B4-BE49-F238E27FC236}">
                <a16:creationId xmlns:a16="http://schemas.microsoft.com/office/drawing/2014/main" id="{A060C1CC-51B7-4001-8676-1E0F2F82B6E3}"/>
              </a:ext>
            </a:extLst>
          </p:cNvPr>
          <p:cNvSpPr txBox="1"/>
          <p:nvPr/>
        </p:nvSpPr>
        <p:spPr>
          <a:xfrm>
            <a:off x="762000" y="4114800"/>
            <a:ext cx="1143000" cy="457200"/>
          </a:xfrm>
        </p:spPr>
        <p:txBody>
          <a:bodyPr wrap="square" rtlCol="0" lIns="0" tIns="0" rIns="0" bIns="0" anchor="t"/>
          <a:lstStyle/>
          <a:p>
            <a:pPr algn="l">
              <a:lnSpc>
                <a:spcPct val="100000"/>
              </a:lnSpc>
            </a:pPr>
            <a:r>
              <a:rPr sz="2800" b="1">
                <a:solidFill>
                  <a:srgbClr val="3E8BFF"/>
                </a:solidFill>
                <a:latin typeface="Segoe UI"/>
                <a:ea typeface="Segoe UI"/>
              </a:rPr>
              <a:t>2</a:t>
            </a:r>
          </a:p>
        </p:txBody>
      </p:sp>
      <p:sp>
        <p:nvSpPr>
          <p:cNvPr id="16" name="TextBox 16">
            <a:extLst>
              <a:ext uri="{FF2B5EF4-FFF2-40B4-BE49-F238E27FC236}">
                <a16:creationId xmlns:a16="http://schemas.microsoft.com/office/drawing/2014/main" id="{6075962F-31CF-4929-A31A-A969DDDBC9FA}"/>
              </a:ext>
            </a:extLst>
          </p:cNvPr>
          <p:cNvSpPr txBox="1"/>
          <p:nvPr/>
        </p:nvSpPr>
        <p:spPr>
          <a:xfrm>
            <a:off x="2019300" y="4171950"/>
            <a:ext cx="4076700" cy="571500"/>
          </a:xfrm>
        </p:spPr>
        <p:txBody>
          <a:bodyPr wrap="square" rtlCol="0" lIns="0" tIns="0" rIns="0" bIns="0" anchor="t"/>
          <a:lstStyle/>
          <a:p>
            <a:pPr algn="l">
              <a:lnSpc>
                <a:spcPct val="118000"/>
              </a:lnSpc>
            </a:pPr>
            <a:r>
              <a:rPr sz="1200">
                <a:solidFill>
                  <a:srgbClr val="C4D5E9"/>
                </a:solidFill>
                <a:latin typeface="Segoe UI"/>
                <a:ea typeface="Segoe UI"/>
              </a:rPr>
              <a:t>Marian translation pairs, en→Twi and en→Hausa, Apache-2.0</a:t>
            </a:r>
          </a:p>
        </p:txBody>
      </p:sp>
      <p:sp>
        <p:nvSpPr>
          <p:cNvPr id="17" name="TextBox 17">
            <a:extLst>
              <a:ext uri="{FF2B5EF4-FFF2-40B4-BE49-F238E27FC236}">
                <a16:creationId xmlns:a16="http://schemas.microsoft.com/office/drawing/2014/main" id="{E4B8D0B7-B16D-40F1-A8D8-80260B7A3503}"/>
              </a:ext>
            </a:extLst>
          </p:cNvPr>
          <p:cNvSpPr txBox="1"/>
          <p:nvPr/>
        </p:nvSpPr>
        <p:spPr>
          <a:xfrm>
            <a:off x="762000" y="4762500"/>
            <a:ext cx="5334000" cy="827227"/>
          </a:xfrm>
        </p:spPr>
        <p:txBody>
          <a:bodyPr wrap="square" rtlCol="0" lIns="0" tIns="0" rIns="0" bIns="0" anchor="t"/>
          <a:lstStyle/>
          <a:p>
            <a:pPr algn="l">
              <a:lnSpc>
                <a:spcPct val="118000"/>
              </a:lnSpc>
            </a:pPr>
            <a:r>
              <a:rPr sz="1150">
                <a:solidFill>
                  <a:srgbClr val="8FA6C2"/>
                </a:solidFill>
                <a:latin typeface="Segoe UI"/>
                <a:ea typeface="Segoe UI"/>
              </a:rPr>
              <a:t>Scored with an exact CTC forward algorithm over every spellable spoken form, in the model's own character set. Answers stay verified: false until a native ear signs them off — voice may propose, never record. Packs are 355 MB and 876 MB, and are not shipped.</a:t>
            </a:r>
          </a:p>
        </p:txBody>
      </p:sp>
      <p:sp>
        <p:nvSpPr>
          <p:cNvPr id="18" name="TextBox 18">
            <a:extLst>
              <a:ext uri="{FF2B5EF4-FFF2-40B4-BE49-F238E27FC236}">
                <a16:creationId xmlns:a16="http://schemas.microsoft.com/office/drawing/2014/main" id="{C07AC723-3115-4628-BCB7-07C670B19167}"/>
              </a:ext>
            </a:extLst>
          </p:cNvPr>
          <p:cNvSpPr txBox="1"/>
          <p:nvPr/>
        </p:nvSpPr>
        <p:spPr>
          <a:xfrm>
            <a:off x="6477000" y="2114550"/>
            <a:ext cx="4953000" cy="266700"/>
          </a:xfrm>
        </p:spPr>
        <p:txBody>
          <a:bodyPr wrap="square" rtlCol="0" lIns="0" tIns="0" rIns="0" bIns="0" anchor="t"/>
          <a:lstStyle/>
          <a:p>
            <a:pPr algn="l"/>
            <a:r>
              <a:rPr sz="1600" b="1">
                <a:solidFill>
                  <a:srgbClr val="3E8BFF"/>
                </a:solidFill>
                <a:latin typeface="Segoe UI"/>
                <a:ea typeface="Segoe UI"/>
              </a:rPr>
              <a:t>What we need from UNICEF</a:t>
            </a:r>
          </a:p>
        </p:txBody>
      </p:sp>
      <p:sp>
        <p:nvSpPr>
          <p:cNvPr id="19" name="TextBox 19">
            <a:extLst>
              <a:ext uri="{FF2B5EF4-FFF2-40B4-BE49-F238E27FC236}">
                <a16:creationId xmlns:a16="http://schemas.microsoft.com/office/drawing/2014/main" id="{6C2BE431-FFB9-4E6E-A391-83DC661833ED}"/>
              </a:ext>
            </a:extLst>
          </p:cNvPr>
          <p:cNvSpPr txBox="1"/>
          <p:nvPr/>
        </p:nvSpPr>
        <p:spPr>
          <a:xfrm>
            <a:off x="6477000" y="2438400"/>
            <a:ext cx="4953000" cy="1479804"/>
          </a:xfrm>
        </p:spPr>
        <p:txBody>
          <a:bodyPr wrap="square" rtlCol="0" lIns="0" tIns="0" rIns="0" bIns="0" anchor="t"/>
          <a:lstStyle/>
          <a:p>
            <a:pPr marL="228600" indent="-228600" algn="l">
              <a:lnSpc>
                <a:spcPct val="116000"/>
              </a:lnSpc>
              <a:spcAft>
                <a:spcPts val="1100"/>
              </a:spcAft>
              <a:buChar char="•"/>
            </a:pPr>
            <a:r>
              <a:rPr sz="1200">
                <a:solidFill>
                  <a:srgbClr val="EAF2FC"/>
                </a:solidFill>
                <a:latin typeface="Segoe UI"/>
                <a:ea typeface="Segoe UI"/>
              </a:rPr>
              <a:t>A clinical champion to sign the IMCI and GHS mapping.</a:t>
            </a:r>
          </a:p>
          <a:p>
            <a:pPr marL="228600" indent="-228600" algn="l">
              <a:lnSpc>
                <a:spcPct val="116000"/>
              </a:lnSpc>
              <a:spcAft>
                <a:spcPts val="1100"/>
              </a:spcAft>
              <a:buChar char="•"/>
            </a:pPr>
            <a:r>
              <a:rPr sz="1200">
                <a:solidFill>
                  <a:srgbClr val="EAF2FC"/>
                </a:solidFill>
                <a:latin typeface="Segoe UI"/>
                <a:ea typeface="Segoe UI"/>
              </a:rPr>
              <a:t>A data-use agreement and ethics route to a Ghanaian cohort.</a:t>
            </a:r>
          </a:p>
          <a:p>
            <a:pPr marL="228600" indent="-228600" algn="l">
              <a:lnSpc>
                <a:spcPct val="116000"/>
              </a:lnSpc>
              <a:spcAft>
                <a:spcPts val="1100"/>
              </a:spcAft>
              <a:buChar char="•"/>
            </a:pPr>
            <a:r>
              <a:rPr sz="1200">
                <a:solidFill>
                  <a:srgbClr val="EAF2FC"/>
                </a:solidFill>
                <a:latin typeface="Segoe UI"/>
                <a:ea typeface="Segoe UI"/>
              </a:rPr>
              <a:t>One district to pilot in — 90 days, one sub-district.</a:t>
            </a:r>
          </a:p>
          <a:p>
            <a:pPr marL="228600" indent="-228600" algn="l">
              <a:lnSpc>
                <a:spcPct val="116000"/>
              </a:lnSpc>
              <a:buChar char="•"/>
            </a:pPr>
            <a:r>
              <a:rPr sz="1200">
                <a:solidFill>
                  <a:srgbClr val="EAF2FC"/>
                </a:solidFill>
                <a:latin typeface="Segoe UI"/>
                <a:ea typeface="Segoe UI"/>
              </a:rPr>
              <a:t>Recording sessions with native speakers, and a phone that is not a flagship.</a:t>
            </a:r>
          </a:p>
        </p:txBody>
      </p:sp>
      <p:sp>
        <p:nvSpPr>
          <p:cNvPr id="20" name="TextBox 20">
            <a:extLst>
              <a:ext uri="{FF2B5EF4-FFF2-40B4-BE49-F238E27FC236}">
                <a16:creationId xmlns:a16="http://schemas.microsoft.com/office/drawing/2014/main" id="{97544DA4-EF35-49A1-95DF-E23269B165B6}"/>
              </a:ext>
            </a:extLst>
          </p:cNvPr>
          <p:cNvSpPr txBox="1"/>
          <p:nvPr/>
        </p:nvSpPr>
        <p:spPr>
          <a:xfrm>
            <a:off x="6477000" y="4000500"/>
            <a:ext cx="4953000" cy="266700"/>
          </a:xfrm>
        </p:spPr>
        <p:txBody>
          <a:bodyPr wrap="square" rtlCol="0" lIns="0" tIns="0" rIns="0" bIns="0" anchor="t"/>
          <a:lstStyle/>
          <a:p>
            <a:pPr algn="l"/>
            <a:r>
              <a:rPr sz="1600" b="1">
                <a:solidFill>
                  <a:srgbClr val="F2A93B"/>
                </a:solidFill>
                <a:latin typeface="Segoe UI"/>
                <a:ea typeface="Segoe UI"/>
              </a:rPr>
              <a:t>And what we have not finished</a:t>
            </a:r>
          </a:p>
        </p:txBody>
      </p:sp>
      <p:sp>
        <p:nvSpPr>
          <p:cNvPr id="21" name="TextBox 21">
            <a:extLst>
              <a:ext uri="{FF2B5EF4-FFF2-40B4-BE49-F238E27FC236}">
                <a16:creationId xmlns:a16="http://schemas.microsoft.com/office/drawing/2014/main" id="{E3560E8F-475E-4879-8DAB-A48895E408CE}"/>
              </a:ext>
            </a:extLst>
          </p:cNvPr>
          <p:cNvSpPr txBox="1"/>
          <p:nvPr/>
        </p:nvSpPr>
        <p:spPr>
          <a:xfrm>
            <a:off x="6477000" y="4305300"/>
            <a:ext cx="4953000" cy="1143000"/>
          </a:xfrm>
        </p:spPr>
        <p:txBody>
          <a:bodyPr wrap="square" rtlCol="0" lIns="0" tIns="0" rIns="0" bIns="0" anchor="t"/>
          <a:lstStyle/>
          <a:p>
            <a:pPr marL="228600" indent="-228600" algn="l">
              <a:lnSpc>
                <a:spcPct val="116000"/>
              </a:lnSpc>
              <a:spcAft>
                <a:spcPts val="900"/>
              </a:spcAft>
              <a:buChar char="•"/>
            </a:pPr>
            <a:r>
              <a:rPr sz="1150">
                <a:solidFill>
                  <a:srgbClr val="C4D5E9"/>
                </a:solidFill>
                <a:latin typeface="Segoe UI"/>
                <a:ea typeface="Segoe UI"/>
              </a:rPr>
              <a:t>No live district server — the pipeline runs on loopback.</a:t>
            </a:r>
          </a:p>
          <a:p>
            <a:pPr marL="228600" indent="-228600" algn="l">
              <a:lnSpc>
                <a:spcPct val="116000"/>
              </a:lnSpc>
              <a:spcAft>
                <a:spcPts val="900"/>
              </a:spcAft>
              <a:buChar char="•"/>
            </a:pPr>
            <a:r>
              <a:rPr sz="1150">
                <a:solidFill>
                  <a:srgbClr val="C4D5E9"/>
                </a:solidFill>
                <a:latin typeface="Segoe UI"/>
                <a:ea typeface="Segoe UI"/>
              </a:rPr>
              <a:t>ASR packs unshipped at 355 MB and 876 MB.</a:t>
            </a:r>
          </a:p>
          <a:p>
            <a:pPr marL="228600" indent="-228600" algn="l">
              <a:lnSpc>
                <a:spcPct val="116000"/>
              </a:lnSpc>
              <a:buChar char="•"/>
            </a:pPr>
            <a:r>
              <a:rPr sz="1150">
                <a:solidFill>
                  <a:srgbClr val="C4D5E9"/>
                </a:solidFill>
                <a:latin typeface="Segoe UI"/>
                <a:ea typeface="Segoe UI"/>
              </a:rPr>
              <a:t>Nothing here is clinically validated in Northern Ghana yet.</a:t>
            </a:r>
          </a:p>
        </p:txBody>
      </p:sp>
      <p:sp>
        <p:nvSpPr>
          <p:cNvPr id="22" name="Shape 22">
            <a:extLst>
              <a:ext uri="{FF2B5EF4-FFF2-40B4-BE49-F238E27FC236}">
                <a16:creationId xmlns:a16="http://schemas.microsoft.com/office/drawing/2014/main" id="{211F2353-7324-4A45-954B-FD4B84910780}"/>
              </a:ext>
            </a:extLst>
          </p:cNvPr>
          <p:cNvSpPr/>
          <p:nvPr/>
        </p:nvSpPr>
        <p:spPr>
          <a:xfrm>
            <a:off x="762000" y="5562600"/>
            <a:ext cx="10668000" cy="1066800"/>
          </a:xfrm>
          <a:prstGeom prst="roundRect">
            <a:avLst/>
          </a:prstGeom>
          <a:solidFill>
            <a:srgbClr val="0B2138"/>
          </a:solidFill>
        </p:spPr>
        <p:txBody>
          <a:bodyPr wrap="square" rtlCol="0"/>
          <a:lstStyle/>
          <a:p>
            <a:r>
              <a:rPr/>
              <a:t/>
            </a:r>
          </a:p>
        </p:txBody>
      </p:sp>
      <p:sp>
        <p:nvSpPr>
          <p:cNvPr id="23" name="TextBox 23">
            <a:extLst>
              <a:ext uri="{FF2B5EF4-FFF2-40B4-BE49-F238E27FC236}">
                <a16:creationId xmlns:a16="http://schemas.microsoft.com/office/drawing/2014/main" id="{47D65413-114C-43A4-B11B-B768EC9B7FEB}"/>
              </a:ext>
            </a:extLst>
          </p:cNvPr>
          <p:cNvSpPr txBox="1"/>
          <p:nvPr/>
        </p:nvSpPr>
        <p:spPr>
          <a:xfrm>
            <a:off x="1104900" y="5753100"/>
            <a:ext cx="9982200" cy="723900"/>
          </a:xfrm>
        </p:spPr>
        <p:txBody>
          <a:bodyPr wrap="square" rtlCol="0" lIns="0" tIns="0" rIns="0" bIns="0" anchor="t"/>
          <a:lstStyle/>
          <a:p>
            <a:pPr algn="l">
              <a:lnSpc>
                <a:spcPct val="122000"/>
              </a:lnSpc>
            </a:pPr>
            <a:r>
              <a:rPr sz="1700">
                <a:solidFill>
                  <a:srgbClr val="C4D5E9"/>
                </a:solidFill>
                <a:latin typeface="Segoe UI"/>
                <a:ea typeface="Segoe UI"/>
              </a:rPr>
              <a:t>When the register stops saying </a:t>
            </a:r>
            <a:r>
              <a:rPr sz="1700" i="1">
                <a:solidFill>
                  <a:srgbClr val="8FA6C2"/>
                </a:solidFill>
                <a:latin typeface="Segoe UI"/>
                <a:ea typeface="Segoe UI"/>
              </a:rPr>
              <a:t>did not attend</a:t>
            </a:r>
            <a:r>
              <a:rPr sz="1700">
                <a:solidFill>
                  <a:srgbClr val="C4D5E9"/>
                </a:solidFill>
                <a:latin typeface="Segoe UI"/>
                <a:ea typeface="Segoe UI"/>
              </a:rPr>
              <a:t> and starts saying </a:t>
            </a:r>
            <a:r>
              <a:rPr sz="1700" b="1">
                <a:solidFill>
                  <a:srgbClr val="F2A93B"/>
                </a:solidFill>
                <a:latin typeface="Segoe UI"/>
                <a:ea typeface="Segoe UI"/>
              </a:rPr>
              <a:t>three households, closed facility, this month</a:t>
            </a:r>
            <a:r>
              <a:rPr sz="1700">
                <a:solidFill>
                  <a:srgbClr val="C4D5E9"/>
                </a:solidFill>
                <a:latin typeface="Segoe UI"/>
                <a:ea typeface="Segoe UI"/>
              </a:rPr>
              <a:t> — that is when the system can no longer look away.</a:t>
            </a:r>
          </a:p>
        </p:txBody>
      </p:sp>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C43E1C"/>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Microsoft YaHei"/>
        <a:cs typeface=""/>
      </a:majorFont>
      <a:minorFont>
        <a:latin typeface="Calibri"/>
        <a:ea typeface="Microsoft YaHei"/>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C43E1C"/>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Microsoft YaHei"/>
        <a:cs typeface=""/>
      </a:majorFont>
      <a:minorFont>
        <a:latin typeface="Calibri"/>
        <a:ea typeface="Microsoft YaHei"/>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