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problem nobody in the room can argue with: the network. CareBridge AI is an offline-first clinical decision support system for Ghana's CHPS compounds. Everything you are about to see — the triage, the AI, the translation, the referral tracking — works with zero connectivity. Key numbers on screen: four int8 TFLite risk models running on-device; the neonatal sepsis model is cross-validated at AUC 0.90 on REAL patient records (Mbarara RRH EMR, n=964); an 18-table SQLite database is the source of truth; and a three-layer language stack carries advice into Twi, Hausa, and recorded local speech. Say the tagline once, slowly,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killers are known and time-critical: neonatal sepsis, childhood pneumonia, pre-eclampsia, low birth weight. Outcomes are decided in hours. But the frontline system has four compounding gaps — walk each one slowly. The referral point lands hardest: on paper, nobody knows if the family ever arrived. Then introduce the three users. Emphasise the role separation is hard-coded, not a settings page: RBAC with three guards — capability, household scope, person scope — and the router hard-blocks cross-role navigation. Judges who probe privacy will find this holds.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day left to right, top to bottom — this is a real clinic day, not a feature list. Pause on step 2: the emergency tunnel needs no name, no household, no network — IMCI danger signs as big YES/NO taps, with a real 60-second respiratory-rate timer and WHO fast-breathing cut-offs by age. Step 3 is the detail field workers respect: the child who wasn't brought is the one who never gets measured — absence is recorded. Then the engineering claim for the technical judges, from the bottom strip: the atomic outbox pattern. A record literally cannot exist without its sync intent — verified across all 30+ write sites. That is the sentence to say out loud.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built to be attacked. Column one: the dual-hash design — a 20,000-iteration local HMAC never leaves the device; the server stores a further 120,000-iteration domain-separated verifier in a physically separate table with constant-time comparison. Login is challenge-response; the PIN never crosses the wire. Column two: RBAC — three guards at the repository boundary, and the server derives scope from JWT claims, ignoring anything the client asks for. Column three: compliance — recalibration exports are de-identified by construction, the linkage salt is held by GHS not shipped in the app, and a district officer signs every export. Close with the bottom line: privacy here is architecture, not policy.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int8 TFLite models run fully offline. Be the most honest AI pitch the judges hear all day: only the sepsis model leads with real patient data — AUC 0.90 cross-validated on 964 Mbarara records. The other three are simulator-seeded and SAY SO on the slide; the pre-eclampsia model's evidence is its external check (AUC 0.74 on a real Bangladeshi cohort), not its internal 1.0, which the app itself labels a sanity check. This framing is not a slide choice — OfflineModelStatus.headlineValidation enforces it in code. Then the guardrails: drift suppression, logit-side Platt calibration, SHA-256 integrity, deterministic fallback, and the 10-character override audit. The recalibration pathway (Kintampo/Navrongo, ~5,000 linked outcomes) is how every model earns a Ghanaian-patient-data headline. Deterministic engines handle what guidelines already solve: IMCI, EPI catch-up, growth z-scores, vulnerability scoring with modifiable risk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in order of trust. Layer one is a recorded speech bank — a real human voice for the fixed phrases that matter most; Dagbani is recorded, Mampruli and Kusaal are drafted with community speakers. Layer two is the engineering flex: full MarianMT neural translation running ON the device — Twi and Hausa — quantised, with the SentencePiece tokeniser re-implemented in Dart. The parity story is the sentence to land: token-for-token fixtures are checked at model load, and packaging refuses to ship unless the quantised model reproduces the fp32 reference exactly. If it ever diverges, it refuses to run rather than mistranslate clinical advice. Layer three is a curated dictionary. Finish on the guardrail box — that is what makes this clinically deployable rather than a demo: protected content like dosages and referral codes can never be touched by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close. Every referral gets a crypto-secure CB reference code, an urgency tier, and an SBAR handover note. Walk the lifecycle across the top — and stress that arrival and treatment are separate outcomes, and the failure states (did not attend, declined, died) are recorded honestly, not hidden. The 48-hour auto-escalation is the detail that gets nods from health judges: an urgent referral with no confirmed arrival becomes a “trace now” chase item in the worker's day plan — automatically. Barrier intelligence means a family that failed once over transport cost is never re-referred blind. Say the quote on the banner verbatim, pause, then make the ask: a pilot cohort, the recalibration pipeline through Kintampo or Navrongo, and funding to extend recorded speech into Mampruli and Kusaal. Thank the room and stop talking.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34440"/>
            <a:ext cx="10332720" cy="2926080"/>
          </a:xfrm>
          <a:prstGeom prst="rect">
            <a:avLst/>
          </a:prstGeom>
          <a:noFill/>
        </p:spPr>
        <p:txBody>
          <a:bodyPr wrap="square">
            <a:spAutoFit/>
          </a:bodyPr>
          <a:lstStyle/>
          <a:p>
            <a:pPr algn="l">
              <a:spcAft>
                <a:spcPts val="1000"/>
              </a:spcAft>
            </a:pPr>
            <a:r>
              <a:rPr sz="1500" b="1">
                <a:solidFill>
                  <a:srgbClr val="B8862E"/>
                </a:solidFill>
                <a:latin typeface="Segoe UI"/>
              </a:rPr>
              <a:t>CAREBRIDGE AI</a:t>
            </a:r>
          </a:p>
          <a:p>
            <a:pPr algn="l">
              <a:spcAft>
                <a:spcPts val="1400"/>
              </a:spcAft>
            </a:pPr>
            <a:r>
              <a:rPr sz="4400" b="1">
                <a:solidFill>
                  <a:srgbClr val="FFFFFF"/>
                </a:solidFill>
                <a:latin typeface="Segoe UI"/>
              </a:rPr>
              <a:t>The clinic that works
when the network doesn't.</a:t>
            </a:r>
          </a:p>
          <a:p>
            <a:pPr algn="l">
              <a:spcAft>
                <a:spcPts val="0"/>
              </a:spcAft>
            </a:pPr>
            <a:r>
              <a:rPr sz="1700" b="0">
                <a:solidFill>
                  <a:srgbClr val="C9D6F2"/>
                </a:solidFill>
                <a:latin typeface="Segoe UI"/>
              </a:rPr>
              <a:t>Offline-first clinical decision support for Ghana's last-mile health system —
WHO-guideline triage, on-device AI, and closed-loop referrals, in the family's own language.</a:t>
            </a:r>
          </a:p>
        </p:txBody>
      </p:sp>
      <p:sp>
        <p:nvSpPr>
          <p:cNvPr id="5" name="Rectangle 4"/>
          <p:cNvSpPr/>
          <p:nvPr/>
        </p:nvSpPr>
        <p:spPr>
          <a:xfrm>
            <a:off x="914400" y="4480560"/>
            <a:ext cx="2487168" cy="1417320"/>
          </a:xfrm>
          <a:prstGeom prst="rect">
            <a:avLst/>
          </a:prstGeom>
          <a:solidFill>
            <a:srgbClr val="132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 y="4617720"/>
            <a:ext cx="2194560" cy="1188720"/>
          </a:xfrm>
          <a:prstGeom prst="rect">
            <a:avLst/>
          </a:prstGeom>
          <a:noFill/>
        </p:spPr>
        <p:txBody>
          <a:bodyPr wrap="square">
            <a:spAutoFit/>
          </a:bodyPr>
          <a:lstStyle/>
          <a:p>
            <a:pPr algn="l">
              <a:spcAft>
                <a:spcPts val="200"/>
              </a:spcAft>
            </a:pPr>
            <a:r>
              <a:rPr sz="3400" b="1">
                <a:solidFill>
                  <a:srgbClr val="B8862E"/>
                </a:solidFill>
                <a:latin typeface="Segoe UI"/>
              </a:rPr>
              <a:t>4</a:t>
            </a:r>
          </a:p>
          <a:p>
            <a:pPr algn="l">
              <a:spcAft>
                <a:spcPts val="0"/>
              </a:spcAft>
            </a:pPr>
            <a:r>
              <a:rPr sz="1100" b="0">
                <a:solidFill>
                  <a:srgbClr val="C9D6F2"/>
                </a:solidFill>
                <a:latin typeface="Segoe UI"/>
              </a:rPr>
              <a:t>on-device AI risk models,
zero connectivity needed</a:t>
            </a:r>
          </a:p>
        </p:txBody>
      </p:sp>
      <p:sp>
        <p:nvSpPr>
          <p:cNvPr id="7" name="Rectangle 6"/>
          <p:cNvSpPr/>
          <p:nvPr/>
        </p:nvSpPr>
        <p:spPr>
          <a:xfrm>
            <a:off x="3584448" y="4480560"/>
            <a:ext cx="2487168" cy="1417320"/>
          </a:xfrm>
          <a:prstGeom prst="rect">
            <a:avLst/>
          </a:prstGeom>
          <a:solidFill>
            <a:srgbClr val="132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40" y="4617720"/>
            <a:ext cx="2194560" cy="1188720"/>
          </a:xfrm>
          <a:prstGeom prst="rect">
            <a:avLst/>
          </a:prstGeom>
          <a:noFill/>
        </p:spPr>
        <p:txBody>
          <a:bodyPr wrap="square">
            <a:spAutoFit/>
          </a:bodyPr>
          <a:lstStyle/>
          <a:p>
            <a:pPr algn="l">
              <a:spcAft>
                <a:spcPts val="200"/>
              </a:spcAft>
            </a:pPr>
            <a:r>
              <a:rPr sz="3400" b="1">
                <a:solidFill>
                  <a:srgbClr val="B8862E"/>
                </a:solidFill>
                <a:latin typeface="Segoe UI"/>
              </a:rPr>
              <a:t>0.90</a:t>
            </a:r>
          </a:p>
          <a:p>
            <a:pPr algn="l">
              <a:spcAft>
                <a:spcPts val="0"/>
              </a:spcAft>
            </a:pPr>
            <a:r>
              <a:rPr sz="1100" b="0">
                <a:solidFill>
                  <a:srgbClr val="C9D6F2"/>
                </a:solidFill>
                <a:latin typeface="Segoe UI"/>
              </a:rPr>
              <a:t>cross-validated AUC — sepsis model
trained on real patient records</a:t>
            </a:r>
          </a:p>
        </p:txBody>
      </p:sp>
      <p:sp>
        <p:nvSpPr>
          <p:cNvPr id="9" name="Rectangle 8"/>
          <p:cNvSpPr/>
          <p:nvPr/>
        </p:nvSpPr>
        <p:spPr>
          <a:xfrm>
            <a:off x="6254496" y="4480560"/>
            <a:ext cx="2487168" cy="1417320"/>
          </a:xfrm>
          <a:prstGeom prst="rect">
            <a:avLst/>
          </a:prstGeom>
          <a:solidFill>
            <a:srgbClr val="132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4617720"/>
            <a:ext cx="2194560" cy="1188720"/>
          </a:xfrm>
          <a:prstGeom prst="rect">
            <a:avLst/>
          </a:prstGeom>
          <a:noFill/>
        </p:spPr>
        <p:txBody>
          <a:bodyPr wrap="square">
            <a:spAutoFit/>
          </a:bodyPr>
          <a:lstStyle/>
          <a:p>
            <a:pPr algn="l">
              <a:spcAft>
                <a:spcPts val="200"/>
              </a:spcAft>
            </a:pPr>
            <a:r>
              <a:rPr sz="3400" b="1">
                <a:solidFill>
                  <a:srgbClr val="B8862E"/>
                </a:solidFill>
                <a:latin typeface="Segoe UI"/>
              </a:rPr>
              <a:t>18</a:t>
            </a:r>
          </a:p>
          <a:p>
            <a:pPr algn="l">
              <a:spcAft>
                <a:spcPts val="0"/>
              </a:spcAft>
            </a:pPr>
            <a:r>
              <a:rPr sz="1100" b="0">
                <a:solidFill>
                  <a:srgbClr val="C9D6F2"/>
                </a:solidFill>
                <a:latin typeface="Segoe UI"/>
              </a:rPr>
              <a:t>table encrypted local DB —
the full clinic runs offline</a:t>
            </a:r>
          </a:p>
        </p:txBody>
      </p:sp>
      <p:sp>
        <p:nvSpPr>
          <p:cNvPr id="11" name="Rectangle 10"/>
          <p:cNvSpPr/>
          <p:nvPr/>
        </p:nvSpPr>
        <p:spPr>
          <a:xfrm>
            <a:off x="8924544" y="4480560"/>
            <a:ext cx="2487168" cy="1417320"/>
          </a:xfrm>
          <a:prstGeom prst="rect">
            <a:avLst/>
          </a:prstGeom>
          <a:solidFill>
            <a:srgbClr val="132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4617720"/>
            <a:ext cx="2194560" cy="1188720"/>
          </a:xfrm>
          <a:prstGeom prst="rect">
            <a:avLst/>
          </a:prstGeom>
          <a:noFill/>
        </p:spPr>
        <p:txBody>
          <a:bodyPr wrap="square">
            <a:spAutoFit/>
          </a:bodyPr>
          <a:lstStyle/>
          <a:p>
            <a:pPr algn="l">
              <a:spcAft>
                <a:spcPts val="200"/>
              </a:spcAft>
            </a:pPr>
            <a:r>
              <a:rPr sz="3400" b="1">
                <a:solidFill>
                  <a:srgbClr val="B8862E"/>
                </a:solidFill>
                <a:latin typeface="Segoe UI"/>
              </a:rPr>
              <a:t>3</a:t>
            </a:r>
          </a:p>
          <a:p>
            <a:pPr algn="l">
              <a:spcAft>
                <a:spcPts val="0"/>
              </a:spcAft>
            </a:pPr>
            <a:r>
              <a:rPr sz="1100" b="0">
                <a:solidFill>
                  <a:srgbClr val="C9D6F2"/>
                </a:solidFill>
                <a:latin typeface="Segoe UI"/>
              </a:rPr>
              <a:t>layer offline language stack:
speech bank, neural MT, dictionary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1371600"/>
          </a:xfrm>
          <a:prstGeom prst="rect">
            <a:avLst/>
          </a:prstGeom>
          <a:noFill/>
        </p:spPr>
        <p:txBody>
          <a:bodyPr wrap="square">
            <a:spAutoFit/>
          </a:bodyPr>
          <a:lstStyle/>
          <a:p>
            <a:pPr algn="l">
              <a:spcAft>
                <a:spcPts val="400"/>
              </a:spcAft>
            </a:pPr>
            <a:r>
              <a:rPr sz="1300" b="1">
                <a:solidFill>
                  <a:srgbClr val="C0392B"/>
                </a:solidFill>
                <a:latin typeface="Segoe UI"/>
              </a:rPr>
              <a:t>THE PROBLEM</a:t>
            </a:r>
          </a:p>
          <a:p>
            <a:pPr algn="l">
              <a:spcAft>
                <a:spcPts val="0"/>
              </a:spcAft>
            </a:pPr>
            <a:r>
              <a:rPr sz="3000" b="1">
                <a:solidFill>
                  <a:srgbClr val="0B1F4B"/>
                </a:solidFill>
                <a:latin typeface="Segoe UI"/>
              </a:rPr>
              <a:t>Danger is local. Help often isn't.</a:t>
            </a:r>
          </a:p>
        </p:txBody>
      </p:sp>
      <p:sp>
        <p:nvSpPr>
          <p:cNvPr id="4" name="Rectangle 3"/>
          <p:cNvSpPr/>
          <p:nvPr/>
        </p:nvSpPr>
        <p:spPr>
          <a:xfrm>
            <a:off x="640080" y="1417320"/>
            <a:ext cx="1097280" cy="508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5577840" cy="4480560"/>
          </a:xfrm>
          <a:prstGeom prst="rect">
            <a:avLst/>
          </a:prstGeom>
          <a:noFill/>
        </p:spPr>
        <p:txBody>
          <a:bodyPr wrap="square">
            <a:spAutoFit/>
          </a:bodyPr>
          <a:lstStyle/>
          <a:p>
            <a:pPr algn="l">
              <a:spcAft>
                <a:spcPts val="1000"/>
              </a:spcAft>
            </a:pPr>
            <a:r>
              <a:rPr sz="1600" b="1">
                <a:solidFill>
                  <a:srgbClr val="0B1F4B"/>
                </a:solidFill>
                <a:latin typeface="Segoe UI"/>
              </a:rPr>
              <a:t>Four compounding gaps at the CHPS compound</a:t>
            </a:r>
          </a:p>
          <a:p>
            <a:pPr>
              <a:spcAft>
                <a:spcPts val="1200"/>
              </a:spcAft>
            </a:pPr>
            <a:r>
              <a:rPr sz="1400" b="1">
                <a:solidFill>
                  <a:srgbClr val="C0392B"/>
                </a:solidFill>
                <a:latin typeface="Segoe UI"/>
              </a:rPr>
              <a:t>▪ No connectivity</a:t>
            </a:r>
            <a:r>
              <a:rPr sz="1400" b="0">
                <a:solidFill>
                  <a:srgbClr val="141B2E"/>
                </a:solidFill>
                <a:latin typeface="Segoe UI"/>
              </a:rPr>
              <a:t>  —  many CHPS zones have no reliable network — cloud-dependent tools simply stop working</a:t>
            </a:r>
          </a:p>
          <a:p>
            <a:pPr>
              <a:spcAft>
                <a:spcPts val="1200"/>
              </a:spcAft>
            </a:pPr>
            <a:r>
              <a:rPr sz="1400" b="1">
                <a:solidFill>
                  <a:srgbClr val="C0392B"/>
                </a:solidFill>
                <a:latin typeface="Segoe UI"/>
              </a:rPr>
              <a:t>▪ Paper referrals vanish</a:t>
            </a:r>
            <a:r>
              <a:rPr sz="1400" b="0">
                <a:solidFill>
                  <a:srgbClr val="141B2E"/>
                </a:solidFill>
                <a:latin typeface="Segoe UI"/>
              </a:rPr>
              <a:t>  —  a slip tells nobody whether the family travelled, arrived, or was ever treated</a:t>
            </a:r>
          </a:p>
          <a:p>
            <a:pPr>
              <a:spcAft>
                <a:spcPts val="1200"/>
              </a:spcAft>
            </a:pPr>
            <a:r>
              <a:rPr sz="1400" b="1">
                <a:solidFill>
                  <a:srgbClr val="C0392B"/>
                </a:solidFill>
                <a:latin typeface="Segoe UI"/>
              </a:rPr>
              <a:t>▪ Guideline overload</a:t>
            </a:r>
            <a:r>
              <a:rPr sz="1400" b="0">
                <a:solidFill>
                  <a:srgbClr val="141B2E"/>
                </a:solidFill>
                <a:latin typeface="Segoe UI"/>
              </a:rPr>
              <a:t>  —  IMCI danger signs, ANC schedules, EPI catch-up, WHO growth standards — too much to hold in memory under pressure</a:t>
            </a:r>
          </a:p>
          <a:p>
            <a:pPr>
              <a:spcAft>
                <a:spcPts val="1200"/>
              </a:spcAft>
            </a:pPr>
            <a:r>
              <a:rPr sz="1400" b="1">
                <a:solidFill>
                  <a:srgbClr val="C0392B"/>
                </a:solidFill>
                <a:latin typeface="Segoe UI"/>
              </a:rPr>
              <a:t>▪ Language &amp; literacy</a:t>
            </a:r>
            <a:r>
              <a:rPr sz="1400" b="0">
                <a:solidFill>
                  <a:srgbClr val="141B2E"/>
                </a:solidFill>
                <a:latin typeface="Segoe UI"/>
              </a:rPr>
              <a:t>  —  English clinical advice never reaches many caregivers; counselling is lost</a:t>
            </a:r>
          </a:p>
        </p:txBody>
      </p:sp>
      <p:sp>
        <p:nvSpPr>
          <p:cNvPr id="6" name="TextBox 5"/>
          <p:cNvSpPr txBox="1"/>
          <p:nvPr/>
        </p:nvSpPr>
        <p:spPr>
          <a:xfrm>
            <a:off x="6492240" y="1691640"/>
            <a:ext cx="5074920" cy="4480560"/>
          </a:xfrm>
          <a:prstGeom prst="rect">
            <a:avLst/>
          </a:prstGeom>
          <a:noFill/>
        </p:spPr>
        <p:txBody>
          <a:bodyPr wrap="square">
            <a:spAutoFit/>
          </a:bodyPr>
          <a:lstStyle/>
          <a:p>
            <a:pPr algn="l">
              <a:spcAft>
                <a:spcPts val="1000"/>
              </a:spcAft>
            </a:pPr>
            <a:r>
              <a:rPr sz="1600" b="1">
                <a:solidFill>
                  <a:srgbClr val="0B1F4B"/>
                </a:solidFill>
                <a:latin typeface="Segoe UI"/>
              </a:rPr>
              <a:t>Built for three users</a:t>
            </a:r>
          </a:p>
          <a:p>
            <a:pPr>
              <a:spcAft>
                <a:spcPts val="1200"/>
              </a:spcAft>
            </a:pPr>
            <a:r>
              <a:rPr sz="1400" b="1">
                <a:solidFill>
                  <a:srgbClr val="1B56DB"/>
                </a:solidFill>
                <a:latin typeface="Segoe UI"/>
              </a:rPr>
              <a:t>Frontline Health Workers (CHOs, midwives)</a:t>
            </a:r>
          </a:p>
          <a:p>
            <a:pPr>
              <a:spcAft>
                <a:spcPts val="1200"/>
              </a:spcAft>
            </a:pPr>
            <a:r>
              <a:rPr sz="1250">
                <a:solidFill>
                  <a:srgbClr val="5A6478"/>
                </a:solidFill>
                <a:latin typeface="Segoe UI"/>
              </a:rPr>
              <a:t>the primary user — full offline clinic: day plan, roll call, AI-assisted triage, referral desk</a:t>
            </a:r>
          </a:p>
          <a:p>
            <a:pPr>
              <a:spcAft>
                <a:spcPts val="1200"/>
              </a:spcAft>
            </a:pPr>
            <a:r>
              <a:rPr sz="1400" b="1">
                <a:solidFill>
                  <a:srgbClr val="1B56DB"/>
                </a:solidFill>
                <a:latin typeface="Segoe UI"/>
              </a:rPr>
              <a:t>Caregivers (mothers, fathers, kinship carers)</a:t>
            </a:r>
          </a:p>
          <a:p>
            <a:pPr>
              <a:spcAft>
                <a:spcPts val="1200"/>
              </a:spcAft>
            </a:pPr>
            <a:r>
              <a:rPr sz="1250">
                <a:solidFill>
                  <a:srgbClr val="5A6478"/>
                </a:solidFill>
                <a:latin typeface="Segoe UI"/>
              </a:rPr>
              <a:t>linked to one household by family code — danger-sign home checks and voice playback in their language</a:t>
            </a:r>
          </a:p>
          <a:p>
            <a:pPr>
              <a:spcAft>
                <a:spcPts val="1200"/>
              </a:spcAft>
            </a:pPr>
            <a:r>
              <a:rPr sz="1400" b="1">
                <a:solidFill>
                  <a:srgbClr val="1B56DB"/>
                </a:solidFill>
                <a:latin typeface="Segoe UI"/>
              </a:rPr>
              <a:t>Ghana Health Service</a:t>
            </a:r>
          </a:p>
          <a:p>
            <a:pPr>
              <a:spcAft>
                <a:spcPts val="1200"/>
              </a:spcAft>
            </a:pPr>
            <a:r>
              <a:rPr sz="1250">
                <a:solidFill>
                  <a:srgbClr val="5A6478"/>
                </a:solidFill>
                <a:latin typeface="Segoe UI"/>
              </a:rPr>
              <a:t>de-identified recalibration exports, auditable sync log, reporting with no PHI</a:t>
            </a:r>
          </a:p>
        </p:txBody>
      </p:sp>
      <p:sp>
        <p:nvSpPr>
          <p:cNvPr id="7" name="TextBox 6"/>
          <p:cNvSpPr txBox="1"/>
          <p:nvPr/>
        </p:nvSpPr>
        <p:spPr>
          <a:xfrm>
            <a:off x="640080" y="5806440"/>
            <a:ext cx="10881360" cy="548640"/>
          </a:xfrm>
          <a:prstGeom prst="rect">
            <a:avLst/>
          </a:prstGeom>
          <a:noFill/>
        </p:spPr>
        <p:txBody>
          <a:bodyPr wrap="square">
            <a:spAutoFit/>
          </a:bodyPr>
          <a:lstStyle/>
          <a:p>
            <a:pPr algn="l">
              <a:spcAft>
                <a:spcPts val="600"/>
              </a:spcAft>
            </a:pPr>
            <a:r>
              <a:rPr sz="1250" b="1">
                <a:solidFill>
                  <a:srgbClr val="141B2E"/>
                </a:solidFill>
                <a:latin typeface="Segoe UI"/>
              </a:rPr>
              <a:t>Two products behind one login — a caregiver can never reach clinical screens; a worker can never see a family outside their scope.</a:t>
            </a:r>
          </a:p>
        </p:txBody>
      </p:sp>
      <p:sp>
        <p:nvSpPr>
          <p:cNvPr id="8" name="TextBox 7"/>
          <p:cNvSpPr txBox="1"/>
          <p:nvPr/>
        </p:nvSpPr>
        <p:spPr>
          <a:xfrm>
            <a:off x="640080" y="6446520"/>
            <a:ext cx="10881360" cy="320040"/>
          </a:xfrm>
          <a:prstGeom prst="rect">
            <a:avLst/>
          </a:prstGeom>
          <a:noFill/>
        </p:spPr>
        <p:txBody>
          <a:bodyPr wrap="square">
            <a:spAutoFit/>
          </a:bodyPr>
          <a:lstStyle/>
          <a:p>
            <a:r>
              <a:rPr sz="1000" b="1">
                <a:solidFill>
                  <a:srgbClr val="0B1F4B"/>
                </a:solidFill>
                <a:latin typeface="Segoe UI"/>
              </a:rPr>
              <a:t>CareBridge AI</a:t>
            </a:r>
            <a:r>
              <a:rPr sz="1000">
                <a:solidFill>
                  <a:srgbClr val="5A6478"/>
                </a:solidFill>
                <a:latin typeface="Segoe UI"/>
              </a:rPr>
              <a:t>   ·   Offline-first CDSS for Ghana's CHPS   ·   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1371600"/>
          </a:xfrm>
          <a:prstGeom prst="rect">
            <a:avLst/>
          </a:prstGeom>
          <a:noFill/>
        </p:spPr>
        <p:txBody>
          <a:bodyPr wrap="square">
            <a:spAutoFit/>
          </a:bodyPr>
          <a:lstStyle/>
          <a:p>
            <a:pPr algn="l">
              <a:spcAft>
                <a:spcPts val="400"/>
              </a:spcAft>
            </a:pPr>
            <a:r>
              <a:rPr sz="1300" b="1">
                <a:solidFill>
                  <a:srgbClr val="1B56DB"/>
                </a:solidFill>
                <a:latin typeface="Segoe UI"/>
              </a:rPr>
              <a:t>HOW THE SYSTEM WORKS</a:t>
            </a:r>
          </a:p>
          <a:p>
            <a:pPr algn="l">
              <a:spcAft>
                <a:spcPts val="0"/>
              </a:spcAft>
            </a:pPr>
            <a:r>
              <a:rPr sz="3000" b="1">
                <a:solidFill>
                  <a:srgbClr val="0B1F4B"/>
                </a:solidFill>
                <a:latin typeface="Segoe UI"/>
              </a:rPr>
              <a:t>One clinic day. Zero signal required.</a:t>
            </a:r>
          </a:p>
        </p:txBody>
      </p:sp>
      <p:sp>
        <p:nvSpPr>
          <p:cNvPr id="4" name="Rectangle 3"/>
          <p:cNvSpPr/>
          <p:nvPr/>
        </p:nvSpPr>
        <p:spPr>
          <a:xfrm>
            <a:off x="640080" y="1417320"/>
            <a:ext cx="1097280" cy="50800"/>
          </a:xfrm>
          <a:prstGeom prst="rect">
            <a:avLst/>
          </a:prstGeom>
          <a:solidFill>
            <a:srgbClr val="1B5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83080"/>
            <a:ext cx="5486400" cy="104241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92808"/>
            <a:ext cx="5120640" cy="868680"/>
          </a:xfrm>
          <a:prstGeom prst="rect">
            <a:avLst/>
          </a:prstGeom>
          <a:noFill/>
        </p:spPr>
        <p:txBody>
          <a:bodyPr wrap="square">
            <a:spAutoFit/>
          </a:bodyPr>
          <a:lstStyle/>
          <a:p>
            <a:pPr algn="l">
              <a:spcAft>
                <a:spcPts val="200"/>
              </a:spcAft>
            </a:pPr>
            <a:r>
              <a:rPr sz="1500" b="1">
                <a:solidFill>
                  <a:srgbClr val="1B56DB"/>
                </a:solidFill>
                <a:latin typeface="Segoe UI"/>
              </a:rPr>
              <a:t>1 · Today</a:t>
            </a:r>
          </a:p>
          <a:p>
            <a:pPr algn="l">
              <a:spcAft>
                <a:spcPts val="0"/>
              </a:spcAft>
            </a:pPr>
            <a:r>
              <a:rPr sz="1150" b="0">
                <a:solidFill>
                  <a:srgbClr val="141B2E"/>
                </a:solidFill>
                <a:latin typeface="Segoe UI"/>
              </a:rPr>
              <a:t>honest status line — “Working offline · 3 changes waiting to send” — live queue, urgent referrals</a:t>
            </a:r>
          </a:p>
        </p:txBody>
      </p:sp>
      <p:sp>
        <p:nvSpPr>
          <p:cNvPr id="7" name="Rectangle 6"/>
          <p:cNvSpPr/>
          <p:nvPr/>
        </p:nvSpPr>
        <p:spPr>
          <a:xfrm>
            <a:off x="6355080" y="1783080"/>
            <a:ext cx="5486400" cy="104241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892808"/>
            <a:ext cx="5120640" cy="868680"/>
          </a:xfrm>
          <a:prstGeom prst="rect">
            <a:avLst/>
          </a:prstGeom>
          <a:noFill/>
        </p:spPr>
        <p:txBody>
          <a:bodyPr wrap="square">
            <a:spAutoFit/>
          </a:bodyPr>
          <a:lstStyle/>
          <a:p>
            <a:pPr algn="l">
              <a:spcAft>
                <a:spcPts val="200"/>
              </a:spcAft>
            </a:pPr>
            <a:r>
              <a:rPr sz="1500" b="1">
                <a:solidFill>
                  <a:srgbClr val="1B56DB"/>
                </a:solidFill>
                <a:latin typeface="Segoe UI"/>
              </a:rPr>
              <a:t>2 · Receive</a:t>
            </a:r>
          </a:p>
          <a:p>
            <a:pPr algn="l">
              <a:spcAft>
                <a:spcPts val="0"/>
              </a:spcAft>
            </a:pPr>
            <a:r>
              <a:rPr sz="1150" b="0">
                <a:solidFill>
                  <a:srgbClr val="141B2E"/>
                </a:solidFill>
                <a:latin typeface="Segoe UI"/>
              </a:rPr>
              <a:t>WHO ETAT “look before you log”: 3 observations route a sick child to the 60-second emergency tunnel</a:t>
            </a:r>
          </a:p>
        </p:txBody>
      </p:sp>
      <p:sp>
        <p:nvSpPr>
          <p:cNvPr id="9" name="Rectangle 8"/>
          <p:cNvSpPr/>
          <p:nvPr/>
        </p:nvSpPr>
        <p:spPr>
          <a:xfrm>
            <a:off x="640080" y="2990088"/>
            <a:ext cx="5486400" cy="104241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099816"/>
            <a:ext cx="5120640" cy="868680"/>
          </a:xfrm>
          <a:prstGeom prst="rect">
            <a:avLst/>
          </a:prstGeom>
          <a:noFill/>
        </p:spPr>
        <p:txBody>
          <a:bodyPr wrap="square">
            <a:spAutoFit/>
          </a:bodyPr>
          <a:lstStyle/>
          <a:p>
            <a:pPr algn="l">
              <a:spcAft>
                <a:spcPts val="200"/>
              </a:spcAft>
            </a:pPr>
            <a:r>
              <a:rPr sz="1500" b="1">
                <a:solidFill>
                  <a:srgbClr val="1B56DB"/>
                </a:solidFill>
                <a:latin typeface="Segoe UI"/>
              </a:rPr>
              <a:t>3 · Roll call</a:t>
            </a:r>
          </a:p>
          <a:p>
            <a:pPr algn="l">
              <a:spcAft>
                <a:spcPts val="0"/>
              </a:spcAft>
            </a:pPr>
            <a:r>
              <a:rPr sz="1150" b="0">
                <a:solidFill>
                  <a:srgbClr val="141B2E"/>
                </a:solidFill>
                <a:latin typeface="Segoe UI"/>
              </a:rPr>
              <a:t>“Who is here?” — absence is recorded, not skipped; sessions resume if interrupted</a:t>
            </a:r>
          </a:p>
        </p:txBody>
      </p:sp>
      <p:sp>
        <p:nvSpPr>
          <p:cNvPr id="11" name="Rectangle 10"/>
          <p:cNvSpPr/>
          <p:nvPr/>
        </p:nvSpPr>
        <p:spPr>
          <a:xfrm>
            <a:off x="6355080" y="2990088"/>
            <a:ext cx="5486400" cy="104241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3099816"/>
            <a:ext cx="5120640" cy="868680"/>
          </a:xfrm>
          <a:prstGeom prst="rect">
            <a:avLst/>
          </a:prstGeom>
          <a:noFill/>
        </p:spPr>
        <p:txBody>
          <a:bodyPr wrap="square">
            <a:spAutoFit/>
          </a:bodyPr>
          <a:lstStyle/>
          <a:p>
            <a:pPr algn="l">
              <a:spcAft>
                <a:spcPts val="200"/>
              </a:spcAft>
            </a:pPr>
            <a:r>
              <a:rPr sz="1500" b="1">
                <a:solidFill>
                  <a:srgbClr val="1B56DB"/>
                </a:solidFill>
                <a:latin typeface="Segoe UI"/>
              </a:rPr>
              <a:t>4 · Assess</a:t>
            </a:r>
          </a:p>
          <a:p>
            <a:pPr algn="l">
              <a:spcAft>
                <a:spcPts val="0"/>
              </a:spcAft>
            </a:pPr>
            <a:r>
              <a:rPr sz="1150" b="0">
                <a:solidFill>
                  <a:srgbClr val="141B2E"/>
                </a:solidFill>
                <a:latin typeface="Segoe UI"/>
              </a:rPr>
              <a:t>age-branched forms, WHO IMCI + GHS protocols, real 60-second respiratory-rate timer</a:t>
            </a:r>
          </a:p>
        </p:txBody>
      </p:sp>
      <p:sp>
        <p:nvSpPr>
          <p:cNvPr id="13" name="Rectangle 12"/>
          <p:cNvSpPr/>
          <p:nvPr/>
        </p:nvSpPr>
        <p:spPr>
          <a:xfrm>
            <a:off x="640080" y="4197096"/>
            <a:ext cx="5486400" cy="104241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306824"/>
            <a:ext cx="5120640" cy="868680"/>
          </a:xfrm>
          <a:prstGeom prst="rect">
            <a:avLst/>
          </a:prstGeom>
          <a:noFill/>
        </p:spPr>
        <p:txBody>
          <a:bodyPr wrap="square">
            <a:spAutoFit/>
          </a:bodyPr>
          <a:lstStyle/>
          <a:p>
            <a:pPr algn="l">
              <a:spcAft>
                <a:spcPts val="200"/>
              </a:spcAft>
            </a:pPr>
            <a:r>
              <a:rPr sz="1500" b="1">
                <a:solidFill>
                  <a:srgbClr val="1B56DB"/>
                </a:solidFill>
                <a:latin typeface="Segoe UI"/>
              </a:rPr>
              <a:t>5 · Verdict</a:t>
            </a:r>
          </a:p>
          <a:p>
            <a:pPr algn="l">
              <a:spcAft>
                <a:spcPts val="0"/>
              </a:spcAft>
            </a:pPr>
            <a:r>
              <a:rPr sz="1150" b="0">
                <a:solidFill>
                  <a:srgbClr val="141B2E"/>
                </a:solidFill>
                <a:latin typeface="Segoe UI"/>
              </a:rPr>
              <a:t>triage colour hero, AI risk insight (suppressed on drift), stabilisation steps, referral code</a:t>
            </a:r>
          </a:p>
        </p:txBody>
      </p:sp>
      <p:sp>
        <p:nvSpPr>
          <p:cNvPr id="15" name="Rectangle 14"/>
          <p:cNvSpPr/>
          <p:nvPr/>
        </p:nvSpPr>
        <p:spPr>
          <a:xfrm>
            <a:off x="6355080" y="4197096"/>
            <a:ext cx="5486400" cy="1042415"/>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306824"/>
            <a:ext cx="5120640" cy="868680"/>
          </a:xfrm>
          <a:prstGeom prst="rect">
            <a:avLst/>
          </a:prstGeom>
          <a:noFill/>
        </p:spPr>
        <p:txBody>
          <a:bodyPr wrap="square">
            <a:spAutoFit/>
          </a:bodyPr>
          <a:lstStyle/>
          <a:p>
            <a:pPr algn="l">
              <a:spcAft>
                <a:spcPts val="200"/>
              </a:spcAft>
            </a:pPr>
            <a:r>
              <a:rPr sz="1500" b="1">
                <a:solidFill>
                  <a:srgbClr val="1B56DB"/>
                </a:solidFill>
                <a:latin typeface="Segoe UI"/>
              </a:rPr>
              <a:t>6 · Follow up</a:t>
            </a:r>
          </a:p>
          <a:p>
            <a:pPr algn="l">
              <a:spcAft>
                <a:spcPts val="0"/>
              </a:spcAft>
            </a:pPr>
            <a:r>
              <a:rPr sz="1150" b="0">
                <a:solidFill>
                  <a:srgbClr val="141B2E"/>
                </a:solidFill>
                <a:latin typeface="Segoe UI"/>
              </a:rPr>
              <a:t>day plan of overdue/due reviews; referral desk tracks arrival vs treatment separately</a:t>
            </a:r>
          </a:p>
        </p:txBody>
      </p:sp>
      <p:sp>
        <p:nvSpPr>
          <p:cNvPr id="17" name="TextBox 16"/>
          <p:cNvSpPr txBox="1"/>
          <p:nvPr/>
        </p:nvSpPr>
        <p:spPr>
          <a:xfrm>
            <a:off x="640080" y="5486400"/>
            <a:ext cx="10881360" cy="822960"/>
          </a:xfrm>
          <a:prstGeom prst="rect">
            <a:avLst/>
          </a:prstGeom>
          <a:noFill/>
        </p:spPr>
        <p:txBody>
          <a:bodyPr wrap="square">
            <a:spAutoFit/>
          </a:bodyPr>
          <a:lstStyle/>
          <a:p>
            <a:pPr algn="l">
              <a:spcAft>
                <a:spcPts val="600"/>
              </a:spcAft>
            </a:pPr>
            <a:r>
              <a:rPr sz="1250" b="0">
                <a:solidFill>
                  <a:srgbClr val="5A6478"/>
                </a:solidFill>
                <a:latin typeface="Segoe UI"/>
              </a:rPr>
              <a:t>Under the hood: atomic outbox — every clinical write enqueues its sync intent in the same database transaction. Critical referrals sync first (priority 0 of 4 tiers); exponential backoff 1→120 min; idempotent upserts to MariaDB; a strict 16-table server whitelist closes the injection surface.</a:t>
            </a:r>
          </a:p>
        </p:txBody>
      </p:sp>
      <p:sp>
        <p:nvSpPr>
          <p:cNvPr id="18" name="TextBox 17"/>
          <p:cNvSpPr txBox="1"/>
          <p:nvPr/>
        </p:nvSpPr>
        <p:spPr>
          <a:xfrm>
            <a:off x="640080" y="6446520"/>
            <a:ext cx="10881360" cy="320040"/>
          </a:xfrm>
          <a:prstGeom prst="rect">
            <a:avLst/>
          </a:prstGeom>
          <a:noFill/>
        </p:spPr>
        <p:txBody>
          <a:bodyPr wrap="square">
            <a:spAutoFit/>
          </a:bodyPr>
          <a:lstStyle/>
          <a:p>
            <a:r>
              <a:rPr sz="1000" b="1">
                <a:solidFill>
                  <a:srgbClr val="0B1F4B"/>
                </a:solidFill>
                <a:latin typeface="Segoe UI"/>
              </a:rPr>
              <a:t>CareBridge AI</a:t>
            </a:r>
            <a:r>
              <a:rPr sz="1000">
                <a:solidFill>
                  <a:srgbClr val="5A6478"/>
                </a:solidFill>
                <a:latin typeface="Segoe UI"/>
              </a:rPr>
              <a:t>   ·   Offline-first CDSS for Ghana's CHPS   ·   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1371600"/>
          </a:xfrm>
          <a:prstGeom prst="rect">
            <a:avLst/>
          </a:prstGeom>
          <a:noFill/>
        </p:spPr>
        <p:txBody>
          <a:bodyPr wrap="square">
            <a:spAutoFit/>
          </a:bodyPr>
          <a:lstStyle/>
          <a:p>
            <a:pPr algn="l">
              <a:spcAft>
                <a:spcPts val="400"/>
              </a:spcAft>
            </a:pPr>
            <a:r>
              <a:rPr sz="1300" b="1">
                <a:solidFill>
                  <a:srgbClr val="B8862E"/>
                </a:solidFill>
                <a:latin typeface="Segoe UI"/>
              </a:rPr>
              <a:t>DATA PROTECTION &amp; COMPLIANCE</a:t>
            </a:r>
          </a:p>
          <a:p>
            <a:pPr algn="l">
              <a:spcAft>
                <a:spcPts val="0"/>
              </a:spcAft>
            </a:pPr>
            <a:r>
              <a:rPr sz="3000" b="1">
                <a:solidFill>
                  <a:srgbClr val="FFFFFF"/>
                </a:solidFill>
                <a:latin typeface="Segoe UI"/>
              </a:rPr>
              <a:t>Security that survives a hostile audit</a:t>
            </a:r>
          </a:p>
        </p:txBody>
      </p:sp>
      <p:sp>
        <p:nvSpPr>
          <p:cNvPr id="4" name="Rectangle 3"/>
          <p:cNvSpPr/>
          <p:nvPr/>
        </p:nvSpPr>
        <p:spPr>
          <a:xfrm>
            <a:off x="640080" y="1417320"/>
            <a:ext cx="1097280" cy="5080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828800"/>
            <a:ext cx="3611880" cy="4160520"/>
          </a:xfrm>
          <a:prstGeom prst="rect">
            <a:avLst/>
          </a:prstGeom>
          <a:solidFill>
            <a:srgbClr val="132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57400"/>
            <a:ext cx="3154680" cy="3749039"/>
          </a:xfrm>
          <a:prstGeom prst="rect">
            <a:avLst/>
          </a:prstGeom>
          <a:noFill/>
        </p:spPr>
        <p:txBody>
          <a:bodyPr wrap="square">
            <a:spAutoFit/>
          </a:bodyPr>
          <a:lstStyle/>
          <a:p>
            <a:pPr algn="l">
              <a:spcAft>
                <a:spcPts val="1000"/>
              </a:spcAft>
            </a:pPr>
            <a:r>
              <a:rPr sz="1600" b="1">
                <a:solidFill>
                  <a:srgbClr val="B8862E"/>
                </a:solidFill>
                <a:latin typeface="Segoe UI"/>
              </a:rPr>
              <a:t>Dual-hash, zero-knowledge PIN</a:t>
            </a:r>
          </a:p>
          <a:p>
            <a:pPr>
              <a:spcAft>
                <a:spcPts val="800"/>
              </a:spcAft>
            </a:pPr>
            <a:r>
              <a:rPr sz="1150">
                <a:solidFill>
                  <a:srgbClr val="C9D6F2"/>
                </a:solidFill>
                <a:latin typeface="Segoe UI"/>
              </a:rPr>
              <a:t>• Local PIN: HMAC-SHA256 ×20,000, device-only salt — never synced</a:t>
            </a:r>
          </a:p>
          <a:p>
            <a:pPr>
              <a:spcAft>
                <a:spcPts val="800"/>
              </a:spcAft>
            </a:pPr>
            <a:r>
              <a:rPr sz="1150">
                <a:solidFill>
                  <a:srgbClr val="C9D6F2"/>
                </a:solidFill>
                <a:latin typeface="Segoe UI"/>
              </a:rPr>
              <a:t>• Cloud verifier: +120,000 iterations, domain-separated, separate table</a:t>
            </a:r>
          </a:p>
          <a:p>
            <a:pPr>
              <a:spcAft>
                <a:spcPts val="800"/>
              </a:spcAft>
            </a:pPr>
            <a:r>
              <a:rPr sz="1150">
                <a:solidFill>
                  <a:srgbClr val="C9D6F2"/>
                </a:solidFill>
                <a:latin typeface="Segoe UI"/>
              </a:rPr>
              <a:t>• Challenge-response login — the PIN never crosses the wire</a:t>
            </a:r>
          </a:p>
          <a:p>
            <a:pPr>
              <a:spcAft>
                <a:spcPts val="800"/>
              </a:spcAft>
            </a:pPr>
            <a:r>
              <a:rPr sz="1150">
                <a:solidFill>
                  <a:srgbClr val="C9D6F2"/>
                </a:solidFill>
                <a:latin typeface="Segoe UI"/>
              </a:rPr>
              <a:t>• Full DB theft still yields no usable credential</a:t>
            </a:r>
          </a:p>
        </p:txBody>
      </p:sp>
      <p:sp>
        <p:nvSpPr>
          <p:cNvPr id="7" name="Rectangle 6"/>
          <p:cNvSpPr/>
          <p:nvPr/>
        </p:nvSpPr>
        <p:spPr>
          <a:xfrm>
            <a:off x="4434840" y="1828800"/>
            <a:ext cx="3611880" cy="4160520"/>
          </a:xfrm>
          <a:prstGeom prst="rect">
            <a:avLst/>
          </a:prstGeom>
          <a:solidFill>
            <a:srgbClr val="132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057400"/>
            <a:ext cx="3154680" cy="3749039"/>
          </a:xfrm>
          <a:prstGeom prst="rect">
            <a:avLst/>
          </a:prstGeom>
          <a:noFill/>
        </p:spPr>
        <p:txBody>
          <a:bodyPr wrap="square">
            <a:spAutoFit/>
          </a:bodyPr>
          <a:lstStyle/>
          <a:p>
            <a:pPr algn="l">
              <a:spcAft>
                <a:spcPts val="1000"/>
              </a:spcAft>
            </a:pPr>
            <a:r>
              <a:rPr sz="1600" b="1">
                <a:solidFill>
                  <a:srgbClr val="B8862E"/>
                </a:solidFill>
                <a:latin typeface="Segoe UI"/>
              </a:rPr>
              <a:t>RBAC at the data boundary</a:t>
            </a:r>
          </a:p>
          <a:p>
            <a:pPr>
              <a:spcAft>
                <a:spcPts val="800"/>
              </a:spcAft>
            </a:pPr>
            <a:r>
              <a:rPr sz="1150">
                <a:solidFill>
                  <a:srgbClr val="C9D6F2"/>
                </a:solidFill>
                <a:latin typeface="Segoe UI"/>
              </a:rPr>
              <a:t>• Three guards on every read/write: permission → household → person</a:t>
            </a:r>
          </a:p>
          <a:p>
            <a:pPr>
              <a:spcAft>
                <a:spcPts val="800"/>
              </a:spcAft>
            </a:pPr>
            <a:r>
              <a:rPr sz="1150">
                <a:solidFill>
                  <a:srgbClr val="C9D6F2"/>
                </a:solidFill>
                <a:latin typeface="Segoe UI"/>
              </a:rPr>
              <a:t>• Denials audit-logged, then AccessDenied is thrown</a:t>
            </a:r>
          </a:p>
          <a:p>
            <a:pPr>
              <a:spcAft>
                <a:spcPts val="800"/>
              </a:spcAft>
            </a:pPr>
            <a:r>
              <a:rPr sz="1150">
                <a:solidFill>
                  <a:srgbClr val="C9D6F2"/>
                </a:solidFill>
                <a:latin typeface="Segoe UI"/>
              </a:rPr>
              <a:t>• Caseload scoped by JWT claims — server ignores client scope params</a:t>
            </a:r>
          </a:p>
          <a:p>
            <a:pPr>
              <a:spcAft>
                <a:spcPts val="800"/>
              </a:spcAft>
            </a:pPr>
            <a:r>
              <a:rPr sz="1150">
                <a:solidFill>
                  <a:srgbClr val="C9D6F2"/>
                </a:solidFill>
                <a:latin typeface="Segoe UI"/>
              </a:rPr>
              <a:t>• Weak PINs (1111/1234/4321/0123) rejected at registration</a:t>
            </a:r>
          </a:p>
        </p:txBody>
      </p:sp>
      <p:sp>
        <p:nvSpPr>
          <p:cNvPr id="9" name="Rectangle 8"/>
          <p:cNvSpPr/>
          <p:nvPr/>
        </p:nvSpPr>
        <p:spPr>
          <a:xfrm>
            <a:off x="8229600" y="1828800"/>
            <a:ext cx="3611880" cy="4160520"/>
          </a:xfrm>
          <a:prstGeom prst="rect">
            <a:avLst/>
          </a:prstGeom>
          <a:solidFill>
            <a:srgbClr val="132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0" y="2057400"/>
            <a:ext cx="3154680" cy="3749039"/>
          </a:xfrm>
          <a:prstGeom prst="rect">
            <a:avLst/>
          </a:prstGeom>
          <a:noFill/>
        </p:spPr>
        <p:txBody>
          <a:bodyPr wrap="square">
            <a:spAutoFit/>
          </a:bodyPr>
          <a:lstStyle/>
          <a:p>
            <a:pPr algn="l">
              <a:spcAft>
                <a:spcPts val="1000"/>
              </a:spcAft>
            </a:pPr>
            <a:r>
              <a:rPr sz="1600" b="1">
                <a:solidFill>
                  <a:srgbClr val="B8862E"/>
                </a:solidFill>
                <a:latin typeface="Segoe UI"/>
              </a:rPr>
              <a:t>Compliance by construction</a:t>
            </a:r>
          </a:p>
          <a:p>
            <a:pPr>
              <a:spcAft>
                <a:spcPts val="800"/>
              </a:spcAft>
            </a:pPr>
            <a:r>
              <a:rPr sz="1150">
                <a:solidFill>
                  <a:srgbClr val="C9D6F2"/>
                </a:solidFill>
                <a:latin typeface="Segoe UI"/>
              </a:rPr>
              <a:t>• Recalibration exports: no names, phones, communities, exact dates</a:t>
            </a:r>
          </a:p>
          <a:p>
            <a:pPr>
              <a:spcAft>
                <a:spcPts val="800"/>
              </a:spcAft>
            </a:pPr>
            <a:r>
              <a:rPr sz="1150">
                <a:solidFill>
                  <a:srgbClr val="C9D6F2"/>
                </a:solidFill>
                <a:latin typeface="Segoe UI"/>
              </a:rPr>
              <a:t>• Age bands + month granularity; salted linkage key held by GHS</a:t>
            </a:r>
          </a:p>
          <a:p>
            <a:pPr>
              <a:spcAft>
                <a:spcPts val="800"/>
              </a:spcAft>
            </a:pPr>
            <a:r>
              <a:rPr sz="1150">
                <a:solidFill>
                  <a:srgbClr val="C9D6F2"/>
                </a:solidFill>
                <a:latin typeface="Segoe UI"/>
              </a:rPr>
              <a:t>• District officer signs every export (Kintampo / Navrongo pipeline)</a:t>
            </a:r>
          </a:p>
          <a:p>
            <a:pPr>
              <a:spcAft>
                <a:spcPts val="800"/>
              </a:spcAft>
            </a:pPr>
            <a:r>
              <a:rPr sz="1150">
                <a:solidFill>
                  <a:srgbClr val="C9D6F2"/>
                </a:solidFill>
                <a:latin typeface="Segoe UI"/>
              </a:rPr>
              <a:t>• Sync audit log carries zero PHI; SHA-256 blocks tampered models</a:t>
            </a:r>
          </a:p>
        </p:txBody>
      </p:sp>
      <p:sp>
        <p:nvSpPr>
          <p:cNvPr id="11" name="TextBox 10"/>
          <p:cNvSpPr txBox="1"/>
          <p:nvPr/>
        </p:nvSpPr>
        <p:spPr>
          <a:xfrm>
            <a:off x="640080" y="6172200"/>
            <a:ext cx="10881360" cy="457200"/>
          </a:xfrm>
          <a:prstGeom prst="rect">
            <a:avLst/>
          </a:prstGeom>
          <a:noFill/>
        </p:spPr>
        <p:txBody>
          <a:bodyPr wrap="square">
            <a:spAutoFit/>
          </a:bodyPr>
          <a:lstStyle/>
          <a:p>
            <a:pPr algn="l">
              <a:spcAft>
                <a:spcPts val="600"/>
              </a:spcAft>
            </a:pPr>
            <a:r>
              <a:rPr sz="1250" b="1">
                <a:solidFill>
                  <a:srgbClr val="FFFFFF"/>
                </a:solidFill>
                <a:latin typeface="Segoe UI"/>
              </a:rPr>
              <a:t>The privacy claim is architectural, not a policy PDF: the server never holds a reversible credential, and exports are de-identified by construction.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1371600"/>
          </a:xfrm>
          <a:prstGeom prst="rect">
            <a:avLst/>
          </a:prstGeom>
          <a:noFill/>
        </p:spPr>
        <p:txBody>
          <a:bodyPr wrap="square">
            <a:spAutoFit/>
          </a:bodyPr>
          <a:lstStyle/>
          <a:p>
            <a:pPr algn="l">
              <a:spcAft>
                <a:spcPts val="400"/>
              </a:spcAft>
            </a:pPr>
            <a:r>
              <a:rPr sz="1300" b="1">
                <a:solidFill>
                  <a:srgbClr val="1B56DB"/>
                </a:solidFill>
                <a:latin typeface="Segoe UI"/>
              </a:rPr>
              <a:t>THE AI &amp; RECOMMENDATION SYSTEM</a:t>
            </a:r>
          </a:p>
          <a:p>
            <a:pPr algn="l">
              <a:spcAft>
                <a:spcPts val="0"/>
              </a:spcAft>
            </a:pPr>
            <a:r>
              <a:rPr sz="3000" b="1">
                <a:solidFill>
                  <a:srgbClr val="0B1F4B"/>
                </a:solidFill>
                <a:latin typeface="Segoe UI"/>
              </a:rPr>
              <a:t>Honest AI. On-device. Accountable.</a:t>
            </a:r>
          </a:p>
        </p:txBody>
      </p:sp>
      <p:sp>
        <p:nvSpPr>
          <p:cNvPr id="4" name="Rectangle 3"/>
          <p:cNvSpPr/>
          <p:nvPr/>
        </p:nvSpPr>
        <p:spPr>
          <a:xfrm>
            <a:off x="640080" y="1417320"/>
            <a:ext cx="1097280" cy="50800"/>
          </a:xfrm>
          <a:prstGeom prst="rect">
            <a:avLst/>
          </a:prstGeom>
          <a:solidFill>
            <a:srgbClr val="1B5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91640"/>
          <a:ext cx="10881360" cy="2286000"/>
        </p:xfrm>
        <a:graphic>
          <a:graphicData uri="http://schemas.openxmlformats.org/drawingml/2006/table">
            <a:tbl>
              <a:tblPr firstRow="1" bandRow="1">
                <a:tableStyleId>{5C22544A-7EE6-4342-B048-85BDC9FD1C3A}</a:tableStyleId>
              </a:tblPr>
              <a:tblGrid>
                <a:gridCol w="2011680"/>
                <a:gridCol w="1554480"/>
                <a:gridCol w="4206240"/>
                <a:gridCol w="3108960"/>
              </a:tblGrid>
              <a:tr h="457200">
                <a:tc>
                  <a:txBody>
                    <a:bodyPr/>
                    <a:lstStyle/>
                    <a:p>
                      <a:r>
                        <a:rPr sz="1250" b="1">
                          <a:solidFill>
                            <a:srgbClr val="FFFFFF"/>
                          </a:solidFill>
                          <a:latin typeface="Segoe UI"/>
                        </a:rPr>
                        <a:t>Model</a:t>
                      </a:r>
                    </a:p>
                  </a:txBody>
                  <a:tcPr>
                    <a:solidFill>
                      <a:srgbClr val="0B1F4B"/>
                    </a:solidFill>
                  </a:tcPr>
                </a:tc>
                <a:tc>
                  <a:txBody>
                    <a:bodyPr/>
                    <a:lstStyle/>
                    <a:p>
                      <a:r>
                        <a:rPr sz="1250" b="1">
                          <a:solidFill>
                            <a:srgbClr val="FFFFFF"/>
                          </a:solidFill>
                          <a:latin typeface="Segoe UI"/>
                        </a:rPr>
                        <a:t>Population</a:t>
                      </a:r>
                    </a:p>
                  </a:txBody>
                  <a:tcPr>
                    <a:solidFill>
                      <a:srgbClr val="0B1F4B"/>
                    </a:solidFill>
                  </a:tcPr>
                </a:tc>
                <a:tc>
                  <a:txBody>
                    <a:bodyPr/>
                    <a:lstStyle/>
                    <a:p>
                      <a:r>
                        <a:rPr sz="1250" b="1">
                          <a:solidFill>
                            <a:srgbClr val="FFFFFF"/>
                          </a:solidFill>
                          <a:latin typeface="Segoe UI"/>
                        </a:rPr>
                        <a:t>Trained on</a:t>
                      </a:r>
                    </a:p>
                  </a:txBody>
                  <a:tcPr>
                    <a:solidFill>
                      <a:srgbClr val="0B1F4B"/>
                    </a:solidFill>
                  </a:tcPr>
                </a:tc>
                <a:tc>
                  <a:txBody>
                    <a:bodyPr/>
                    <a:lstStyle/>
                    <a:p>
                      <a:r>
                        <a:rPr sz="1250" b="1">
                          <a:solidFill>
                            <a:srgbClr val="FFFFFF"/>
                          </a:solidFill>
                          <a:latin typeface="Segoe UI"/>
                        </a:rPr>
                        <a:t>Evidence</a:t>
                      </a:r>
                    </a:p>
                  </a:txBody>
                  <a:tcPr>
                    <a:solidFill>
                      <a:srgbClr val="0B1F4B"/>
                    </a:solidFill>
                  </a:tcPr>
                </a:tc>
              </a:tr>
              <a:tr h="457200">
                <a:tc>
                  <a:txBody>
                    <a:bodyPr/>
                    <a:lstStyle/>
                    <a:p>
                      <a:r>
                        <a:rPr sz="1200" b="1">
                          <a:solidFill>
                            <a:srgbClr val="141B2E"/>
                          </a:solidFill>
                          <a:latin typeface="Segoe UI"/>
                        </a:rPr>
                        <a:t>Neonatal sepsis</a:t>
                      </a:r>
                    </a:p>
                  </a:txBody>
                  <a:tcPr>
                    <a:solidFill>
                      <a:srgbClr val="FFFFFF"/>
                    </a:solidFill>
                  </a:tcPr>
                </a:tc>
                <a:tc>
                  <a:txBody>
                    <a:bodyPr/>
                    <a:lstStyle/>
                    <a:p>
                      <a:r>
                        <a:rPr sz="1200" b="0">
                          <a:solidFill>
                            <a:srgbClr val="141B2E"/>
                          </a:solidFill>
                          <a:latin typeface="Segoe UI"/>
                        </a:rPr>
                        <a:t>0–59 days</a:t>
                      </a:r>
                    </a:p>
                  </a:txBody>
                  <a:tcPr>
                    <a:solidFill>
                      <a:srgbClr val="FFFFFF"/>
                    </a:solidFill>
                  </a:tcPr>
                </a:tc>
                <a:tc>
                  <a:txBody>
                    <a:bodyPr/>
                    <a:lstStyle/>
                    <a:p>
                      <a:r>
                        <a:rPr sz="1200" b="0">
                          <a:solidFill>
                            <a:srgbClr val="141B2E"/>
                          </a:solidFill>
                          <a:latin typeface="Segoe UI"/>
                        </a:rPr>
                        <a:t>REAL records — Mbarara RRH EMR (n=964)</a:t>
                      </a:r>
                    </a:p>
                  </a:txBody>
                  <a:tcPr>
                    <a:solidFill>
                      <a:srgbClr val="FFFFFF"/>
                    </a:solidFill>
                  </a:tcPr>
                </a:tc>
                <a:tc>
                  <a:txBody>
                    <a:bodyPr/>
                    <a:lstStyle/>
                    <a:p>
                      <a:r>
                        <a:rPr sz="1200" b="0">
                          <a:solidFill>
                            <a:srgbClr val="1E8E5A"/>
                          </a:solidFill>
                          <a:latin typeface="Segoe UI"/>
                        </a:rPr>
                        <a:t>CV AUC 0.90</a:t>
                      </a:r>
                    </a:p>
                  </a:txBody>
                  <a:tcPr>
                    <a:solidFill>
                      <a:srgbClr val="FFFFFF"/>
                    </a:solidFill>
                  </a:tcPr>
                </a:tc>
              </a:tr>
              <a:tr h="457200">
                <a:tc>
                  <a:txBody>
                    <a:bodyPr/>
                    <a:lstStyle/>
                    <a:p>
                      <a:r>
                        <a:rPr sz="1200" b="1">
                          <a:solidFill>
                            <a:srgbClr val="141B2E"/>
                          </a:solidFill>
                          <a:latin typeface="Segoe UI"/>
                        </a:rPr>
                        <a:t>Child pneumonia</a:t>
                      </a:r>
                    </a:p>
                  </a:txBody>
                  <a:tcPr>
                    <a:solidFill>
                      <a:srgbClr val="FFFFFF"/>
                    </a:solidFill>
                  </a:tcPr>
                </a:tc>
                <a:tc>
                  <a:txBody>
                    <a:bodyPr/>
                    <a:lstStyle/>
                    <a:p>
                      <a:r>
                        <a:rPr sz="1200" b="0">
                          <a:solidFill>
                            <a:srgbClr val="141B2E"/>
                          </a:solidFill>
                          <a:latin typeface="Segoe UI"/>
                        </a:rPr>
                        <a:t>2–59 months</a:t>
                      </a:r>
                    </a:p>
                  </a:txBody>
                  <a:tcPr>
                    <a:solidFill>
                      <a:srgbClr val="FFFFFF"/>
                    </a:solidFill>
                  </a:tcPr>
                </a:tc>
                <a:tc>
                  <a:txBody>
                    <a:bodyPr/>
                    <a:lstStyle/>
                    <a:p>
                      <a:r>
                        <a:rPr sz="1200" b="0">
                          <a:solidFill>
                            <a:srgbClr val="141B2E"/>
                          </a:solidFill>
                          <a:latin typeface="Segoe UI"/>
                        </a:rPr>
                        <a:t>Simulator seeded from WHO IMCI + Baiden 2011</a:t>
                      </a:r>
                    </a:p>
                  </a:txBody>
                  <a:tcPr>
                    <a:solidFill>
                      <a:srgbClr val="FFFFFF"/>
                    </a:solidFill>
                  </a:tcPr>
                </a:tc>
                <a:tc>
                  <a:txBody>
                    <a:bodyPr/>
                    <a:lstStyle/>
                    <a:p>
                      <a:r>
                        <a:rPr sz="1200" b="0">
                          <a:solidFill>
                            <a:srgbClr val="D97A16"/>
                          </a:solidFill>
                          <a:latin typeface="Segoe UI"/>
                        </a:rPr>
                        <a:t>Screening aid — ext. validation pending</a:t>
                      </a:r>
                    </a:p>
                  </a:txBody>
                  <a:tcPr>
                    <a:solidFill>
                      <a:srgbClr val="FFFFFF"/>
                    </a:solidFill>
                  </a:tcPr>
                </a:tc>
              </a:tr>
              <a:tr h="457200">
                <a:tc>
                  <a:txBody>
                    <a:bodyPr/>
                    <a:lstStyle/>
                    <a:p>
                      <a:r>
                        <a:rPr sz="1200" b="1">
                          <a:solidFill>
                            <a:srgbClr val="141B2E"/>
                          </a:solidFill>
                          <a:latin typeface="Segoe UI"/>
                        </a:rPr>
                        <a:t>Pre-eclampsia</a:t>
                      </a:r>
                    </a:p>
                  </a:txBody>
                  <a:tcPr>
                    <a:solidFill>
                      <a:srgbClr val="FFFFFF"/>
                    </a:solidFill>
                  </a:tcPr>
                </a:tc>
                <a:tc>
                  <a:txBody>
                    <a:bodyPr/>
                    <a:lstStyle/>
                    <a:p>
                      <a:r>
                        <a:rPr sz="1200" b="0">
                          <a:solidFill>
                            <a:srgbClr val="141B2E"/>
                          </a:solidFill>
                          <a:latin typeface="Segoe UI"/>
                        </a:rPr>
                        <a:t>ANC 20w+</a:t>
                      </a:r>
                    </a:p>
                  </a:txBody>
                  <a:tcPr>
                    <a:solidFill>
                      <a:srgbClr val="FFFFFF"/>
                    </a:solidFill>
                  </a:tcPr>
                </a:tc>
                <a:tc>
                  <a:txBody>
                    <a:bodyPr/>
                    <a:lstStyle/>
                    <a:p>
                      <a:r>
                        <a:rPr sz="1200" b="0">
                          <a:solidFill>
                            <a:srgbClr val="141B2E"/>
                          </a:solidFill>
                          <a:latin typeface="Segoe UI"/>
                        </a:rPr>
                        <a:t>Simulator seeded from published Ghana studies</a:t>
                      </a:r>
                    </a:p>
                  </a:txBody>
                  <a:tcPr>
                    <a:solidFill>
                      <a:srgbClr val="FFFFFF"/>
                    </a:solidFill>
                  </a:tcPr>
                </a:tc>
                <a:tc>
                  <a:txBody>
                    <a:bodyPr/>
                    <a:lstStyle/>
                    <a:p>
                      <a:r>
                        <a:rPr sz="1200" b="0">
                          <a:solidFill>
                            <a:srgbClr val="D97A16"/>
                          </a:solidFill>
                          <a:latin typeface="Segoe UI"/>
                        </a:rPr>
                        <a:t>External check AUC 0.74 (UCI cohort)</a:t>
                      </a:r>
                    </a:p>
                  </a:txBody>
                  <a:tcPr>
                    <a:solidFill>
                      <a:srgbClr val="FFFFFF"/>
                    </a:solidFill>
                  </a:tcPr>
                </a:tc>
              </a:tr>
              <a:tr h="457200">
                <a:tc>
                  <a:txBody>
                    <a:bodyPr/>
                    <a:lstStyle/>
                    <a:p>
                      <a:r>
                        <a:rPr sz="1200" b="1">
                          <a:solidFill>
                            <a:srgbClr val="141B2E"/>
                          </a:solidFill>
                          <a:latin typeface="Segoe UI"/>
                        </a:rPr>
                        <a:t>LBW / SGA</a:t>
                      </a:r>
                    </a:p>
                  </a:txBody>
                  <a:tcPr>
                    <a:solidFill>
                      <a:srgbClr val="FFFFFF"/>
                    </a:solidFill>
                  </a:tcPr>
                </a:tc>
                <a:tc>
                  <a:txBody>
                    <a:bodyPr/>
                    <a:lstStyle/>
                    <a:p>
                      <a:r>
                        <a:rPr sz="1200" b="0">
                          <a:solidFill>
                            <a:srgbClr val="141B2E"/>
                          </a:solidFill>
                          <a:latin typeface="Segoe UI"/>
                        </a:rPr>
                        <a:t>Newborns</a:t>
                      </a:r>
                    </a:p>
                  </a:txBody>
                  <a:tcPr>
                    <a:solidFill>
                      <a:srgbClr val="FFFFFF"/>
                    </a:solidFill>
                  </a:tcPr>
                </a:tc>
                <a:tc>
                  <a:txBody>
                    <a:bodyPr/>
                    <a:lstStyle/>
                    <a:p>
                      <a:r>
                        <a:rPr sz="1200" b="0">
                          <a:solidFill>
                            <a:srgbClr val="141B2E"/>
                          </a:solidFill>
                          <a:latin typeface="Segoe UI"/>
                        </a:rPr>
                        <a:t>Simulator seeded from Savelugu + MICS</a:t>
                      </a:r>
                    </a:p>
                  </a:txBody>
                  <a:tcPr>
                    <a:solidFill>
                      <a:srgbClr val="FFFFFF"/>
                    </a:solidFill>
                  </a:tcPr>
                </a:tc>
                <a:tc>
                  <a:txBody>
                    <a:bodyPr/>
                    <a:lstStyle/>
                    <a:p>
                      <a:r>
                        <a:rPr sz="1200" b="0">
                          <a:solidFill>
                            <a:srgbClr val="D97A16"/>
                          </a:solidFill>
                          <a:latin typeface="Segoe UI"/>
                        </a:rPr>
                        <a:t>Screening aid — ext. validation pending</a:t>
                      </a:r>
                    </a:p>
                  </a:txBody>
                  <a:tcPr>
                    <a:solidFill>
                      <a:srgbClr val="FFFFFF"/>
                    </a:solidFill>
                  </a:tcPr>
                </a:tc>
              </a:tr>
            </a:tbl>
          </a:graphicData>
        </a:graphic>
      </p:graphicFrame>
      <p:sp>
        <p:nvSpPr>
          <p:cNvPr id="6" name="TextBox 5"/>
          <p:cNvSpPr txBox="1"/>
          <p:nvPr/>
        </p:nvSpPr>
        <p:spPr>
          <a:xfrm>
            <a:off x="640080" y="4251960"/>
            <a:ext cx="10881360" cy="2011680"/>
          </a:xfrm>
          <a:prstGeom prst="rect">
            <a:avLst/>
          </a:prstGeom>
          <a:noFill/>
        </p:spPr>
        <p:txBody>
          <a:bodyPr wrap="square">
            <a:spAutoFit/>
          </a:bodyPr>
          <a:lstStyle/>
          <a:p>
            <a:pPr algn="l">
              <a:spcAft>
                <a:spcPts val="800"/>
              </a:spcAft>
            </a:pPr>
            <a:r>
              <a:rPr sz="1500" b="1">
                <a:solidFill>
                  <a:srgbClr val="0B1F4B"/>
                </a:solidFill>
                <a:latin typeface="Segoe UI"/>
              </a:rPr>
              <a:t>Honesty is engineered, not claimed</a:t>
            </a:r>
          </a:p>
          <a:p>
            <a:pPr>
              <a:spcAft>
                <a:spcPts val="700"/>
              </a:spcAft>
            </a:pPr>
            <a:r>
              <a:rPr sz="1250" b="1">
                <a:solidFill>
                  <a:srgbClr val="1B56DB"/>
                </a:solidFill>
                <a:latin typeface="Segoe UI"/>
              </a:rPr>
              <a:t>▪ Evidence framing enforced in code</a:t>
            </a:r>
            <a:r>
              <a:rPr sz="1250" b="0">
                <a:solidFill>
                  <a:srgbClr val="141B2E"/>
                </a:solidFill>
                <a:latin typeface="Segoe UI"/>
              </a:rPr>
              <a:t>  —  real-data models headline cross-validation; simulator models headline their external check — internals labelled “sanity check, not evidence”</a:t>
            </a:r>
          </a:p>
          <a:p>
            <a:pPr>
              <a:spcAft>
                <a:spcPts val="700"/>
              </a:spcAft>
            </a:pPr>
            <a:r>
              <a:rPr sz="1250" b="1">
                <a:solidFill>
                  <a:srgbClr val="1B56DB"/>
                </a:solidFill>
                <a:latin typeface="Segoe UI"/>
              </a:rPr>
              <a:t>▪ Drift guard</a:t>
            </a:r>
            <a:r>
              <a:rPr sz="1250" b="0">
                <a:solidFill>
                  <a:srgbClr val="141B2E"/>
                </a:solidFill>
                <a:latin typeface="Segoe UI"/>
              </a:rPr>
              <a:t>  —  per-feature z-score monitoring; out-of-window inputs suppress the probability (“n/a · out of training window”) instead of a confident wrong answer</a:t>
            </a:r>
          </a:p>
          <a:p>
            <a:pPr>
              <a:spcAft>
                <a:spcPts val="700"/>
              </a:spcAft>
            </a:pPr>
            <a:r>
              <a:rPr sz="1250" b="1">
                <a:solidFill>
                  <a:srgbClr val="1B56DB"/>
                </a:solidFill>
                <a:latin typeface="Segoe UI"/>
              </a:rPr>
              <a:t>▪ Calibration done right</a:t>
            </a:r>
            <a:r>
              <a:rPr sz="1250" b="0">
                <a:solidFill>
                  <a:srgbClr val="141B2E"/>
                </a:solidFill>
                <a:latin typeface="Segoe UI"/>
              </a:rPr>
              <a:t>  —  Platt scaling on the logit side; SHA-256 integrity chain blocks tampered weights; deterministic noisy-OR fallback if any model is unavailable</a:t>
            </a:r>
          </a:p>
          <a:p>
            <a:pPr>
              <a:spcAft>
                <a:spcPts val="700"/>
              </a:spcAft>
            </a:pPr>
            <a:r>
              <a:rPr sz="1250" b="1">
                <a:solidFill>
                  <a:srgbClr val="1B56DB"/>
                </a:solidFill>
                <a:latin typeface="Segoe UI"/>
              </a:rPr>
              <a:t>▪ Accountable override</a:t>
            </a:r>
            <a:r>
              <a:rPr sz="1250" b="0">
                <a:solidFill>
                  <a:srgbClr val="141B2E"/>
                </a:solidFill>
                <a:latin typeface="Segoe UI"/>
              </a:rPr>
              <a:t>  —  clinicians can override any AI verdict — with a mandatory ≥10-character reason persisted to the audit trail</a:t>
            </a:r>
          </a:p>
        </p:txBody>
      </p:sp>
      <p:sp>
        <p:nvSpPr>
          <p:cNvPr id="7" name="TextBox 6"/>
          <p:cNvSpPr txBox="1"/>
          <p:nvPr/>
        </p:nvSpPr>
        <p:spPr>
          <a:xfrm>
            <a:off x="640080" y="6446520"/>
            <a:ext cx="10881360" cy="320040"/>
          </a:xfrm>
          <a:prstGeom prst="rect">
            <a:avLst/>
          </a:prstGeom>
          <a:noFill/>
        </p:spPr>
        <p:txBody>
          <a:bodyPr wrap="square">
            <a:spAutoFit/>
          </a:bodyPr>
          <a:lstStyle/>
          <a:p>
            <a:r>
              <a:rPr sz="1000" b="1">
                <a:solidFill>
                  <a:srgbClr val="0B1F4B"/>
                </a:solidFill>
                <a:latin typeface="Segoe UI"/>
              </a:rPr>
              <a:t>CareBridge AI</a:t>
            </a:r>
            <a:r>
              <a:rPr sz="1000">
                <a:solidFill>
                  <a:srgbClr val="5A6478"/>
                </a:solidFill>
                <a:latin typeface="Segoe UI"/>
              </a:rPr>
              <a:t>   ·   Offline-first CDSS for Ghana's CHPS   ·   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1371600"/>
          </a:xfrm>
          <a:prstGeom prst="rect">
            <a:avLst/>
          </a:prstGeom>
          <a:noFill/>
        </p:spPr>
        <p:txBody>
          <a:bodyPr wrap="square">
            <a:spAutoFit/>
          </a:bodyPr>
          <a:lstStyle/>
          <a:p>
            <a:pPr algn="l">
              <a:spcAft>
                <a:spcPts val="400"/>
              </a:spcAft>
            </a:pPr>
            <a:r>
              <a:rPr sz="1300" b="1">
                <a:solidFill>
                  <a:srgbClr val="B8862E"/>
                </a:solidFill>
                <a:latin typeface="Segoe UI"/>
              </a:rPr>
              <a:t>LANGUAGE ACCESSIBILITY</a:t>
            </a:r>
          </a:p>
          <a:p>
            <a:pPr algn="l">
              <a:spcAft>
                <a:spcPts val="0"/>
              </a:spcAft>
            </a:pPr>
            <a:r>
              <a:rPr sz="3000" b="1">
                <a:solidFill>
                  <a:srgbClr val="0B1F4B"/>
                </a:solidFill>
                <a:latin typeface="Segoe UI"/>
              </a:rPr>
              <a:t>Advice that isn't understood doesn't exist</a:t>
            </a:r>
          </a:p>
        </p:txBody>
      </p:sp>
      <p:sp>
        <p:nvSpPr>
          <p:cNvPr id="4" name="Rectangle 3"/>
          <p:cNvSpPr/>
          <p:nvPr/>
        </p:nvSpPr>
        <p:spPr>
          <a:xfrm>
            <a:off x="640080" y="1417320"/>
            <a:ext cx="1097280" cy="5080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83080"/>
            <a:ext cx="128016" cy="1234440"/>
          </a:xfrm>
          <a:prstGeom prst="rect">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515600" cy="1234440"/>
          </a:xfrm>
          <a:prstGeom prst="rect">
            <a:avLst/>
          </a:prstGeom>
          <a:noFill/>
        </p:spPr>
        <p:txBody>
          <a:bodyPr wrap="square">
            <a:spAutoFit/>
          </a:bodyPr>
          <a:lstStyle/>
          <a:p>
            <a:pPr algn="l">
              <a:spcAft>
                <a:spcPts val="300"/>
              </a:spcAft>
            </a:pPr>
            <a:r>
              <a:rPr sz="1600" b="1">
                <a:solidFill>
                  <a:srgbClr val="0B1F4B"/>
                </a:solidFill>
                <a:latin typeface="Segoe UI"/>
              </a:rPr>
              <a:t>1 · Recorded speech bank</a:t>
            </a:r>
          </a:p>
          <a:p>
            <a:pPr algn="l">
              <a:spcAft>
                <a:spcPts val="0"/>
              </a:spcAft>
            </a:pPr>
            <a:r>
              <a:rPr sz="1250" b="0">
                <a:solidFill>
                  <a:srgbClr val="141B2E"/>
                </a:solidFill>
                <a:latin typeface="Segoe UI"/>
              </a:rPr>
              <a:t>human-recorded audio for fixed clinical phrases — Dagbani recorded; Mampruli &amp; Kusaal drafted with community speakers. Highest trust: real voice, fixed meaning.</a:t>
            </a:r>
          </a:p>
        </p:txBody>
      </p:sp>
      <p:sp>
        <p:nvSpPr>
          <p:cNvPr id="7" name="Rectangle 6"/>
          <p:cNvSpPr/>
          <p:nvPr/>
        </p:nvSpPr>
        <p:spPr>
          <a:xfrm>
            <a:off x="640080" y="3246120"/>
            <a:ext cx="128016" cy="1234440"/>
          </a:xfrm>
          <a:prstGeom prst="rect">
            <a:avLst/>
          </a:prstGeom>
          <a:solidFill>
            <a:srgbClr val="1B5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291840"/>
            <a:ext cx="10515600" cy="1234440"/>
          </a:xfrm>
          <a:prstGeom prst="rect">
            <a:avLst/>
          </a:prstGeom>
          <a:noFill/>
        </p:spPr>
        <p:txBody>
          <a:bodyPr wrap="square">
            <a:spAutoFit/>
          </a:bodyPr>
          <a:lstStyle/>
          <a:p>
            <a:pPr algn="l">
              <a:spcAft>
                <a:spcPts val="300"/>
              </a:spcAft>
            </a:pPr>
            <a:r>
              <a:rPr sz="1600" b="1">
                <a:solidFill>
                  <a:srgbClr val="0B1F4B"/>
                </a:solidFill>
                <a:latin typeface="Segoe UI"/>
              </a:rPr>
              <a:t>2 · On-device neural translation</a:t>
            </a:r>
          </a:p>
          <a:p>
            <a:pPr algn="l">
              <a:spcAft>
                <a:spcPts val="0"/>
              </a:spcAft>
            </a:pPr>
            <a:r>
              <a:rPr sz="1250" b="0">
                <a:solidFill>
                  <a:srgbClr val="141B2E"/>
                </a:solidFill>
                <a:latin typeface="Segoe UI"/>
              </a:rPr>
              <a:t>MarianMT ONNX (Helsinki-NLP), int8/int16-quantised — English → Twi and English → Hausa, fully offline. Tokeniser re-implemented in Dart with token-for-token parity fixtures checked at load.</a:t>
            </a:r>
          </a:p>
        </p:txBody>
      </p:sp>
      <p:sp>
        <p:nvSpPr>
          <p:cNvPr id="9" name="Rectangle 8"/>
          <p:cNvSpPr/>
          <p:nvPr/>
        </p:nvSpPr>
        <p:spPr>
          <a:xfrm>
            <a:off x="640080" y="4709160"/>
            <a:ext cx="128016" cy="12344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754880"/>
            <a:ext cx="10515600" cy="1234440"/>
          </a:xfrm>
          <a:prstGeom prst="rect">
            <a:avLst/>
          </a:prstGeom>
          <a:noFill/>
        </p:spPr>
        <p:txBody>
          <a:bodyPr wrap="square">
            <a:spAutoFit/>
          </a:bodyPr>
          <a:lstStyle/>
          <a:p>
            <a:pPr algn="l">
              <a:spcAft>
                <a:spcPts val="300"/>
              </a:spcAft>
            </a:pPr>
            <a:r>
              <a:rPr sz="1600" b="1">
                <a:solidFill>
                  <a:srgbClr val="0B1F4B"/>
                </a:solidFill>
                <a:latin typeface="Segoe UI"/>
              </a:rPr>
              <a:t>3 · Curated phrase dictionary</a:t>
            </a:r>
          </a:p>
          <a:p>
            <a:pPr algn="l">
              <a:spcAft>
                <a:spcPts val="0"/>
              </a:spcAft>
            </a:pPr>
            <a:r>
              <a:rPr sz="1250" b="0">
                <a:solidFill>
                  <a:srgbClr val="141B2E"/>
                </a:solidFill>
                <a:latin typeface="Segoe UI"/>
              </a:rPr>
              <a:t>deterministic clinician-vetted fallback for greetings and stock phrases — never wrong, never invented.</a:t>
            </a:r>
          </a:p>
        </p:txBody>
      </p:sp>
      <p:sp>
        <p:nvSpPr>
          <p:cNvPr id="11" name="Rectangle 10"/>
          <p:cNvSpPr/>
          <p:nvPr/>
        </p:nvSpPr>
        <p:spPr>
          <a:xfrm>
            <a:off x="640080" y="6217920"/>
            <a:ext cx="10881360" cy="1051560"/>
          </a:xfrm>
          <a:prstGeom prst="rect">
            <a:avLst/>
          </a:prstGeom>
          <a:solidFill>
            <a:srgbClr val="FBF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6355080"/>
            <a:ext cx="10332720" cy="822960"/>
          </a:xfrm>
          <a:prstGeom prst="rect">
            <a:avLst/>
          </a:prstGeom>
          <a:noFill/>
        </p:spPr>
        <p:txBody>
          <a:bodyPr wrap="square">
            <a:spAutoFit/>
          </a:bodyPr>
          <a:lstStyle/>
          <a:p>
            <a:pPr algn="l">
              <a:spcAft>
                <a:spcPts val="300"/>
              </a:spcAft>
            </a:pPr>
            <a:r>
              <a:rPr sz="1350" b="1">
                <a:solidFill>
                  <a:srgbClr val="B8862E"/>
                </a:solidFill>
                <a:latin typeface="Segoe UI"/>
              </a:rPr>
              <a:t>Clinical safety guardrails</a:t>
            </a:r>
          </a:p>
          <a:p>
            <a:pPr algn="l">
              <a:spcAft>
                <a:spcPts val="0"/>
              </a:spcAft>
            </a:pPr>
            <a:r>
              <a:rPr sz="1200" b="0">
                <a:solidFill>
                  <a:srgbClr val="141B2E"/>
                </a:solidFill>
                <a:latin typeface="Segoe UI"/>
              </a:rPr>
              <a:t>Dynamic clinical text is never machine-translated blindly — only vetted references translate; stale ones block with an explicit notice. Dosages, thresholds and referral codes are protected and never altered by the translation path.</a:t>
            </a:r>
          </a:p>
        </p:txBody>
      </p:sp>
      <p:sp>
        <p:nvSpPr>
          <p:cNvPr id="13" name="TextBox 12"/>
          <p:cNvSpPr txBox="1"/>
          <p:nvPr/>
        </p:nvSpPr>
        <p:spPr>
          <a:xfrm>
            <a:off x="640080" y="6446520"/>
            <a:ext cx="10881360" cy="320040"/>
          </a:xfrm>
          <a:prstGeom prst="rect">
            <a:avLst/>
          </a:prstGeom>
          <a:noFill/>
        </p:spPr>
        <p:txBody>
          <a:bodyPr wrap="square">
            <a:spAutoFit/>
          </a:bodyPr>
          <a:lstStyle/>
          <a:p>
            <a:r>
              <a:rPr sz="1000" b="1">
                <a:solidFill>
                  <a:srgbClr val="0B1F4B"/>
                </a:solidFill>
                <a:latin typeface="Segoe UI"/>
              </a:rPr>
              <a:t>CareBridge AI</a:t>
            </a:r>
            <a:r>
              <a:rPr sz="1000">
                <a:solidFill>
                  <a:srgbClr val="5A6478"/>
                </a:solidFill>
                <a:latin typeface="Segoe UI"/>
              </a:rPr>
              <a:t>   ·   Offline-first CDSS for Ghana's CHPS   ·   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881360" cy="1371600"/>
          </a:xfrm>
          <a:prstGeom prst="rect">
            <a:avLst/>
          </a:prstGeom>
          <a:noFill/>
        </p:spPr>
        <p:txBody>
          <a:bodyPr wrap="square">
            <a:spAutoFit/>
          </a:bodyPr>
          <a:lstStyle/>
          <a:p>
            <a:pPr algn="l">
              <a:spcAft>
                <a:spcPts val="400"/>
              </a:spcAft>
            </a:pPr>
            <a:r>
              <a:rPr sz="1300" b="1">
                <a:solidFill>
                  <a:srgbClr val="B8862E"/>
                </a:solidFill>
                <a:latin typeface="Segoe UI"/>
              </a:rPr>
              <a:t>THE REFERRAL LOOP — AND THE ASK</a:t>
            </a:r>
          </a:p>
          <a:p>
            <a:pPr algn="l">
              <a:spcAft>
                <a:spcPts val="0"/>
              </a:spcAft>
            </a:pPr>
            <a:r>
              <a:rPr sz="2800" b="1">
                <a:solidFill>
                  <a:srgbClr val="FFFFFF"/>
                </a:solidFill>
                <a:latin typeface="Segoe UI"/>
              </a:rPr>
              <a:t>A referral is a tracked lifecycle, not a paper slip</a:t>
            </a:r>
          </a:p>
        </p:txBody>
      </p:sp>
      <p:sp>
        <p:nvSpPr>
          <p:cNvPr id="5" name="Rectangle 4"/>
          <p:cNvSpPr/>
          <p:nvPr/>
        </p:nvSpPr>
        <p:spPr>
          <a:xfrm>
            <a:off x="640080" y="1417320"/>
            <a:ext cx="1097280" cy="5080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874519"/>
            <a:ext cx="2377440" cy="914400"/>
          </a:xfrm>
          <a:prstGeom prst="rect">
            <a:avLst/>
          </a:prstGeom>
          <a:solidFill>
            <a:srgbClr val="132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993392"/>
            <a:ext cx="2157984" cy="731520"/>
          </a:xfrm>
          <a:prstGeom prst="rect">
            <a:avLst/>
          </a:prstGeom>
          <a:noFill/>
        </p:spPr>
        <p:txBody>
          <a:bodyPr wrap="square">
            <a:spAutoFit/>
          </a:bodyPr>
          <a:lstStyle/>
          <a:p>
            <a:pPr algn="ctr">
              <a:spcAft>
                <a:spcPts val="100"/>
              </a:spcAft>
            </a:pPr>
            <a:r>
              <a:rPr sz="1400" b="1">
                <a:solidFill>
                  <a:srgbClr val="FFFFFF"/>
                </a:solidFill>
                <a:latin typeface="Segoe UI"/>
              </a:rPr>
              <a:t>ISSUED</a:t>
            </a:r>
          </a:p>
          <a:p>
            <a:pPr algn="ctr">
              <a:spcAft>
                <a:spcPts val="0"/>
              </a:spcAft>
            </a:pPr>
            <a:r>
              <a:rPr sz="1000" b="0">
                <a:solidFill>
                  <a:srgbClr val="C9D6F2"/>
                </a:solidFill>
                <a:latin typeface="Segoe UI"/>
              </a:rPr>
              <a:t>CB-code + SBAR note</a:t>
            </a:r>
          </a:p>
        </p:txBody>
      </p:sp>
      <p:sp>
        <p:nvSpPr>
          <p:cNvPr id="8" name="TextBox 7"/>
          <p:cNvSpPr txBox="1"/>
          <p:nvPr/>
        </p:nvSpPr>
        <p:spPr>
          <a:xfrm>
            <a:off x="3172968" y="2103120"/>
            <a:ext cx="320040" cy="457200"/>
          </a:xfrm>
          <a:prstGeom prst="rect">
            <a:avLst/>
          </a:prstGeom>
          <a:noFill/>
        </p:spPr>
        <p:txBody>
          <a:bodyPr wrap="square">
            <a:spAutoFit/>
          </a:bodyPr>
          <a:lstStyle/>
          <a:p>
            <a:pPr algn="ctr">
              <a:spcAft>
                <a:spcPts val="0"/>
              </a:spcAft>
            </a:pPr>
            <a:r>
              <a:rPr sz="2000" b="1">
                <a:solidFill>
                  <a:srgbClr val="B8862E"/>
                </a:solidFill>
                <a:latin typeface="Segoe UI"/>
              </a:rPr>
              <a:t>→</a:t>
            </a:r>
          </a:p>
        </p:txBody>
      </p:sp>
      <p:sp>
        <p:nvSpPr>
          <p:cNvPr id="9" name="Rectangle 8"/>
          <p:cNvSpPr/>
          <p:nvPr/>
        </p:nvSpPr>
        <p:spPr>
          <a:xfrm>
            <a:off x="3474720" y="1874519"/>
            <a:ext cx="2377440" cy="914400"/>
          </a:xfrm>
          <a:prstGeom prst="rect">
            <a:avLst/>
          </a:prstGeom>
          <a:solidFill>
            <a:srgbClr val="132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84448" y="1993392"/>
            <a:ext cx="2157984" cy="731520"/>
          </a:xfrm>
          <a:prstGeom prst="rect">
            <a:avLst/>
          </a:prstGeom>
          <a:noFill/>
        </p:spPr>
        <p:txBody>
          <a:bodyPr wrap="square">
            <a:spAutoFit/>
          </a:bodyPr>
          <a:lstStyle/>
          <a:p>
            <a:pPr algn="ctr">
              <a:spcAft>
                <a:spcPts val="100"/>
              </a:spcAft>
            </a:pPr>
            <a:r>
              <a:rPr sz="1400" b="1">
                <a:solidFill>
                  <a:srgbClr val="FFFFFF"/>
                </a:solidFill>
                <a:latin typeface="Segoe UI"/>
              </a:rPr>
              <a:t>TRAVELLING</a:t>
            </a:r>
          </a:p>
          <a:p>
            <a:pPr algn="ctr">
              <a:spcAft>
                <a:spcPts val="0"/>
              </a:spcAft>
            </a:pPr>
            <a:r>
              <a:rPr sz="1000" b="0">
                <a:solidFill>
                  <a:srgbClr val="C9D6F2"/>
                </a:solidFill>
                <a:latin typeface="Segoe UI"/>
              </a:rPr>
              <a:t>family-reported</a:t>
            </a:r>
          </a:p>
        </p:txBody>
      </p:sp>
      <p:sp>
        <p:nvSpPr>
          <p:cNvPr id="11" name="TextBox 10"/>
          <p:cNvSpPr txBox="1"/>
          <p:nvPr/>
        </p:nvSpPr>
        <p:spPr>
          <a:xfrm>
            <a:off x="5870448" y="2103120"/>
            <a:ext cx="320040" cy="457200"/>
          </a:xfrm>
          <a:prstGeom prst="rect">
            <a:avLst/>
          </a:prstGeom>
          <a:noFill/>
        </p:spPr>
        <p:txBody>
          <a:bodyPr wrap="square">
            <a:spAutoFit/>
          </a:bodyPr>
          <a:lstStyle/>
          <a:p>
            <a:pPr algn="ctr">
              <a:spcAft>
                <a:spcPts val="0"/>
              </a:spcAft>
            </a:pPr>
            <a:r>
              <a:rPr sz="2000" b="1">
                <a:solidFill>
                  <a:srgbClr val="B8862E"/>
                </a:solidFill>
                <a:latin typeface="Segoe UI"/>
              </a:rPr>
              <a:t>→</a:t>
            </a:r>
          </a:p>
        </p:txBody>
      </p:sp>
      <p:sp>
        <p:nvSpPr>
          <p:cNvPr id="12" name="Rectangle 11"/>
          <p:cNvSpPr/>
          <p:nvPr/>
        </p:nvSpPr>
        <p:spPr>
          <a:xfrm>
            <a:off x="6172200" y="1874519"/>
            <a:ext cx="2377440" cy="914400"/>
          </a:xfrm>
          <a:prstGeom prst="rect">
            <a:avLst/>
          </a:prstGeom>
          <a:solidFill>
            <a:srgbClr val="132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1993392"/>
            <a:ext cx="2157984" cy="731520"/>
          </a:xfrm>
          <a:prstGeom prst="rect">
            <a:avLst/>
          </a:prstGeom>
          <a:noFill/>
        </p:spPr>
        <p:txBody>
          <a:bodyPr wrap="square">
            <a:spAutoFit/>
          </a:bodyPr>
          <a:lstStyle/>
          <a:p>
            <a:pPr algn="ctr">
              <a:spcAft>
                <a:spcPts val="100"/>
              </a:spcAft>
            </a:pPr>
            <a:r>
              <a:rPr sz="1400" b="1">
                <a:solidFill>
                  <a:srgbClr val="FFFFFF"/>
                </a:solidFill>
                <a:latin typeface="Segoe UI"/>
              </a:rPr>
              <a:t>ARRIVED</a:t>
            </a:r>
          </a:p>
          <a:p>
            <a:pPr algn="ctr">
              <a:spcAft>
                <a:spcPts val="0"/>
              </a:spcAft>
            </a:pPr>
            <a:r>
              <a:rPr sz="1000" b="0">
                <a:solidFill>
                  <a:srgbClr val="C9D6F2"/>
                </a:solidFill>
                <a:latin typeface="Segoe UI"/>
              </a:rPr>
              <a:t>staff code-verified</a:t>
            </a:r>
          </a:p>
        </p:txBody>
      </p:sp>
      <p:sp>
        <p:nvSpPr>
          <p:cNvPr id="14" name="TextBox 13"/>
          <p:cNvSpPr txBox="1"/>
          <p:nvPr/>
        </p:nvSpPr>
        <p:spPr>
          <a:xfrm>
            <a:off x="8567928" y="2103120"/>
            <a:ext cx="320040" cy="457200"/>
          </a:xfrm>
          <a:prstGeom prst="rect">
            <a:avLst/>
          </a:prstGeom>
          <a:noFill/>
        </p:spPr>
        <p:txBody>
          <a:bodyPr wrap="square">
            <a:spAutoFit/>
          </a:bodyPr>
          <a:lstStyle/>
          <a:p>
            <a:pPr algn="ctr">
              <a:spcAft>
                <a:spcPts val="0"/>
              </a:spcAft>
            </a:pPr>
            <a:r>
              <a:rPr sz="2000" b="1">
                <a:solidFill>
                  <a:srgbClr val="B8862E"/>
                </a:solidFill>
                <a:latin typeface="Segoe UI"/>
              </a:rPr>
              <a:t>→</a:t>
            </a:r>
          </a:p>
        </p:txBody>
      </p:sp>
      <p:sp>
        <p:nvSpPr>
          <p:cNvPr id="15" name="Rectangle 14"/>
          <p:cNvSpPr/>
          <p:nvPr/>
        </p:nvSpPr>
        <p:spPr>
          <a:xfrm>
            <a:off x="8869680" y="1874519"/>
            <a:ext cx="2377440" cy="914400"/>
          </a:xfrm>
          <a:prstGeom prst="rect">
            <a:avLst/>
          </a:prstGeom>
          <a:solidFill>
            <a:srgbClr val="132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79408" y="1993392"/>
            <a:ext cx="2157984" cy="731520"/>
          </a:xfrm>
          <a:prstGeom prst="rect">
            <a:avLst/>
          </a:prstGeom>
          <a:noFill/>
        </p:spPr>
        <p:txBody>
          <a:bodyPr wrap="square">
            <a:spAutoFit/>
          </a:bodyPr>
          <a:lstStyle/>
          <a:p>
            <a:pPr algn="ctr">
              <a:spcAft>
                <a:spcPts val="100"/>
              </a:spcAft>
            </a:pPr>
            <a:r>
              <a:rPr sz="1400" b="1">
                <a:solidFill>
                  <a:srgbClr val="FFFFFF"/>
                </a:solidFill>
                <a:latin typeface="Segoe UI"/>
              </a:rPr>
              <a:t>TREATED</a:t>
            </a:r>
          </a:p>
          <a:p>
            <a:pPr algn="ctr">
              <a:spcAft>
                <a:spcPts val="0"/>
              </a:spcAft>
            </a:pPr>
            <a:r>
              <a:rPr sz="1000" b="0">
                <a:solidFill>
                  <a:srgbClr val="C9D6F2"/>
                </a:solidFill>
                <a:latin typeface="Segoe UI"/>
              </a:rPr>
              <a:t>&amp; discharged</a:t>
            </a:r>
          </a:p>
        </p:txBody>
      </p:sp>
      <p:sp>
        <p:nvSpPr>
          <p:cNvPr id="17" name="TextBox 16"/>
          <p:cNvSpPr txBox="1"/>
          <p:nvPr/>
        </p:nvSpPr>
        <p:spPr>
          <a:xfrm>
            <a:off x="777240" y="3063240"/>
            <a:ext cx="10607040" cy="1691640"/>
          </a:xfrm>
          <a:prstGeom prst="rect">
            <a:avLst/>
          </a:prstGeom>
          <a:noFill/>
        </p:spPr>
        <p:txBody>
          <a:bodyPr wrap="square">
            <a:spAutoFit/>
          </a:bodyPr>
          <a:lstStyle/>
          <a:p/>
          <a:p>
            <a:pPr>
              <a:spcAft>
                <a:spcPts val="700"/>
              </a:spcAft>
            </a:pPr>
            <a:r>
              <a:rPr sz="1250" b="1">
                <a:solidFill>
                  <a:srgbClr val="B8862E"/>
                </a:solidFill>
                <a:latin typeface="Segoe UI"/>
              </a:rPr>
              <a:t>▪ Auto-escalation</a:t>
            </a:r>
            <a:r>
              <a:rPr sz="1250" b="0">
                <a:solidFill>
                  <a:srgbClr val="141B2E"/>
                </a:solidFill>
                <a:latin typeface="Segoe UI"/>
              </a:rPr>
              <a:t>  —  urgent referral open 48h with no confirmed arrival → “trace now”, pushed into the day plan</a:t>
            </a:r>
          </a:p>
          <a:p>
            <a:pPr>
              <a:spcAft>
                <a:spcPts val="700"/>
              </a:spcAft>
            </a:pPr>
            <a:r>
              <a:rPr sz="1250" b="1">
                <a:solidFill>
                  <a:srgbClr val="B8862E"/>
                </a:solidFill>
                <a:latin typeface="Segoe UI"/>
              </a:rPr>
              <a:t>▪ Honest outcomes</a:t>
            </a:r>
            <a:r>
              <a:rPr sz="1250" b="0">
                <a:solidFill>
                  <a:srgbClr val="141B2E"/>
                </a:solidFill>
                <a:latin typeface="Segoe UI"/>
              </a:rPr>
              <a:t>  —  arrival ≠ treatment; failure states (did not attend, declined, died) are recorded, not hidden</a:t>
            </a:r>
          </a:p>
          <a:p>
            <a:pPr>
              <a:spcAft>
                <a:spcPts val="700"/>
              </a:spcAft>
            </a:pPr>
            <a:r>
              <a:rPr sz="1250" b="1">
                <a:solidFill>
                  <a:srgbClr val="B8862E"/>
                </a:solidFill>
                <a:latin typeface="Segoe UI"/>
              </a:rPr>
              <a:t>▪ Barrier intelligence</a:t>
            </a:r>
            <a:r>
              <a:rPr sz="1250" b="0">
                <a:solidFill>
                  <a:srgbClr val="141B2E"/>
                </a:solidFill>
                <a:latin typeface="Segoe UI"/>
              </a:rPr>
              <a:t>  —  transport cost, distance, registration — a barrier named once is shown before the next referral</a:t>
            </a:r>
          </a:p>
          <a:p>
            <a:pPr>
              <a:spcAft>
                <a:spcPts val="700"/>
              </a:spcAft>
            </a:pPr>
            <a:r>
              <a:rPr sz="1250" b="1">
                <a:solidFill>
                  <a:srgbClr val="B8862E"/>
                </a:solidFill>
                <a:latin typeface="Segoe UI"/>
              </a:rPr>
              <a:t>▪ Closed loop</a:t>
            </a:r>
            <a:r>
              <a:rPr sz="1250" b="0">
                <a:solidFill>
                  <a:srgbClr val="141B2E"/>
                </a:solidFill>
                <a:latin typeface="Segoe UI"/>
              </a:rPr>
              <a:t>  —  the caregiver app shows the family the same status and code — both sides stay honest</a:t>
            </a:r>
          </a:p>
        </p:txBody>
      </p:sp>
      <p:sp>
        <p:nvSpPr>
          <p:cNvPr id="18" name="Rectangle 17"/>
          <p:cNvSpPr/>
          <p:nvPr/>
        </p:nvSpPr>
        <p:spPr>
          <a:xfrm>
            <a:off x="777240" y="4892040"/>
            <a:ext cx="10607040" cy="914400"/>
          </a:xfrm>
          <a:prstGeom prst="rect">
            <a:avLst/>
          </a:prstGeom>
          <a:solidFill>
            <a:srgbClr val="132C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029200"/>
            <a:ext cx="10058400" cy="685800"/>
          </a:xfrm>
          <a:prstGeom prst="rect">
            <a:avLst/>
          </a:prstGeom>
          <a:noFill/>
        </p:spPr>
        <p:txBody>
          <a:bodyPr wrap="square">
            <a:spAutoFit/>
          </a:bodyPr>
          <a:lstStyle/>
          <a:p>
            <a:pPr algn="ctr">
              <a:spcAft>
                <a:spcPts val="0"/>
              </a:spcAft>
            </a:pPr>
            <a:r>
              <a:rPr sz="1700" b="1">
                <a:solidFill>
                  <a:srgbClr val="FFFFFF"/>
                </a:solidFill>
                <a:latin typeface="Segoe UI"/>
              </a:rPr>
              <a:t>“Other apps digitise the form. CareBridge AI closes the loop.”</a:t>
            </a:r>
          </a:p>
        </p:txBody>
      </p:sp>
      <p:sp>
        <p:nvSpPr>
          <p:cNvPr id="20" name="TextBox 19"/>
          <p:cNvSpPr txBox="1"/>
          <p:nvPr/>
        </p:nvSpPr>
        <p:spPr>
          <a:xfrm>
            <a:off x="777240" y="5989320"/>
            <a:ext cx="10607040" cy="731520"/>
          </a:xfrm>
          <a:prstGeom prst="rect">
            <a:avLst/>
          </a:prstGeom>
          <a:noFill/>
        </p:spPr>
        <p:txBody>
          <a:bodyPr wrap="square">
            <a:spAutoFit/>
          </a:bodyPr>
          <a:lstStyle/>
          <a:p>
            <a:pPr algn="ctr">
              <a:spcAft>
                <a:spcPts val="0"/>
              </a:spcAft>
            </a:pPr>
            <a:r>
              <a:rPr sz="1250" b="1">
                <a:solidFill>
                  <a:srgbClr val="B8862E"/>
                </a:solidFill>
                <a:latin typeface="Segoe UI"/>
              </a:rPr>
              <a:t>THE ASK:  pilot cohort in Northern Region CHPS zones · recalibration pipeline via Kintampo HRC / Navrongo HDSS · extend recorded speech to Mampruli &amp; Kusaal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